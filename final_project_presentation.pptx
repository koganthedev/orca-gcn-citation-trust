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48" r:id="rId1"/>
  </p:sldMasterIdLst>
  <p:notesMasterIdLst>
    <p:notesMasterId r:id="rId16"/>
  </p:notesMasterIdLst>
  <p:handoutMasterIdLst>
    <p:handoutMasterId r:id="rId17"/>
  </p:handoutMasterIdLst>
  <p:sldIdLst>
    <p:sldId id="256" r:id="rId2"/>
    <p:sldId id="257" r:id="rId3"/>
    <p:sldId id="258" r:id="rId4"/>
    <p:sldId id="285" r:id="rId5"/>
    <p:sldId id="278" r:id="rId6"/>
    <p:sldId id="279" r:id="rId7"/>
    <p:sldId id="259" r:id="rId8"/>
    <p:sldId id="262" r:id="rId9"/>
    <p:sldId id="264" r:id="rId10"/>
    <p:sldId id="268" r:id="rId11"/>
    <p:sldId id="269" r:id="rId12"/>
    <p:sldId id="267" r:id="rId13"/>
    <p:sldId id="271" r:id="rId14"/>
    <p:sldId id="272"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lmog" id="{051CB929-2DD8-45BE-A688-26D75C5E17EC}">
          <p14:sldIdLst>
            <p14:sldId id="256"/>
            <p14:sldId id="257"/>
          </p14:sldIdLst>
        </p14:section>
        <p14:section name="Yuval" id="{0C49FA77-CDCC-4A71-8AB3-A07A65E44E4E}">
          <p14:sldIdLst>
            <p14:sldId id="258"/>
            <p14:sldId id="285"/>
            <p14:sldId id="278"/>
          </p14:sldIdLst>
        </p14:section>
        <p14:section name="Almog" id="{E9B1ADA1-E96D-47B8-836D-0F3B4A69C032}">
          <p14:sldIdLst>
            <p14:sldId id="279"/>
            <p14:sldId id="259"/>
          </p14:sldIdLst>
        </p14:section>
        <p14:section name="Yuval" id="{4DD87226-F7D1-4036-A147-B7A78DBBF3B8}">
          <p14:sldIdLst>
            <p14:sldId id="262"/>
            <p14:sldId id="264"/>
            <p14:sldId id="268"/>
            <p14:sldId id="269"/>
          </p14:sldIdLst>
        </p14:section>
        <p14:section name="Almog" id="{A82B2014-D15A-41C1-A42F-CF3E4691CA0F}">
          <p14:sldIdLst>
            <p14:sldId id="267"/>
            <p14:sldId id="271"/>
            <p14:sldId id="272"/>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F7F795F-63D3-BCC8-42F7-FB98B6A2CC74}" name="יובל כוגן" initials="YK" userId="S::Yuval.Kogan@e.braude.ac.il::84800d58-b30d-47a5-ab10-b809ec1844cc" providerId="AD"/>
  <p188:author id="{4D4321F6-6739-7176-EA84-3080668FBBC4}" name="רוני שיפרין" initials="רש" userId="S::roni.shifrin@e.braude.ac.il::225ad26e-8ca5-479b-8e8d-9c8dc1b408f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D57EF"/>
    <a:srgbClr val="EDE9FE"/>
    <a:srgbClr val="16A34A"/>
    <a:srgbClr val="0EAFEB"/>
    <a:srgbClr val="DBEAFE"/>
    <a:srgbClr val="D1FAF7"/>
    <a:srgbClr val="14B8A6"/>
    <a:srgbClr val="97CFB0"/>
    <a:srgbClr val="96CFB0"/>
    <a:srgbClr val="DCFCE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BC978C-797D-D051-2CE1-A010817B1D66}" v="15" dt="2026-07-04T10:35:59.005"/>
    <p1510:client id="{70F3F82B-407D-B8BE-F6F9-1F6798684756}" v="16" dt="2026-07-04T10:51:21.132"/>
    <p1510:client id="{75207410-82A6-4420-9A7F-DFA4C942EDD2}" v="114" dt="2026-07-04T15:50:30.438"/>
    <p1510:client id="{D98FEDE4-AE96-42AE-A284-8F8E1F6BAD47}" v="52" dt="2026-07-04T09:01:10.6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8/10/relationships/authors" Target="authors.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C8C58A6-E1D4-574C-2249-94644E640C4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B33776E-A3C0-0933-9FB6-6FBCC6FA53C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5886F3A-1644-4148-A649-7EFF25B45C61}" type="datetimeFigureOut">
              <a:rPr lang="en-US" smtClean="0"/>
              <a:t>7/4/2026</a:t>
            </a:fld>
            <a:endParaRPr lang="en-US"/>
          </a:p>
        </p:txBody>
      </p:sp>
      <p:sp>
        <p:nvSpPr>
          <p:cNvPr id="4" name="Footer Placeholder 3">
            <a:extLst>
              <a:ext uri="{FF2B5EF4-FFF2-40B4-BE49-F238E27FC236}">
                <a16:creationId xmlns:a16="http://schemas.microsoft.com/office/drawing/2014/main" id="{7BBC83A5-62B8-C519-0ADA-BFEB5AA9C83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DF1FAAA-9D20-651F-ABE1-A936A4D727C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B434968-69B9-4717-A2E1-D757794C02A7}" type="slidenum">
              <a:rPr lang="en-US" smtClean="0"/>
              <a:t>‹#›</a:t>
            </a:fld>
            <a:endParaRPr lang="en-US"/>
          </a:p>
        </p:txBody>
      </p:sp>
    </p:spTree>
    <p:extLst>
      <p:ext uri="{BB962C8B-B14F-4D97-AF65-F5344CB8AC3E}">
        <p14:creationId xmlns:p14="http://schemas.microsoft.com/office/powerpoint/2010/main" val="315180210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6766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pPr lvl="0" rtl="0"/>
            <a:endParaRPr lang="en-US" sz="1200"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pPr lvl="0" rtl="0"/>
            <a:r>
              <a:rPr lang="en-US"/>
              <a:t>think of the last time you booked a hotel or bought something online. You did not read every review - you glanced at the star rating and trusted it. Academia has the exact same shortcut. It is called the Impact Factor. Every journal gets one number - basically the average times its papers get cited - and that number decides who gets hired, who gets funded, and which research the world pays attention to. It is the five-star rating of science, and for fifty years it has been the number everyone trusts, an overall comfortable numbered grading to look at. So hold one question for the next fifteen minutes: what happens when the star rating can be faked?</a:t>
            </a:r>
            <a:endParaRPr lang="en-US" sz="1200"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sz="quarter" idx="3"/>
          </p:nvPr>
        </p:nvSpPr>
        <p:spPr/>
        <p:txBody>
          <a:bodyPr/>
          <a:lstStyle/>
          <a:p>
            <a:pPr marL="171450" lvl="0" indent="-171450" rtl="0">
              <a:buFont typeface="Arial" panose="020B0604020202020204" pitchFamily="34" charset="0"/>
              <a:buChar char="•"/>
            </a:pPr>
            <a:r>
              <a:rPr lang="en-US" sz="1200" b="1" kern="1200">
                <a:solidFill>
                  <a:schemeClr val="tx1"/>
                </a:solidFill>
                <a:effectLst/>
                <a:latin typeface="+mn-lt"/>
                <a:ea typeface="+mn-ea"/>
                <a:cs typeface="+mn-cs"/>
              </a:rPr>
              <a:t>Context Blindness: </a:t>
            </a:r>
            <a:r>
              <a:rPr lang="en-US" sz="1200" kern="1200">
                <a:solidFill>
                  <a:schemeClr val="tx1"/>
                </a:solidFill>
                <a:effectLst/>
                <a:latin typeface="+mn-lt"/>
                <a:ea typeface="+mn-ea"/>
                <a:cs typeface="+mn-cs"/>
              </a:rPr>
              <a:t>every citation adds exactly +1 regardless of semantic relevance, field distance, or citation context.</a:t>
            </a:r>
          </a:p>
          <a:p>
            <a:pPr marL="171450" lvl="0" indent="-171450">
              <a:buFont typeface="Arial" panose="020B0604020202020204" pitchFamily="34" charset="0"/>
              <a:buChar char="•"/>
            </a:pPr>
            <a:r>
              <a:rPr lang="en-US" sz="1200" b="1" kern="1200">
                <a:solidFill>
                  <a:schemeClr val="tx1"/>
                </a:solidFill>
                <a:effectLst/>
                <a:latin typeface="+mn-lt"/>
                <a:ea typeface="+mn-ea"/>
                <a:cs typeface="+mn-cs"/>
              </a:rPr>
              <a:t>Systematic Manipulation: </a:t>
            </a:r>
            <a:r>
              <a:rPr lang="en-US" sz="1200" kern="1200">
                <a:solidFill>
                  <a:schemeClr val="tx1"/>
                </a:solidFill>
                <a:effectLst/>
                <a:latin typeface="+mn-lt"/>
                <a:ea typeface="+mn-ea"/>
                <a:cs typeface="+mn-cs"/>
              </a:rPr>
              <a:t>citation cartels (journals mutually over-citing each other in closed loops) are invisible to a flat count.</a:t>
            </a:r>
          </a:p>
          <a:p>
            <a:pPr marL="171450" lvl="0" indent="-171450">
              <a:buFont typeface="Arial" panose="020B0604020202020204" pitchFamily="34" charset="0"/>
              <a:buChar char="•"/>
            </a:pPr>
            <a:r>
              <a:rPr lang="en-US" sz="1200" b="1" kern="1200">
                <a:solidFill>
                  <a:schemeClr val="tx1"/>
                </a:solidFill>
                <a:effectLst/>
                <a:latin typeface="+mn-lt"/>
                <a:ea typeface="+mn-ea"/>
                <a:cs typeface="+mn-cs"/>
              </a:rPr>
              <a:t>No temporal awareness: </a:t>
            </a:r>
            <a:r>
              <a:rPr lang="en-US" sz="1200" kern="1200">
                <a:solidFill>
                  <a:schemeClr val="tx1"/>
                </a:solidFill>
                <a:effectLst/>
                <a:latin typeface="+mn-lt"/>
                <a:ea typeface="+mn-ea"/>
                <a:cs typeface="+mn-cs"/>
              </a:rPr>
              <a:t>a burst of 50 citations in one week looks identical to 50 organic citations over three years.</a:t>
            </a:r>
          </a:p>
          <a:p>
            <a:pPr marL="171450" lvl="0" indent="-171450">
              <a:buFont typeface="Arial" panose="020B0604020202020204" pitchFamily="34" charset="0"/>
              <a:buChar char="•"/>
            </a:pPr>
            <a:r>
              <a:rPr lang="en-US" sz="1200" b="1" kern="1200">
                <a:solidFill>
                  <a:schemeClr val="tx1"/>
                </a:solidFill>
                <a:effectLst/>
                <a:latin typeface="+mn-lt"/>
                <a:ea typeface="+mn-ea"/>
                <a:cs typeface="+mn-cs"/>
              </a:rPr>
              <a:t>Dimensionality loss: </a:t>
            </a:r>
            <a:r>
              <a:rPr lang="en-US" sz="1200" kern="1200">
                <a:solidFill>
                  <a:schemeClr val="tx1"/>
                </a:solidFill>
                <a:effectLst/>
                <a:latin typeface="+mn-lt"/>
                <a:ea typeface="+mn-ea"/>
                <a:cs typeface="+mn-cs"/>
              </a:rPr>
              <a:t>the academic landscape is a rich heterogeneous graph, but IF collapses it to a single scalar.</a:t>
            </a:r>
          </a:p>
          <a:p>
            <a:pPr marL="171450" lvl="0" indent="-171450">
              <a:buFont typeface="Arial" panose="020B0604020202020204" pitchFamily="34" charset="0"/>
              <a:buChar char="•"/>
            </a:pPr>
            <a:r>
              <a:rPr lang="en-US" sz="1200" b="1" kern="1200">
                <a:solidFill>
                  <a:schemeClr val="tx1"/>
                </a:solidFill>
                <a:effectLst/>
                <a:latin typeface="+mn-lt"/>
                <a:ea typeface="+mn-ea"/>
                <a:cs typeface="+mn-cs"/>
              </a:rPr>
              <a:t>No verification layer: </a:t>
            </a:r>
            <a:r>
              <a:rPr lang="en-US" sz="1200" kern="1200">
                <a:solidFill>
                  <a:schemeClr val="tx1"/>
                </a:solidFill>
                <a:effectLst/>
                <a:latin typeface="+mn-lt"/>
                <a:ea typeface="+mn-ea"/>
                <a:cs typeface="+mn-cs"/>
              </a:rPr>
              <a:t>'filler' citations (used to pad reference lists) carry the same weight as foundational cross-field references.</a:t>
            </a:r>
          </a:p>
        </p:txBody>
      </p:sp>
      <p:sp>
        <p:nvSpPr>
          <p:cNvPr id="4" name="Slide Number Placeholder 3"/>
          <p:cNvSpPr>
            <a:spLocks noGrp="1"/>
          </p:cNvSpPr>
          <p:nvPr>
            <p:ph type="sldNum" sz="quarter" idx="5"/>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FE22B-1B34-D738-8A2C-76E9570638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AB12EC-1E49-D97E-5458-A9CE90C31B15}"/>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11C2D7E6-0D98-CCEB-D40B-DA0FE1DB91E8}"/>
              </a:ext>
            </a:extLst>
          </p:cNvPr>
          <p:cNvSpPr>
            <a:spLocks noGrp="1"/>
          </p:cNvSpPr>
          <p:nvPr>
            <p:ph type="body" sz="quarter" idx="3"/>
          </p:nvPr>
        </p:nvSpPr>
        <p:spPr/>
        <p:txBody>
          <a:bodyPr/>
          <a:lstStyle/>
          <a:p>
            <a:pPr marL="171450" lvl="0" indent="-171450" rtl="0">
              <a:buFont typeface="Arial" panose="020B0604020202020204" pitchFamily="34" charset="0"/>
              <a:buChar char="•"/>
            </a:pPr>
            <a:r>
              <a:rPr lang="en-US" sz="1200" b="1" kern="1200">
                <a:solidFill>
                  <a:schemeClr val="tx1"/>
                </a:solidFill>
                <a:effectLst/>
                <a:latin typeface="+mn-lt"/>
                <a:ea typeface="+mn-ea"/>
                <a:cs typeface="+mn-cs"/>
              </a:rPr>
              <a:t>Trust-weighted counting: </a:t>
            </a:r>
            <a:r>
              <a:rPr lang="en-US" sz="1200" kern="1200">
                <a:solidFill>
                  <a:schemeClr val="tx1"/>
                </a:solidFill>
                <a:effectLst/>
                <a:latin typeface="+mn-lt"/>
                <a:ea typeface="+mn-ea"/>
                <a:cs typeface="+mn-cs"/>
              </a:rPr>
              <a:t>each citation edge receives a continuous score w between 0 and 1 instead of a binary +1.</a:t>
            </a:r>
          </a:p>
          <a:p>
            <a:pPr marL="171450" lvl="0" indent="-171450">
              <a:buFont typeface="Arial" panose="020B0604020202020204" pitchFamily="34" charset="0"/>
              <a:buChar char="•"/>
            </a:pPr>
            <a:r>
              <a:rPr lang="en-US" sz="1200" b="1" kern="1200">
                <a:solidFill>
                  <a:schemeClr val="tx1"/>
                </a:solidFill>
                <a:effectLst/>
                <a:latin typeface="+mn-lt"/>
                <a:ea typeface="+mn-ea"/>
                <a:cs typeface="+mn-cs"/>
              </a:rPr>
              <a:t>Four independent signals: </a:t>
            </a:r>
            <a:r>
              <a:rPr lang="en-US" sz="1200" kern="1200">
                <a:solidFill>
                  <a:schemeClr val="tx1"/>
                </a:solidFill>
                <a:effectLst/>
                <a:latin typeface="+mn-lt"/>
                <a:ea typeface="+mn-ea"/>
                <a:cs typeface="+mn-cs"/>
              </a:rPr>
              <a:t>ORC graph geometry, GCN neural embeddings, temporal plausibility, and NLP semantic similarity each audit the citation from a different angle.</a:t>
            </a:r>
          </a:p>
          <a:p>
            <a:pPr marL="171450" lvl="0" indent="-171450">
              <a:buFont typeface="Arial" panose="020B0604020202020204" pitchFamily="34" charset="0"/>
              <a:buChar char="•"/>
            </a:pPr>
            <a:r>
              <a:rPr lang="en-US" sz="1200" b="1" kern="1200">
                <a:solidFill>
                  <a:schemeClr val="tx1"/>
                </a:solidFill>
                <a:effectLst/>
                <a:latin typeface="+mn-lt"/>
                <a:ea typeface="+mn-ea"/>
                <a:cs typeface="+mn-cs"/>
              </a:rPr>
              <a:t>Cartel detection via curvature: </a:t>
            </a:r>
            <a:r>
              <a:rPr lang="en-US" sz="1200" kern="1200">
                <a:solidFill>
                  <a:schemeClr val="tx1"/>
                </a:solidFill>
                <a:effectLst/>
                <a:latin typeface="+mn-lt"/>
                <a:ea typeface="+mn-ea"/>
                <a:cs typeface="+mn-cs"/>
              </a:rPr>
              <a:t>citation rings produce distinctively negative Ollivier-Ricci curvature, a geometric signature traditional metrics cannot observe.</a:t>
            </a:r>
          </a:p>
          <a:p>
            <a:pPr marL="171450" lvl="0" indent="-171450">
              <a:buFont typeface="Arial" panose="020B0604020202020204" pitchFamily="34" charset="0"/>
              <a:buChar char="•"/>
            </a:pPr>
            <a:r>
              <a:rPr lang="en-US" sz="1200" b="1" kern="1200">
                <a:solidFill>
                  <a:schemeClr val="tx1"/>
                </a:solidFill>
                <a:effectLst/>
                <a:latin typeface="+mn-lt"/>
                <a:ea typeface="+mn-ea"/>
                <a:cs typeface="+mn-cs"/>
              </a:rPr>
              <a:t>Field normalization (NCAIF): </a:t>
            </a:r>
            <a:r>
              <a:rPr lang="en-US" sz="1200" kern="1200">
                <a:solidFill>
                  <a:schemeClr val="tx1"/>
                </a:solidFill>
                <a:effectLst/>
                <a:latin typeface="+mn-lt"/>
                <a:ea typeface="+mn-ea"/>
                <a:cs typeface="+mn-cs"/>
              </a:rPr>
              <a:t>raw scores are adjusted by field-wide citation averages so biology and physics journals can be compared fairly.</a:t>
            </a:r>
          </a:p>
          <a:p>
            <a:pPr marL="171450" lvl="0" indent="-171450">
              <a:buFont typeface="Arial" panose="020B0604020202020204" pitchFamily="34" charset="0"/>
              <a:buChar char="•"/>
            </a:pPr>
            <a:r>
              <a:rPr lang="en-US" sz="1200" b="1" kern="1200">
                <a:solidFill>
                  <a:schemeClr val="tx1"/>
                </a:solidFill>
                <a:effectLst/>
                <a:latin typeface="+mn-lt"/>
                <a:ea typeface="+mn-ea"/>
                <a:cs typeface="+mn-cs"/>
              </a:rPr>
              <a:t>Statistical validation: </a:t>
            </a:r>
            <a:r>
              <a:rPr lang="en-US" sz="1200" kern="1200">
                <a:solidFill>
                  <a:schemeClr val="tx1"/>
                </a:solidFill>
                <a:effectLst/>
                <a:latin typeface="+mn-lt"/>
                <a:ea typeface="+mn-ea"/>
                <a:cs typeface="+mn-cs"/>
              </a:rPr>
              <a:t>a Z-score against a null model confirms the result is not an artifact of network size or citation age distribution.</a:t>
            </a:r>
          </a:p>
          <a:p>
            <a:pPr marL="171450" lvl="0" indent="-171450" rtl="0">
              <a:buFont typeface="Arial" panose="020B0604020202020204" pitchFamily="34" charset="0"/>
              <a:buChar char="•"/>
            </a:pPr>
            <a:endParaRPr lang="en-US" sz="1200" b="1"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A9F633F4-A46F-437D-D742-FE930C087D52}"/>
              </a:ext>
            </a:extLst>
          </p:cNvPr>
          <p:cNvSpPr>
            <a:spLocks noGrp="1"/>
          </p:cNvSpPr>
          <p:nvPr>
            <p:ph type="sldNum" sz="quarter" idx="5"/>
          </p:nvPr>
        </p:nvSpPr>
        <p:spPr/>
        <p:txBody>
          <a:bodyPr/>
          <a:lstStyle/>
          <a:p>
            <a:endParaRPr lang="en-US"/>
          </a:p>
        </p:txBody>
      </p:sp>
    </p:spTree>
    <p:extLst>
      <p:ext uri="{BB962C8B-B14F-4D97-AF65-F5344CB8AC3E}">
        <p14:creationId xmlns:p14="http://schemas.microsoft.com/office/powerpoint/2010/main" val="12858468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171450" lvl="0" indent="-171450" rtl="0">
              <a:buFont typeface="Arial" panose="020B0604020202020204" pitchFamily="34" charset="0"/>
              <a:buChar char="•"/>
            </a:pPr>
            <a:r>
              <a:rPr lang="en-US" sz="1200" b="1" kern="1200">
                <a:solidFill>
                  <a:schemeClr val="tx1"/>
                </a:solidFill>
                <a:effectLst/>
                <a:latin typeface="+mn-lt"/>
                <a:ea typeface="+mn-ea"/>
                <a:cs typeface="+mn-cs"/>
              </a:rPr>
              <a:t>Single entry point: </a:t>
            </a:r>
            <a:r>
              <a:rPr lang="en-US" sz="1200" kern="1200">
                <a:solidFill>
                  <a:schemeClr val="tx1"/>
                </a:solidFill>
                <a:effectLst/>
                <a:latin typeface="+mn-lt"/>
                <a:ea typeface="+mn-ea"/>
                <a:cs typeface="+mn-cs"/>
              </a:rPr>
              <a:t>a journal name plus a citation window triggers an HTTP query to the OpenAlex REST API.</a:t>
            </a:r>
          </a:p>
          <a:p>
            <a:pPr marL="171450" lvl="0" indent="-171450">
              <a:buFont typeface="Arial" panose="020B0604020202020204" pitchFamily="34" charset="0"/>
              <a:buChar char="•"/>
            </a:pPr>
            <a:r>
              <a:rPr lang="en-US" sz="1200" b="1" kern="1200">
                <a:solidFill>
                  <a:schemeClr val="tx1"/>
                </a:solidFill>
                <a:effectLst/>
                <a:latin typeface="+mn-lt"/>
                <a:ea typeface="+mn-ea"/>
                <a:cs typeface="+mn-cs"/>
              </a:rPr>
              <a:t>Heterogeneous graph: </a:t>
            </a:r>
            <a:r>
              <a:rPr lang="en-US" sz="1200" kern="1200">
                <a:solidFill>
                  <a:schemeClr val="tx1"/>
                </a:solidFill>
                <a:effectLst/>
                <a:latin typeface="+mn-lt"/>
                <a:ea typeface="+mn-ea"/>
                <a:cs typeface="+mn-cs"/>
              </a:rPr>
              <a:t>raw JSON is converted into typed nodes (Papers, Authors, Journals) and typed edges (cites, authored-by, published-in).</a:t>
            </a:r>
          </a:p>
          <a:p>
            <a:pPr marL="171450" lvl="0" indent="-171450">
              <a:buFont typeface="Arial" panose="020B0604020202020204" pitchFamily="34" charset="0"/>
              <a:buChar char="•"/>
            </a:pPr>
            <a:r>
              <a:rPr lang="en-US" sz="1200" b="1" kern="1200">
                <a:solidFill>
                  <a:schemeClr val="tx1"/>
                </a:solidFill>
                <a:effectLst/>
                <a:latin typeface="+mn-lt"/>
                <a:ea typeface="+mn-ea"/>
                <a:cs typeface="+mn-cs"/>
              </a:rPr>
              <a:t>Parallel fan-out: </a:t>
            </a:r>
            <a:r>
              <a:rPr lang="en-US" sz="1200" kern="1200">
                <a:solidFill>
                  <a:schemeClr val="tx1"/>
                </a:solidFill>
                <a:effectLst/>
                <a:latin typeface="+mn-lt"/>
                <a:ea typeface="+mn-ea"/>
                <a:cs typeface="+mn-cs"/>
              </a:rPr>
              <a:t>the graph is broadcast as four simultaneous streams to the ORC, GCN, Temporal, and NLP extractors in Phase 2.</a:t>
            </a:r>
          </a:p>
          <a:p>
            <a:pPr marL="171450" lvl="0" indent="-171450">
              <a:buFont typeface="Arial" panose="020B0604020202020204" pitchFamily="34" charset="0"/>
              <a:buChar char="•"/>
            </a:pPr>
            <a:r>
              <a:rPr lang="en-US" sz="1200" b="1" kern="1200">
                <a:solidFill>
                  <a:schemeClr val="tx1"/>
                </a:solidFill>
                <a:effectLst/>
                <a:latin typeface="+mn-lt"/>
                <a:ea typeface="+mn-ea"/>
                <a:cs typeface="+mn-cs"/>
              </a:rPr>
              <a:t>Feature fusion: </a:t>
            </a:r>
            <a:r>
              <a:rPr lang="en-US" sz="1200" kern="1200">
                <a:solidFill>
                  <a:schemeClr val="tx1"/>
                </a:solidFill>
                <a:effectLst/>
                <a:latin typeface="+mn-lt"/>
                <a:ea typeface="+mn-ea"/>
                <a:cs typeface="+mn-cs"/>
              </a:rPr>
              <a:t>the four per-edge scores are concatenated into a single multi-modal vector that the Citation Trust Head processes in Phase 3.</a:t>
            </a:r>
          </a:p>
          <a:p>
            <a:pPr marL="171450" lvl="0" indent="-171450">
              <a:buFont typeface="Arial" panose="020B0604020202020204" pitchFamily="34" charset="0"/>
              <a:buChar char="•"/>
            </a:pPr>
            <a:r>
              <a:rPr lang="en-US" sz="1200" b="1" kern="1200">
                <a:solidFill>
                  <a:schemeClr val="tx1"/>
                </a:solidFill>
                <a:effectLst/>
                <a:latin typeface="+mn-lt"/>
                <a:ea typeface="+mn-ea"/>
                <a:cs typeface="+mn-cs"/>
              </a:rPr>
              <a:t>Validated output: </a:t>
            </a:r>
            <a:r>
              <a:rPr lang="en-US" sz="1200" kern="1200">
                <a:solidFill>
                  <a:schemeClr val="tx1"/>
                </a:solidFill>
                <a:effectLst/>
                <a:latin typeface="+mn-lt"/>
                <a:ea typeface="+mn-ea"/>
                <a:cs typeface="+mn-cs"/>
              </a:rPr>
              <a:t>Phase 4 aggregates trust weights into a raw CAIF score, normalizes it, and gates publication on a Z-score test against a null model.</a:t>
            </a:r>
          </a:p>
        </p:txBody>
      </p:sp>
    </p:spTree>
    <p:extLst>
      <p:ext uri="{BB962C8B-B14F-4D97-AF65-F5344CB8AC3E}">
        <p14:creationId xmlns:p14="http://schemas.microsoft.com/office/powerpoint/2010/main" val="37131413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a:t>Now the solution — it runs in four phases, and we build them up one at a time. Phase one is plumbing, but important plumbing. Follow the diagram left to right. We start with one request: a journal name, a year window, a research field. That goes to </a:t>
            </a:r>
            <a:r>
              <a:rPr lang="en-US" err="1"/>
              <a:t>OpenAlex</a:t>
            </a:r>
            <a:r>
              <a:rPr lang="en-US"/>
              <a:t> — a giant open database of papers — and pulls back the raw material: every paper, its authors, its journal, and every citation between them, as JSON. The Graph Constructor turns that into a graph with three kinds of nodes — papers, authors, journals — joined by typed edges like cites and authored-by. Finally, Metadata Extraction fans the graph out into four parallel streams: the network's wiring, its starting features, its timestamps, and its abstract text. Hold onto those four colored streams — in the next phase each one gets analyzed independently. One request in; a rich, typed citation network out.</a:t>
            </a:r>
            <a:endParaRPr lang="en-IL"/>
          </a:p>
        </p:txBody>
      </p:sp>
    </p:spTree>
    <p:extLst>
      <p:ext uri="{BB962C8B-B14F-4D97-AF65-F5344CB8AC3E}">
        <p14:creationId xmlns:p14="http://schemas.microsoft.com/office/powerpoint/2010/main" val="5094713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Arial" pitchFamily="34" charset="0"/>
                  </a:rPr>
                  <a:t>Phase two is where the intelligence lives. Remember those four streams? Each now feeds its own specialist, and they all run in parallel — four independent reads on every single citation. The first is geometry, and it is the heart of the project. For each citation we look at the neighborhood: if the two papers share many common connections, the citation sits in a tight, healthy cluster — trustworthy. If they share almost none, it is a lonely bridge between unrelated worlds — a red flag. The second is a neural network that checks whether the papers' learned profiles genuinely match. The third checks timing — is the citation even chronologically possible, or part of a suspicious burst? The fourth reads the actual abstracts and asks whether the two papers are even about the same thing. Four questions — geometry, network, time, meaning — and we staple the four answers into one vector per citation. That vector is what the next phase judges.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Arial" pitchFamily="34" charset="0"/>
                  </a:rPr>
                  <a:t> </a:t>
                </a:r>
                <a14:m>
                  <m:oMath xmlns:m="http://schemas.openxmlformats.org/officeDocument/2006/math">
                    <m:sSub>
                      <m:sSubPr>
                        <m:ctrlPr>
                          <a:rPr lang="en-US" sz="1200" i="1" dirty="0">
                            <a:latin typeface="Cambria Math" panose="02040503050406030204" pitchFamily="18" charset="0"/>
                          </a:rPr>
                        </m:ctrlPr>
                      </m:sSubPr>
                      <m:e>
                        <m:r>
                          <a:rPr lang="en-US" sz="1200" i="1" dirty="0" smtClean="0">
                            <a:latin typeface="Cambria Math" panose="02040503050406030204" pitchFamily="18" charset="0"/>
                          </a:rPr>
                          <m:t>𝑍</m:t>
                        </m:r>
                      </m:e>
                      <m:sub>
                        <m:r>
                          <a:rPr lang="en-US" sz="1200" i="1" dirty="0" smtClean="0">
                            <a:latin typeface="Cambria Math" panose="02040503050406030204" pitchFamily="18" charset="0"/>
                          </a:rPr>
                          <m:t>𝑒</m:t>
                        </m:r>
                      </m:sub>
                    </m:sSub>
                    <m:r>
                      <a:rPr lang="en-US" sz="1200" i="1" dirty="0" smtClean="0">
                        <a:latin typeface="Cambria Math" panose="02040503050406030204" pitchFamily="18" charset="0"/>
                      </a:rPr>
                      <m:t>=[</m:t>
                    </m:r>
                    <m:sSub>
                      <m:sSubPr>
                        <m:ctrlPr>
                          <a:rPr lang="en-US" sz="1200" i="1" dirty="0">
                            <a:latin typeface="Cambria Math" panose="02040503050406030204" pitchFamily="18" charset="0"/>
                          </a:rPr>
                        </m:ctrlPr>
                      </m:sSubPr>
                      <m:e>
                        <m:r>
                          <a:rPr lang="en-US" sz="1200" i="1" dirty="0" smtClean="0">
                            <a:latin typeface="Cambria Math" panose="02040503050406030204" pitchFamily="18" charset="0"/>
                          </a:rPr>
                          <m:t>𝜅</m:t>
                        </m:r>
                      </m:e>
                      <m:sub>
                        <m:r>
                          <a:rPr lang="en-US" sz="1200" i="1" dirty="0" smtClean="0">
                            <a:latin typeface="Cambria Math" panose="02040503050406030204" pitchFamily="18" charset="0"/>
                          </a:rPr>
                          <m:t>𝑒</m:t>
                        </m:r>
                      </m:sub>
                    </m:sSub>
                    <m:r>
                      <a:rPr lang="en-US" sz="1200" i="1" dirty="0" smtClean="0">
                        <a:latin typeface="Cambria Math" panose="02040503050406030204" pitchFamily="18" charset="0"/>
                      </a:rPr>
                      <m:t>⊕</m:t>
                    </m:r>
                    <m:sSub>
                      <m:sSubPr>
                        <m:ctrlPr>
                          <a:rPr lang="en-US" sz="1200" i="1" dirty="0">
                            <a:latin typeface="Cambria Math" panose="02040503050406030204" pitchFamily="18" charset="0"/>
                          </a:rPr>
                        </m:ctrlPr>
                      </m:sSubPr>
                      <m:e>
                        <m:r>
                          <a:rPr lang="en-US" sz="1200" i="1" dirty="0" smtClean="0">
                            <a:latin typeface="Cambria Math" panose="02040503050406030204" pitchFamily="18" charset="0"/>
                          </a:rPr>
                          <m:t>𝛾</m:t>
                        </m:r>
                      </m:e>
                      <m:sub>
                        <m:r>
                          <a:rPr lang="en-US" sz="1200" i="1" dirty="0" smtClean="0">
                            <a:latin typeface="Cambria Math" panose="02040503050406030204" pitchFamily="18" charset="0"/>
                          </a:rPr>
                          <m:t>𝑔𝑐𝑛</m:t>
                        </m:r>
                      </m:sub>
                    </m:sSub>
                    <m:r>
                      <a:rPr lang="en-US" sz="1200" i="1" dirty="0" smtClean="0">
                        <a:latin typeface="Cambria Math" panose="02040503050406030204" pitchFamily="18" charset="0"/>
                      </a:rPr>
                      <m:t>⊕</m:t>
                    </m:r>
                    <m:sSub>
                      <m:sSubPr>
                        <m:ctrlPr>
                          <a:rPr lang="en-US" sz="1200" i="1" dirty="0">
                            <a:latin typeface="Cambria Math" panose="02040503050406030204" pitchFamily="18" charset="0"/>
                          </a:rPr>
                        </m:ctrlPr>
                      </m:sSubPr>
                      <m:e>
                        <m:r>
                          <a:rPr lang="en-US" sz="1200" i="1" dirty="0" smtClean="0">
                            <a:latin typeface="Cambria Math" panose="02040503050406030204" pitchFamily="18" charset="0"/>
                          </a:rPr>
                          <m:t>𝛿</m:t>
                        </m:r>
                      </m:e>
                      <m:sub>
                        <m:r>
                          <a:rPr lang="en-US" sz="1200" i="1" dirty="0" smtClean="0">
                            <a:latin typeface="Cambria Math" panose="02040503050406030204" pitchFamily="18" charset="0"/>
                          </a:rPr>
                          <m:t>𝑡𝑒𝑚𝑝</m:t>
                        </m:r>
                      </m:sub>
                    </m:sSub>
                    <m:r>
                      <a:rPr lang="en-US" sz="1200" i="1" dirty="0" smtClean="0">
                        <a:latin typeface="Cambria Math" panose="02040503050406030204" pitchFamily="18" charset="0"/>
                      </a:rPr>
                      <m:t>⊕</m:t>
                    </m:r>
                    <m:sSub>
                      <m:sSubPr>
                        <m:ctrlPr>
                          <a:rPr lang="en-US" sz="1200" i="1" dirty="0">
                            <a:latin typeface="Cambria Math" panose="02040503050406030204" pitchFamily="18" charset="0"/>
                          </a:rPr>
                        </m:ctrlPr>
                      </m:sSubPr>
                      <m:e>
                        <m:r>
                          <a:rPr lang="en-US" sz="1200" i="1" dirty="0" smtClean="0">
                            <a:latin typeface="Cambria Math" panose="02040503050406030204" pitchFamily="18" charset="0"/>
                          </a:rPr>
                          <m:t>𝜃</m:t>
                        </m:r>
                      </m:e>
                      <m:sub>
                        <m:r>
                          <a:rPr lang="en-US" sz="1200" i="1" dirty="0" smtClean="0">
                            <a:latin typeface="Cambria Math" panose="02040503050406030204" pitchFamily="18" charset="0"/>
                          </a:rPr>
                          <m:t>𝑠𝑒𝑚</m:t>
                        </m:r>
                      </m:sub>
                    </m:sSub>
                    <m:r>
                      <a:rPr lang="en-US" sz="1200" i="1" dirty="0" smtClean="0">
                        <a:latin typeface="Cambria Math" panose="02040503050406030204" pitchFamily="18" charset="0"/>
                      </a:rPr>
                      <m:t>]</m:t>
                    </m:r>
                  </m:oMath>
                </a14:m>
                <a:endParaRPr lang="en-US" sz="1200">
                  <a:latin typeface="Arial"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latin typeface="Arial" pitchFamily="34" charset="0"/>
                </a:endParaRPr>
              </a:p>
              <a:p>
                <a:endParaRPr lang="en-US"/>
              </a:p>
            </p:txBody>
          </p:sp>
        </mc:Choice>
        <mc:Fallback xmlns="">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Arial" pitchFamily="34" charset="0"/>
                  </a:rPr>
                  <a:t>Phase two is where the intelligence lives. Remember those four streams? Each now feeds its own specialist, and they all run in parallel — four independent reads on every single citation. The first is geometry, and it is the heart of the project. For each citation we look at the neighborhood: if the two papers share many common connections, the citation sits in a tight, healthy cluster — trustworthy. If they share almost none, it is a lonely bridge between unrelated worlds — a red flag. The second is a neural network that checks whether the papers' learned profiles genuinely match. The third checks timing — is the citation even chronologically possible, or part of a suspicious burst? The fourth reads the actual abstracts and asks whether the two papers are even about the same thing. Four questions — geometry, network, time, meaning — and we staple the four answers into one vector per citation. That vector is what the next phase judges.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Arial" pitchFamily="34" charset="0"/>
                  </a:rPr>
                  <a:t> </a:t>
                </a:r>
                <a:r>
                  <a:rPr lang="en-US" sz="1200" i="0" dirty="0">
                    <a:latin typeface="Cambria Math" panose="02040503050406030204" pitchFamily="18" charset="0"/>
                  </a:rPr>
                  <a:t>𝑍_𝑒=[𝜅_𝑒⊕𝛾_𝑔𝑐𝑛⊕𝛿_𝑡𝑒𝑚𝑝⊕𝜃_𝑠𝑒𝑚]</a:t>
                </a:r>
                <a:endParaRPr lang="en-US" sz="1200">
                  <a:latin typeface="Arial"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a:latin typeface="Arial" pitchFamily="34" charset="0"/>
                </a:endParaRPr>
              </a:p>
              <a:p>
                <a:endParaRPr lang="en-US"/>
              </a:p>
            </p:txBody>
          </p:sp>
        </mc:Fallback>
      </mc:AlternateContent>
    </p:spTree>
    <p:extLst>
      <p:ext uri="{BB962C8B-B14F-4D97-AF65-F5344CB8AC3E}">
        <p14:creationId xmlns:p14="http://schemas.microsoft.com/office/powerpoint/2010/main" val="4818307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171450" lvl="0" indent="-171450" rtl="0">
              <a:buFont typeface="Arial" panose="020B0604020202020204" pitchFamily="34" charset="0"/>
              <a:buChar char="•"/>
            </a:pPr>
            <a:r>
              <a:rPr lang="en-US" sz="1200" b="1" kern="1200">
                <a:solidFill>
                  <a:schemeClr val="tx1"/>
                </a:solidFill>
                <a:effectLst/>
                <a:latin typeface="+mn-lt"/>
                <a:ea typeface="+mn-ea"/>
                <a:cs typeface="+mn-cs"/>
              </a:rPr>
              <a:t>Input: </a:t>
            </a:r>
            <a:r>
              <a:rPr lang="en-US" sz="1200" kern="1200">
                <a:solidFill>
                  <a:schemeClr val="tx1"/>
                </a:solidFill>
                <a:effectLst/>
                <a:latin typeface="+mn-lt"/>
                <a:ea typeface="+mn-ea"/>
                <a:cs typeface="+mn-cs"/>
              </a:rPr>
              <a:t>the four-dimensional feature vector assembled in Phase 2, one per citation edge.</a:t>
            </a:r>
          </a:p>
          <a:p>
            <a:pPr marL="171450" lvl="0" indent="-171450">
              <a:buFont typeface="Arial" panose="020B0604020202020204" pitchFamily="34" charset="0"/>
              <a:buChar char="•"/>
            </a:pPr>
            <a:r>
              <a:rPr lang="en-US" sz="1200" b="1" kern="1200">
                <a:solidFill>
                  <a:schemeClr val="tx1"/>
                </a:solidFill>
                <a:effectLst/>
                <a:latin typeface="+mn-lt"/>
                <a:ea typeface="+mn-ea"/>
                <a:cs typeface="+mn-cs"/>
              </a:rPr>
              <a:t>Architecture: </a:t>
            </a:r>
            <a:r>
              <a:rPr lang="en-US" sz="1200" kern="1200">
                <a:solidFill>
                  <a:schemeClr val="tx1"/>
                </a:solidFill>
                <a:effectLst/>
                <a:latin typeface="+mn-lt"/>
                <a:ea typeface="+mn-ea"/>
                <a:cs typeface="+mn-cs"/>
              </a:rPr>
              <a:t>a single learned linear layer followed by a sigmoid activation, intentionally lightweight and interpretable.</a:t>
            </a:r>
          </a:p>
          <a:p>
            <a:pPr marL="171450" lvl="0" indent="-171450">
              <a:buFont typeface="Arial" panose="020B0604020202020204" pitchFamily="34" charset="0"/>
              <a:buChar char="•"/>
            </a:pPr>
            <a:r>
              <a:rPr lang="en-US" sz="1200" b="1" kern="1200">
                <a:solidFill>
                  <a:schemeClr val="tx1"/>
                </a:solidFill>
                <a:effectLst/>
                <a:latin typeface="+mn-lt"/>
                <a:ea typeface="+mn-ea"/>
                <a:cs typeface="+mn-cs"/>
              </a:rPr>
              <a:t>Output: </a:t>
            </a:r>
            <a:r>
              <a:rPr lang="en-US" sz="1200" kern="1200">
                <a:solidFill>
                  <a:schemeClr val="tx1"/>
                </a:solidFill>
                <a:effectLst/>
                <a:latin typeface="+mn-lt"/>
                <a:ea typeface="+mn-ea"/>
                <a:cs typeface="+mn-cs"/>
              </a:rPr>
              <a:t>a trust weight w in [0, 1]; values near 1 indicate a clean, structurally coherent citation; values near 0 flag manipulation.</a:t>
            </a:r>
          </a:p>
          <a:p>
            <a:pPr marL="171450" lvl="0" indent="-171450">
              <a:buFont typeface="Arial" panose="020B0604020202020204" pitchFamily="34" charset="0"/>
              <a:buChar char="•"/>
            </a:pPr>
            <a:r>
              <a:rPr lang="en-US" sz="1200" b="1" kern="1200">
                <a:solidFill>
                  <a:schemeClr val="tx1"/>
                </a:solidFill>
                <a:effectLst/>
                <a:latin typeface="+mn-lt"/>
                <a:ea typeface="+mn-ea"/>
                <a:cs typeface="+mn-cs"/>
              </a:rPr>
              <a:t>Interpretability: </a:t>
            </a:r>
            <a:r>
              <a:rPr lang="en-US" sz="1200" kern="1200">
                <a:solidFill>
                  <a:schemeClr val="tx1"/>
                </a:solidFill>
                <a:effectLst/>
                <a:latin typeface="+mn-lt"/>
                <a:ea typeface="+mn-ea"/>
                <a:cs typeface="+mn-cs"/>
              </a:rPr>
              <a:t>after training, the learned coefficients directly reveal which signal the model found most predictive of citation quality.</a:t>
            </a:r>
          </a:p>
          <a:p>
            <a:pPr marL="171450" lvl="0" indent="-171450">
              <a:buFont typeface="Arial" panose="020B0604020202020204" pitchFamily="34" charset="0"/>
              <a:buChar char="•"/>
            </a:pPr>
            <a:r>
              <a:rPr lang="en-US" sz="1200" b="1" kern="1200">
                <a:solidFill>
                  <a:schemeClr val="tx1"/>
                </a:solidFill>
                <a:effectLst/>
                <a:latin typeface="+mn-lt"/>
                <a:ea typeface="+mn-ea"/>
                <a:cs typeface="+mn-cs"/>
              </a:rPr>
              <a:t>Bounded by design: </a:t>
            </a:r>
            <a:r>
              <a:rPr lang="en-US" sz="1200" kern="1200">
                <a:solidFill>
                  <a:schemeClr val="tx1"/>
                </a:solidFill>
                <a:effectLst/>
                <a:latin typeface="+mn-lt"/>
                <a:ea typeface="+mn-ea"/>
                <a:cs typeface="+mn-cs"/>
              </a:rPr>
              <a:t>the sigmoid guarantees no citation ever receives a negative weight or a weight above 1, regardless of input magnitude.</a:t>
            </a:r>
          </a:p>
          <a:p>
            <a:pPr marL="171450" indent="-171450">
              <a:buFont typeface="Arial" panose="020B0604020202020204" pitchFamily="34" charset="0"/>
              <a:buChar char="•"/>
            </a:pPr>
            <a:endParaRPr lang="en-US"/>
          </a:p>
        </p:txBody>
      </p:sp>
    </p:spTree>
    <p:extLst>
      <p:ext uri="{BB962C8B-B14F-4D97-AF65-F5344CB8AC3E}">
        <p14:creationId xmlns:p14="http://schemas.microsoft.com/office/powerpoint/2010/main" val="32304292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171450" lvl="0" indent="-171450" rtl="0">
              <a:buFont typeface="Arial" panose="020B0604020202020204" pitchFamily="34" charset="0"/>
              <a:buChar char="•"/>
            </a:pPr>
            <a:r>
              <a:rPr lang="en-US" sz="1200" b="1" kern="1200">
                <a:solidFill>
                  <a:schemeClr val="tx1"/>
                </a:solidFill>
                <a:effectLst/>
                <a:latin typeface="+mn-lt"/>
                <a:ea typeface="+mn-ea"/>
                <a:cs typeface="+mn-cs"/>
              </a:rPr>
              <a:t>Trust-weighted CAIF sum: </a:t>
            </a:r>
            <a:r>
              <a:rPr lang="en-US" sz="1200" kern="1200">
                <a:solidFill>
                  <a:schemeClr val="tx1"/>
                </a:solidFill>
                <a:effectLst/>
                <a:latin typeface="+mn-lt"/>
                <a:ea typeface="+mn-ea"/>
                <a:cs typeface="+mn-cs"/>
              </a:rPr>
              <a:t>replaces the traditional raw count with the sum of all incoming trust weights divided by the number of published papers.</a:t>
            </a:r>
          </a:p>
          <a:p>
            <a:pPr marL="171450" lvl="0" indent="-171450">
              <a:buFont typeface="Arial" panose="020B0604020202020204" pitchFamily="34" charset="0"/>
              <a:buChar char="•"/>
            </a:pPr>
            <a:r>
              <a:rPr lang="en-US" sz="1200" b="1" kern="1200">
                <a:solidFill>
                  <a:schemeClr val="tx1"/>
                </a:solidFill>
                <a:effectLst/>
                <a:latin typeface="+mn-lt"/>
                <a:ea typeface="+mn-ea"/>
                <a:cs typeface="+mn-cs"/>
              </a:rPr>
              <a:t>Field normalization: </a:t>
            </a:r>
            <a:r>
              <a:rPr lang="en-US" sz="1200" kern="1200">
                <a:solidFill>
                  <a:schemeClr val="tx1"/>
                </a:solidFill>
                <a:effectLst/>
                <a:latin typeface="+mn-lt"/>
                <a:ea typeface="+mn-ea"/>
                <a:cs typeface="+mn-cs"/>
              </a:rPr>
              <a:t>a per-field, per-year normalization factor is multiplied directly into each edge weight, separating citation quantity, quality, and field comparability into three auditable components.</a:t>
            </a:r>
          </a:p>
          <a:p>
            <a:pPr marL="171450" lvl="0" indent="-171450">
              <a:buFont typeface="Arial" panose="020B0604020202020204" pitchFamily="34" charset="0"/>
              <a:buChar char="•"/>
            </a:pPr>
            <a:r>
              <a:rPr lang="en-US" sz="1200" b="1" kern="1200">
                <a:solidFill>
                  <a:schemeClr val="tx1"/>
                </a:solidFill>
                <a:effectLst/>
                <a:latin typeface="+mn-lt"/>
                <a:ea typeface="+mn-ea"/>
                <a:cs typeface="+mn-cs"/>
              </a:rPr>
              <a:t>Null model baseline: </a:t>
            </a:r>
            <a:r>
              <a:rPr lang="en-US" sz="1200" kern="1200">
                <a:solidFill>
                  <a:schemeClr val="tx1"/>
                </a:solidFill>
                <a:effectLst/>
                <a:latin typeface="+mn-lt"/>
                <a:ea typeface="+mn-ea"/>
                <a:cs typeface="+mn-cs"/>
              </a:rPr>
              <a:t>hundreds of degree-preserving random graph shuffles generate a baseline distribution of CAIF scores for the same journal.</a:t>
            </a:r>
          </a:p>
          <a:p>
            <a:pPr marL="171450" lvl="0" indent="-171450">
              <a:buFont typeface="Arial" panose="020B0604020202020204" pitchFamily="34" charset="0"/>
              <a:buChar char="•"/>
            </a:pPr>
            <a:r>
              <a:rPr lang="en-US" sz="1200" b="1" kern="1200">
                <a:solidFill>
                  <a:schemeClr val="tx1"/>
                </a:solidFill>
                <a:effectLst/>
                <a:latin typeface="+mn-lt"/>
                <a:ea typeface="+mn-ea"/>
                <a:cs typeface="+mn-cs"/>
              </a:rPr>
              <a:t>Z-score decision gate: </a:t>
            </a:r>
            <a:r>
              <a:rPr lang="en-US" sz="1200" kern="1200">
                <a:solidFill>
                  <a:schemeClr val="tx1"/>
                </a:solidFill>
                <a:effectLst/>
                <a:latin typeface="+mn-lt"/>
                <a:ea typeface="+mn-ea"/>
                <a:cs typeface="+mn-cs"/>
              </a:rPr>
              <a:t>the journal's real NCAIF must exceed the null distribution by a statistically significant margin to be published.</a:t>
            </a:r>
          </a:p>
          <a:p>
            <a:pPr marL="171450" lvl="0" indent="-171450">
              <a:buFont typeface="Arial" panose="020B0604020202020204" pitchFamily="34" charset="0"/>
              <a:buChar char="•"/>
            </a:pPr>
            <a:r>
              <a:rPr lang="en-US" sz="1200" b="1" kern="1200">
                <a:solidFill>
                  <a:schemeClr val="tx1"/>
                </a:solidFill>
                <a:effectLst/>
                <a:latin typeface="+mn-lt"/>
                <a:ea typeface="+mn-ea"/>
                <a:cs typeface="+mn-cs"/>
              </a:rPr>
              <a:t>Flagging vs. publishing: </a:t>
            </a:r>
            <a:r>
              <a:rPr lang="en-US" sz="1200" kern="1200">
                <a:solidFill>
                  <a:schemeClr val="tx1"/>
                </a:solidFill>
                <a:effectLst/>
                <a:latin typeface="+mn-lt"/>
                <a:ea typeface="+mn-ea"/>
                <a:cs typeface="+mn-cs"/>
              </a:rPr>
              <a:t>journals that do not clear the Z-score threshold are flagged for potential structural manipulation rather than receiving a published score.</a:t>
            </a:r>
          </a:p>
          <a:p>
            <a:pPr marL="171450" indent="-171450">
              <a:buFont typeface="Arial" panose="020B0604020202020204" pitchFamily="34" charset="0"/>
              <a:buChar char="•"/>
            </a:pPr>
            <a:endParaRPr lang="en-US"/>
          </a:p>
        </p:txBody>
      </p:sp>
    </p:spTree>
    <p:extLst>
      <p:ext uri="{BB962C8B-B14F-4D97-AF65-F5344CB8AC3E}">
        <p14:creationId xmlns:p14="http://schemas.microsoft.com/office/powerpoint/2010/main" val="3384641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171450" lvl="0" indent="-171450" rtl="0">
              <a:buFont typeface="Arial" panose="020B0604020202020204" pitchFamily="34" charset="0"/>
              <a:buChar char="•"/>
            </a:pPr>
            <a:r>
              <a:rPr lang="en-US" sz="1200" b="1" kern="1200">
                <a:solidFill>
                  <a:schemeClr val="tx1"/>
                </a:solidFill>
                <a:effectLst/>
                <a:latin typeface="+mn-lt"/>
                <a:ea typeface="+mn-ea"/>
                <a:cs typeface="+mn-cs"/>
              </a:rPr>
              <a:t>18 tests total: </a:t>
            </a:r>
            <a:r>
              <a:rPr lang="en-US" sz="1200" kern="1200">
                <a:solidFill>
                  <a:schemeClr val="tx1"/>
                </a:solidFill>
                <a:effectLst/>
                <a:latin typeface="+mn-lt"/>
                <a:ea typeface="+mn-ea"/>
                <a:cs typeface="+mn-cs"/>
              </a:rPr>
              <a:t>distributed across all four pipeline phases from data ingestion through null model validation.</a:t>
            </a:r>
          </a:p>
          <a:p>
            <a:pPr marL="171450" lvl="0" indent="-171450">
              <a:buFont typeface="Arial" panose="020B0604020202020204" pitchFamily="34" charset="0"/>
              <a:buChar char="•"/>
            </a:pPr>
            <a:r>
              <a:rPr lang="en-US" sz="1200" b="1" kern="1200">
                <a:solidFill>
                  <a:schemeClr val="tx1"/>
                </a:solidFill>
                <a:effectLst/>
                <a:latin typeface="+mn-lt"/>
                <a:ea typeface="+mn-ea"/>
                <a:cs typeface="+mn-cs"/>
              </a:rPr>
              <a:t>Phase-scoped isolation: </a:t>
            </a:r>
            <a:r>
              <a:rPr lang="en-US" sz="1200" kern="1200">
                <a:solidFill>
                  <a:schemeClr val="tx1"/>
                </a:solidFill>
                <a:effectLst/>
                <a:latin typeface="+mn-lt"/>
                <a:ea typeface="+mn-ea"/>
                <a:cs typeface="+mn-cs"/>
              </a:rPr>
              <a:t>each module is tested independently before integration, so failures are immediately localized.</a:t>
            </a:r>
          </a:p>
          <a:p>
            <a:pPr marL="171450" lvl="0" indent="-171450">
              <a:buFont typeface="Arial" panose="020B0604020202020204" pitchFamily="34" charset="0"/>
              <a:buChar char="•"/>
            </a:pPr>
            <a:r>
              <a:rPr lang="en-US" sz="1200" b="1" kern="1200">
                <a:solidFill>
                  <a:schemeClr val="tx1"/>
                </a:solidFill>
                <a:effectLst/>
                <a:latin typeface="+mn-lt"/>
                <a:ea typeface="+mn-ea"/>
                <a:cs typeface="+mn-cs"/>
              </a:rPr>
              <a:t>Boundary conditions: </a:t>
            </a:r>
            <a:r>
              <a:rPr lang="en-US" sz="1200" kern="1200">
                <a:solidFill>
                  <a:schemeClr val="tx1"/>
                </a:solidFill>
                <a:effectLst/>
                <a:latin typeface="+mn-lt"/>
                <a:ea typeface="+mn-ea"/>
                <a:cs typeface="+mn-cs"/>
              </a:rPr>
              <a:t>explicit tests for zero-citation papers, chronologically impossible timestamps, and extreme feature values (magnitude 9999) that could cause overflow or NaN.</a:t>
            </a:r>
          </a:p>
          <a:p>
            <a:pPr marL="171450" lvl="0" indent="-171450">
              <a:buFont typeface="Arial" panose="020B0604020202020204" pitchFamily="34" charset="0"/>
              <a:buChar char="•"/>
            </a:pPr>
            <a:r>
              <a:rPr lang="en-US" sz="1200" b="1" kern="1200">
                <a:solidFill>
                  <a:schemeClr val="tx1"/>
                </a:solidFill>
                <a:effectLst/>
                <a:latin typeface="+mn-lt"/>
                <a:ea typeface="+mn-ea"/>
                <a:cs typeface="+mn-cs"/>
              </a:rPr>
              <a:t>Math correctness vs. robustness: </a:t>
            </a:r>
            <a:r>
              <a:rPr lang="en-US" sz="1200" kern="1200">
                <a:solidFill>
                  <a:schemeClr val="tx1"/>
                </a:solidFill>
                <a:effectLst/>
                <a:latin typeface="+mn-lt"/>
                <a:ea typeface="+mn-ea"/>
                <a:cs typeface="+mn-cs"/>
              </a:rPr>
              <a:t>half the tests verify numerical outputs match expected values; the other half verify the system degrades gracefully under invalid or malformed input.</a:t>
            </a:r>
          </a:p>
          <a:p>
            <a:pPr marL="171450" lvl="0" indent="-171450">
              <a:buFont typeface="Arial" panose="020B0604020202020204" pitchFamily="34" charset="0"/>
              <a:buChar char="•"/>
            </a:pPr>
            <a:r>
              <a:rPr lang="en-US" sz="1200" b="1" kern="1200">
                <a:solidFill>
                  <a:schemeClr val="tx1"/>
                </a:solidFill>
                <a:effectLst/>
                <a:latin typeface="+mn-lt"/>
                <a:ea typeface="+mn-ea"/>
                <a:cs typeface="+mn-cs"/>
              </a:rPr>
              <a:t>Decision logic tested explicitly: </a:t>
            </a:r>
            <a:r>
              <a:rPr lang="en-US" sz="1200" kern="1200">
                <a:solidFill>
                  <a:schemeClr val="tx1"/>
                </a:solidFill>
                <a:effectLst/>
                <a:latin typeface="+mn-lt"/>
                <a:ea typeface="+mn-ea"/>
                <a:cs typeface="+mn-cs"/>
              </a:rPr>
              <a:t>the Z-score rejection gate and re-calibration loopback are both exercised as first-class test scenarios.</a:t>
            </a:r>
          </a:p>
          <a:p>
            <a:pPr marL="171450" indent="-171450">
              <a:buFont typeface="Arial" panose="020B0604020202020204" pitchFamily="34" charset="0"/>
              <a:buChar char="•"/>
            </a:pPr>
            <a:endParaRPr lang="en-US"/>
          </a:p>
        </p:txBody>
      </p:sp>
    </p:spTree>
    <p:extLst>
      <p:ext uri="{BB962C8B-B14F-4D97-AF65-F5344CB8AC3E}">
        <p14:creationId xmlns:p14="http://schemas.microsoft.com/office/powerpoint/2010/main" val="19632521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171450" lvl="0" indent="-171450" rtl="0">
              <a:buFont typeface="Arial" panose="020B0604020202020204" pitchFamily="34" charset="0"/>
              <a:buChar char="•"/>
            </a:pPr>
            <a:r>
              <a:rPr lang="en-US" sz="1200" b="1" kern="1200">
                <a:solidFill>
                  <a:schemeClr val="tx1"/>
                </a:solidFill>
                <a:effectLst/>
                <a:latin typeface="+mn-lt"/>
                <a:ea typeface="+mn-ea"/>
                <a:cs typeface="+mn-cs"/>
              </a:rPr>
              <a:t>Test 04 (ORC correctness): </a:t>
            </a:r>
            <a:r>
              <a:rPr lang="en-US" sz="1200" kern="1200">
                <a:solidFill>
                  <a:schemeClr val="tx1"/>
                </a:solidFill>
                <a:effectLst/>
                <a:latin typeface="+mn-lt"/>
                <a:ea typeface="+mn-ea"/>
                <a:cs typeface="+mn-cs"/>
              </a:rPr>
              <a:t>run curvature on a perfect clique and a single bridge edge; clique must return positive curvature, bridge must return negative.</a:t>
            </a:r>
          </a:p>
          <a:p>
            <a:pPr marL="171450" lvl="0" indent="-171450">
              <a:buFont typeface="Arial" panose="020B0604020202020204" pitchFamily="34" charset="0"/>
              <a:buChar char="•"/>
            </a:pPr>
            <a:r>
              <a:rPr lang="en-US" sz="1200" b="1" kern="1200">
                <a:solidFill>
                  <a:schemeClr val="tx1"/>
                </a:solidFill>
                <a:effectLst/>
                <a:latin typeface="+mn-lt"/>
                <a:ea typeface="+mn-ea"/>
                <a:cs typeface="+mn-cs"/>
              </a:rPr>
              <a:t>Test 05 (temporal impossibility): </a:t>
            </a:r>
            <a:r>
              <a:rPr lang="en-US" sz="1200" kern="1200">
                <a:solidFill>
                  <a:schemeClr val="tx1"/>
                </a:solidFill>
                <a:effectLst/>
                <a:latin typeface="+mn-lt"/>
                <a:ea typeface="+mn-ea"/>
                <a:cs typeface="+mn-cs"/>
              </a:rPr>
              <a:t>feed a citation where the citing paper predates the cited paper; the temporal encoder must output a penalty score of exactly 0.</a:t>
            </a:r>
          </a:p>
          <a:p>
            <a:pPr marL="171450" lvl="0" indent="-171450">
              <a:buFont typeface="Arial" panose="020B0604020202020204" pitchFamily="34" charset="0"/>
              <a:buChar char="•"/>
            </a:pPr>
            <a:r>
              <a:rPr lang="en-US" sz="1200" b="1" kern="1200">
                <a:solidFill>
                  <a:schemeClr val="tx1"/>
                </a:solidFill>
                <a:effectLst/>
                <a:latin typeface="+mn-lt"/>
                <a:ea typeface="+mn-ea"/>
                <a:cs typeface="+mn-cs"/>
              </a:rPr>
              <a:t>Test 11 (sigmoid bounds): </a:t>
            </a:r>
            <a:r>
              <a:rPr lang="en-US" sz="1200" kern="1200">
                <a:solidFill>
                  <a:schemeClr val="tx1"/>
                </a:solidFill>
                <a:effectLst/>
                <a:latin typeface="+mn-lt"/>
                <a:ea typeface="+mn-ea"/>
                <a:cs typeface="+mn-cs"/>
              </a:rPr>
              <a:t>force extreme vectors (magnitude +/- 9999) through the Trust Head; output must remain strictly inside [0, 1].</a:t>
            </a:r>
          </a:p>
          <a:p>
            <a:pPr marL="171450" lvl="0" indent="-171450">
              <a:buFont typeface="Arial" panose="020B0604020202020204" pitchFamily="34" charset="0"/>
              <a:buChar char="•"/>
            </a:pPr>
            <a:r>
              <a:rPr lang="en-US" sz="1200" b="1" kern="1200">
                <a:solidFill>
                  <a:schemeClr val="tx1"/>
                </a:solidFill>
                <a:effectLst/>
                <a:latin typeface="+mn-lt"/>
                <a:ea typeface="+mn-ea"/>
                <a:cs typeface="+mn-cs"/>
              </a:rPr>
              <a:t>Test 17 (Z-score gate): </a:t>
            </a:r>
            <a:r>
              <a:rPr lang="en-US" sz="1200" kern="1200">
                <a:solidFill>
                  <a:schemeClr val="tx1"/>
                </a:solidFill>
                <a:effectLst/>
                <a:latin typeface="+mn-lt"/>
                <a:ea typeface="+mn-ea"/>
                <a:cs typeface="+mn-cs"/>
              </a:rPr>
              <a:t>set NCAIF exactly on the null distribution mean; the decision gate must correctly classify this as not statistically significant.</a:t>
            </a:r>
          </a:p>
          <a:p>
            <a:pPr marL="171450" lvl="0" indent="-171450">
              <a:buFont typeface="Arial" panose="020B0604020202020204" pitchFamily="34" charset="0"/>
              <a:buChar char="•"/>
            </a:pPr>
            <a:r>
              <a:rPr lang="en-US" sz="1200" b="1" kern="1200">
                <a:solidFill>
                  <a:schemeClr val="tx1"/>
                </a:solidFill>
                <a:effectLst/>
                <a:latin typeface="+mn-lt"/>
                <a:ea typeface="+mn-ea"/>
                <a:cs typeface="+mn-cs"/>
              </a:rPr>
              <a:t>Test 18 (re-calibration loopback): </a:t>
            </a:r>
            <a:r>
              <a:rPr lang="en-US" sz="1200" kern="1200">
                <a:solidFill>
                  <a:schemeClr val="tx1"/>
                </a:solidFill>
                <a:effectLst/>
                <a:latin typeface="+mn-lt"/>
                <a:ea typeface="+mn-ea"/>
                <a:cs typeface="+mn-cs"/>
              </a:rPr>
              <a:t>force a low-confidence Phase 4 output; verify the system routes back to Phase 3 for a second pass rather than publishing an unreliable score.</a:t>
            </a:r>
          </a:p>
          <a:p>
            <a:pPr marL="171450" indent="-171450">
              <a:buFont typeface="Arial" panose="020B0604020202020204" pitchFamily="34" charset="0"/>
              <a:buChar char="•"/>
            </a:pPr>
            <a:endParaRPr lang="en-US"/>
          </a:p>
        </p:txBody>
      </p:sp>
    </p:spTree>
    <p:extLst>
      <p:ext uri="{BB962C8B-B14F-4D97-AF65-F5344CB8AC3E}">
        <p14:creationId xmlns:p14="http://schemas.microsoft.com/office/powerpoint/2010/main" val="10770508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a:t>No honest engineering talk is complete without the parts that fought back — and these were the fun ones. Three stand out. First, real-world data is messy. </a:t>
            </a:r>
            <a:r>
              <a:rPr lang="en-US" err="1"/>
              <a:t>OpenAlex</a:t>
            </a:r>
            <a:r>
              <a:rPr lang="en-US"/>
              <a:t> JSON is deeply nested and full of holes — some papers simply have no abstract. So we built the pipeline to degrade gracefully: a missing field bends the system, it never breaks it. Second, the geometry is expensive. That curvature signal relies on the Wasserstein distance — optimal transport — computed for every citation edge, and the cost scales quadratically. We tamed it with batched computation so it stays tractable on large graphs. Third, the deepest one: there is no answer key. Nobody has labeled which citations are trustworthy, so we cannot train the usual way. We use weak supervision — proxy labels drawn from known manipulation patterns like cartels and self-citation loops. Every one of these was a design decision, not a dead end.</a:t>
            </a:r>
            <a:endParaRPr lang="en-IL"/>
          </a:p>
        </p:txBody>
      </p:sp>
    </p:spTree>
    <p:extLst>
      <p:ext uri="{BB962C8B-B14F-4D97-AF65-F5344CB8AC3E}">
        <p14:creationId xmlns:p14="http://schemas.microsoft.com/office/powerpoint/2010/main" val="11740088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a:t>No honest engineering talk is complete without the parts that fought back — and these were the fun ones. Three stand out. First, real-world data is messy. </a:t>
            </a:r>
            <a:r>
              <a:rPr lang="en-US" err="1"/>
              <a:t>OpenAlex</a:t>
            </a:r>
            <a:r>
              <a:rPr lang="en-US"/>
              <a:t> JSON is deeply nested and full of holes — some papers simply have no abstract. So we built the pipeline to degrade gracefully: a missing field bends the system, it never breaks it. Second, the geometry is expensive. That curvature signal relies on the Wasserstein distance — optimal transport — computed for every citation edge, and the cost scales quadratically. We tamed it with batched computation so it stays tractable on large graphs. Third, the deepest one: there is no answer key. Nobody has labeled which citations are trustworthy, so we cannot train the usual way. We use weak supervision — proxy labels drawn from known manipulation patterns like cartels and self-citation loops. Every one of these was a design decision, not a dead end.</a:t>
            </a:r>
          </a:p>
        </p:txBody>
      </p:sp>
    </p:spTree>
    <p:extLst>
      <p:ext uri="{BB962C8B-B14F-4D97-AF65-F5344CB8AC3E}">
        <p14:creationId xmlns:p14="http://schemas.microsoft.com/office/powerpoint/2010/main" val="27024720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latin typeface="Arial" pitchFamily="34" charset="0"/>
              </a:rPr>
              <a:t>Special thanks - </a:t>
            </a:r>
            <a:r>
              <a:rPr lang="en-US" sz="1200">
                <a:latin typeface="Arial" pitchFamily="34" charset="0"/>
              </a:rPr>
              <a:t>Thank you to Prof. Zeev </a:t>
            </a:r>
            <a:r>
              <a:rPr lang="en-US" sz="1200" err="1">
                <a:latin typeface="Arial" pitchFamily="34" charset="0"/>
              </a:rPr>
              <a:t>Volkovich</a:t>
            </a:r>
            <a:r>
              <a:rPr lang="en-US" sz="1200">
                <a:latin typeface="Arial" pitchFamily="34" charset="0"/>
              </a:rPr>
              <a:t> &amp; Dr. Renata </a:t>
            </a:r>
            <a:r>
              <a:rPr lang="en-US" sz="1200" err="1">
                <a:latin typeface="Arial" pitchFamily="34" charset="0"/>
              </a:rPr>
              <a:t>Avros</a:t>
            </a:r>
            <a:r>
              <a:rPr lang="en-US" sz="1200">
                <a:latin typeface="Arial" pitchFamily="34" charset="0"/>
              </a:rPr>
              <a:t> for their guidance</a:t>
            </a:r>
          </a:p>
          <a:p>
            <a:endParaRPr lang="en-US"/>
          </a:p>
        </p:txBody>
      </p:sp>
    </p:spTree>
    <p:extLst>
      <p:ext uri="{BB962C8B-B14F-4D97-AF65-F5344CB8AC3E}">
        <p14:creationId xmlns:p14="http://schemas.microsoft.com/office/powerpoint/2010/main" val="24647170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E07E06E-A2AA-44C4-BB13-75394218BE4F}" type="datetime1">
              <a:rPr lang="en-US" smtClean="0"/>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55E865F-EB9C-48C7-8BE4-8F8E1B30B1C5}" type="datetime1">
              <a:rPr lang="en-US" smtClean="0"/>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D63924E-A3B2-4A1D-B5C7-AAD015FFD7CF}" type="datetime1">
              <a:rPr lang="en-US" smtClean="0"/>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361692D-666A-4B54-8D3C-47D5259CFC18}" type="datetime1">
              <a:rPr lang="en-US" smtClean="0"/>
              <a:t>7/4/2026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3FBC0E3-48EF-4E89-BE2D-FDE4E2C203A2}" type="datetime1">
              <a:rPr lang="en-US" smtClean="0"/>
              <a:t>7/4/2026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8C62580-652B-4CC4-9AE5-F5BB1A60019A}" type="datetime1">
              <a:rPr lang="en-US" smtClean="0"/>
              <a:t>7/4/2026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5DDE4D-90BF-44A1-B9D5-9BF9E9180797}" type="datetime1">
              <a:rPr lang="en-US" smtClean="0"/>
              <a:t>7/4/2026</a:t>
            </a:fld>
            <a:endParaRPr lang="en-US"/>
          </a:p>
        </p:txBody>
      </p:sp>
      <p:sp>
        <p:nvSpPr>
          <p:cNvPr id="3" name="Footer Placeholder 2"/>
          <p:cNvSpPr>
            <a:spLocks noGrp="1"/>
          </p:cNvSpPr>
          <p:nvPr>
            <p:ph type="ftr" sz="quarter" idx="11"/>
          </p:nvPr>
        </p:nvSpPr>
        <p:spPr>
          <a:xfrm>
            <a:off x="3124200" y="6356350"/>
            <a:ext cx="6442494" cy="365125"/>
          </a:xfrm>
        </p:spPr>
        <p:txBody>
          <a:bodyPr/>
          <a:lstStyle/>
          <a:p>
            <a:endParaRPr lang="en-US"/>
          </a:p>
        </p:txBody>
      </p:sp>
      <p:sp>
        <p:nvSpPr>
          <p:cNvPr id="4" name="Slide Number Placeholder 3"/>
          <p:cNvSpPr>
            <a:spLocks noGrp="1"/>
          </p:cNvSpPr>
          <p:nvPr>
            <p:ph type="sldNum" sz="quarter" idx="12"/>
          </p:nvPr>
        </p:nvSpPr>
        <p:spPr>
          <a:xfrm>
            <a:off x="9848469" y="6356350"/>
            <a:ext cx="2133600"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C2A4A1-723E-4408-8B0C-A42BF7C1CA38}" type="datetime1">
              <a:rPr lang="en-US" smtClean="0"/>
              <a:t>7/4/2026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FFC1F25-46BC-40CE-AF04-ED04DD2FAC2F}" type="datetime1">
              <a:rPr lang="en-US" smtClean="0"/>
              <a:t>7/4/2026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C8D60C-21B1-4BA5-88E8-33F8F776A105}" type="datetime1">
              <a:rPr lang="en-US" smtClean="0"/>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3E45CF8-1876-4E65-BF0A-7EC71AFE2705}" type="datetime1">
              <a:rPr lang="en-US" smtClean="0"/>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95000"/>
            <a:lum/>
          </a:blip>
          <a:srcRect/>
          <a:stretch>
            <a:fillRect l="-6000" r="-6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7C51E8-6781-4609-B4EB-B7B886904056}" type="datetime1">
              <a:rPr lang="en-US" smtClean="0"/>
              <a:t>7/4/2026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6.jpe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7.svg"/></Relationships>
</file>

<file path=ppt/slides/_rels/slide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extBox 4"/>
          <p:cNvSpPr txBox="1"/>
          <p:nvPr/>
        </p:nvSpPr>
        <p:spPr>
          <a:xfrm>
            <a:off x="2073941" y="1323958"/>
            <a:ext cx="8044117" cy="2554545"/>
          </a:xfrm>
          <a:prstGeom prst="rect">
            <a:avLst/>
          </a:prstGeom>
          <a:noFill/>
        </p:spPr>
        <p:txBody>
          <a:bodyPr wrap="square" lIns="45720" rIns="45720" anchor="ctr">
            <a:spAutoFit/>
          </a:bodyPr>
          <a:lstStyle/>
          <a:p>
            <a:pPr algn="ctr">
              <a:defRPr sz="2800" b="1">
                <a:solidFill>
                  <a:srgbClr val="FFFFFF"/>
                </a:solidFill>
                <a:latin typeface="Aptos"/>
              </a:defRPr>
            </a:pPr>
            <a:r>
              <a:rPr lang="en-US" sz="8000">
                <a:latin typeface="Orbitron Black" pitchFamily="2" charset="0"/>
              </a:rPr>
              <a:t>ORCA GCN </a:t>
            </a:r>
          </a:p>
          <a:p>
            <a:pPr algn="ctr">
              <a:defRPr sz="2800" b="1">
                <a:solidFill>
                  <a:srgbClr val="FFFFFF"/>
                </a:solidFill>
                <a:latin typeface="Aptos"/>
              </a:defRPr>
            </a:pPr>
            <a:r>
              <a:rPr lang="en-US" sz="8000">
                <a:latin typeface="Orbitron Black" pitchFamily="2" charset="0"/>
              </a:rPr>
              <a:t>Citation Trust</a:t>
            </a:r>
            <a:endParaRPr sz="8000">
              <a:latin typeface="Orbitron Black" pitchFamily="2" charset="0"/>
            </a:endParaRPr>
          </a:p>
        </p:txBody>
      </p:sp>
      <p:sp>
        <p:nvSpPr>
          <p:cNvPr id="6" name="TextBox 5"/>
          <p:cNvSpPr txBox="1"/>
          <p:nvPr/>
        </p:nvSpPr>
        <p:spPr>
          <a:xfrm>
            <a:off x="9445752" y="6405178"/>
            <a:ext cx="2538858" cy="369332"/>
          </a:xfrm>
          <a:prstGeom prst="rect">
            <a:avLst/>
          </a:prstGeom>
          <a:noFill/>
        </p:spPr>
        <p:txBody>
          <a:bodyPr wrap="square" lIns="45720" rIns="45720" anchor="ctr">
            <a:spAutoFit/>
          </a:bodyPr>
          <a:lstStyle/>
          <a:p>
            <a:pPr>
              <a:defRPr sz="1800" b="1">
                <a:solidFill>
                  <a:srgbClr val="FFFFFF"/>
                </a:solidFill>
                <a:latin typeface="Aptos"/>
              </a:defRPr>
            </a:pPr>
            <a:r>
              <a:rPr lang="en-US" b="1">
                <a:solidFill>
                  <a:schemeClr val="bg1"/>
                </a:solidFill>
                <a:latin typeface="Aptos"/>
              </a:rPr>
              <a:t>Final Project - Phase A</a:t>
            </a:r>
            <a:endParaRPr b="1">
              <a:solidFill>
                <a:schemeClr val="bg1"/>
              </a:solidFill>
              <a:latin typeface="Aptos"/>
            </a:endParaRPr>
          </a:p>
        </p:txBody>
      </p:sp>
      <p:sp>
        <p:nvSpPr>
          <p:cNvPr id="12" name="TextBox 11"/>
          <p:cNvSpPr txBox="1"/>
          <p:nvPr/>
        </p:nvSpPr>
        <p:spPr>
          <a:xfrm>
            <a:off x="207390" y="3878503"/>
            <a:ext cx="5251578" cy="2246769"/>
          </a:xfrm>
          <a:prstGeom prst="rect">
            <a:avLst/>
          </a:prstGeom>
          <a:noFill/>
        </p:spPr>
        <p:txBody>
          <a:bodyPr wrap="square" lIns="45720" rIns="45720" anchor="ctr">
            <a:spAutoFit/>
          </a:bodyPr>
          <a:lstStyle/>
          <a:p>
            <a:pPr algn="l">
              <a:defRPr sz="1800" b="1">
                <a:solidFill>
                  <a:srgbClr val="FFFFFF"/>
                </a:solidFill>
                <a:latin typeface="Aptos"/>
              </a:defRPr>
            </a:pPr>
            <a:r>
              <a:rPr lang="en-US" sz="2000"/>
              <a:t>Presenting:</a:t>
            </a:r>
          </a:p>
          <a:p>
            <a:pPr marL="285750" indent="-285750" algn="l">
              <a:buFont typeface="Arial" panose="020B0604020202020204" pitchFamily="34" charset="0"/>
              <a:buChar char="•"/>
              <a:defRPr sz="1800" b="1">
                <a:solidFill>
                  <a:srgbClr val="FFFFFF"/>
                </a:solidFill>
                <a:latin typeface="Aptos"/>
              </a:defRPr>
            </a:pPr>
            <a:r>
              <a:rPr lang="en-US" sz="2000"/>
              <a:t>Almog Raz</a:t>
            </a:r>
            <a:endParaRPr lang="he-IL" sz="2000"/>
          </a:p>
          <a:p>
            <a:pPr marL="285750" indent="-285750">
              <a:buFont typeface="Arial" panose="020B0604020202020204" pitchFamily="34" charset="0"/>
              <a:buChar char="•"/>
              <a:defRPr sz="1800" b="1">
                <a:solidFill>
                  <a:srgbClr val="FFFFFF"/>
                </a:solidFill>
                <a:latin typeface="Aptos"/>
              </a:defRPr>
            </a:pPr>
            <a:r>
              <a:rPr lang="en-US" sz="2000"/>
              <a:t>Yuval Kogan</a:t>
            </a:r>
          </a:p>
          <a:p>
            <a:pPr algn="l">
              <a:defRPr sz="1800" b="1">
                <a:solidFill>
                  <a:srgbClr val="FFFFFF"/>
                </a:solidFill>
                <a:latin typeface="Aptos"/>
              </a:defRPr>
            </a:pPr>
            <a:endParaRPr lang="he-IL" sz="2000"/>
          </a:p>
          <a:p>
            <a:pPr>
              <a:defRPr sz="1800" b="1">
                <a:solidFill>
                  <a:srgbClr val="FFFFFF"/>
                </a:solidFill>
                <a:latin typeface="Aptos"/>
              </a:defRPr>
            </a:pPr>
            <a:r>
              <a:rPr lang="en-US" sz="2000"/>
              <a:t>Advisors:</a:t>
            </a:r>
          </a:p>
          <a:p>
            <a:pPr marL="457200" indent="-457200">
              <a:buFont typeface="Arial" panose="020B0604020202020204" pitchFamily="34" charset="0"/>
              <a:buChar char="•"/>
            </a:pPr>
            <a:r>
              <a:rPr lang="en-US" sz="2000" b="1">
                <a:solidFill>
                  <a:srgbClr val="FFFFFF"/>
                </a:solidFill>
                <a:latin typeface="Aptos"/>
              </a:rPr>
              <a:t>Dr. Renata </a:t>
            </a:r>
            <a:r>
              <a:rPr lang="en-US" sz="2000" b="1" err="1">
                <a:solidFill>
                  <a:srgbClr val="FFFFFF"/>
                </a:solidFill>
                <a:latin typeface="Aptos"/>
              </a:rPr>
              <a:t>Avros</a:t>
            </a:r>
            <a:endParaRPr lang="he-IL" sz="2000" b="1">
              <a:solidFill>
                <a:srgbClr val="FFFFFF"/>
              </a:solidFill>
              <a:latin typeface="Aptos"/>
            </a:endParaRPr>
          </a:p>
          <a:p>
            <a:pPr marL="457200" indent="-457200">
              <a:buFont typeface="Arial" panose="020B0604020202020204" pitchFamily="34" charset="0"/>
              <a:buChar char="•"/>
            </a:pPr>
            <a:r>
              <a:rPr lang="en-US" sz="2000" b="1">
                <a:solidFill>
                  <a:srgbClr val="FFFFFF"/>
                </a:solidFill>
                <a:latin typeface="Aptos"/>
              </a:rPr>
              <a:t>Prof. Zeev </a:t>
            </a:r>
            <a:r>
              <a:rPr lang="en-US" sz="2000" b="1" err="1">
                <a:solidFill>
                  <a:srgbClr val="FFFFFF"/>
                </a:solidFill>
                <a:latin typeface="Aptos"/>
              </a:rPr>
              <a:t>Volkovich</a:t>
            </a:r>
            <a:endParaRPr lang="en-US" sz="2000" b="1">
              <a:solidFill>
                <a:srgbClr val="FFFFFF"/>
              </a:solidFill>
              <a:latin typeface="Aptos"/>
            </a:endParaRPr>
          </a:p>
        </p:txBody>
      </p:sp>
      <p:sp>
        <p:nvSpPr>
          <p:cNvPr id="24" name="TextBox 23">
            <a:extLst>
              <a:ext uri="{FF2B5EF4-FFF2-40B4-BE49-F238E27FC236}">
                <a16:creationId xmlns:a16="http://schemas.microsoft.com/office/drawing/2014/main" id="{9524EA0E-704F-9CD1-BDA1-773036F67700}"/>
              </a:ext>
            </a:extLst>
          </p:cNvPr>
          <p:cNvSpPr txBox="1"/>
          <p:nvPr/>
        </p:nvSpPr>
        <p:spPr>
          <a:xfrm>
            <a:off x="207390" y="6405178"/>
            <a:ext cx="4565778" cy="369332"/>
          </a:xfrm>
          <a:prstGeom prst="rect">
            <a:avLst/>
          </a:prstGeom>
          <a:noFill/>
        </p:spPr>
        <p:txBody>
          <a:bodyPr wrap="square" rtlCol="0">
            <a:spAutoFit/>
          </a:bodyPr>
          <a:lstStyle/>
          <a:p>
            <a:r>
              <a:rPr lang="en-US" b="1">
                <a:solidFill>
                  <a:schemeClr val="bg1"/>
                </a:solidFill>
              </a:rPr>
              <a:t>Braude College of Engineering - Spring 2026</a:t>
            </a:r>
          </a:p>
        </p:txBody>
      </p:sp>
      <p:grpSp>
        <p:nvGrpSpPr>
          <p:cNvPr id="8" name="Group 7">
            <a:extLst>
              <a:ext uri="{FF2B5EF4-FFF2-40B4-BE49-F238E27FC236}">
                <a16:creationId xmlns:a16="http://schemas.microsoft.com/office/drawing/2014/main" id="{650E1488-14FC-1D90-E4EA-1CB0E4424E9D}"/>
              </a:ext>
            </a:extLst>
          </p:cNvPr>
          <p:cNvGrpSpPr/>
          <p:nvPr/>
        </p:nvGrpSpPr>
        <p:grpSpPr>
          <a:xfrm>
            <a:off x="0" y="0"/>
            <a:ext cx="3300095" cy="774065"/>
            <a:chOff x="0" y="0"/>
            <a:chExt cx="3300095" cy="774065"/>
          </a:xfrm>
        </p:grpSpPr>
        <p:sp>
          <p:nvSpPr>
            <p:cNvPr id="7" name="Rectangle 6">
              <a:extLst>
                <a:ext uri="{FF2B5EF4-FFF2-40B4-BE49-F238E27FC236}">
                  <a16:creationId xmlns:a16="http://schemas.microsoft.com/office/drawing/2014/main" id="{CC6315D3-7519-DC74-E735-F3DF322BCD67}"/>
                </a:ext>
              </a:extLst>
            </p:cNvPr>
            <p:cNvSpPr/>
            <p:nvPr/>
          </p:nvSpPr>
          <p:spPr>
            <a:xfrm>
              <a:off x="0" y="1"/>
              <a:ext cx="3300095" cy="774064"/>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pic>
          <p:nvPicPr>
            <p:cNvPr id="2" name="image1.png">
              <a:extLst>
                <a:ext uri="{FF2B5EF4-FFF2-40B4-BE49-F238E27FC236}">
                  <a16:creationId xmlns:a16="http://schemas.microsoft.com/office/drawing/2014/main" id="{C3FFA3F1-EF57-461A-6386-F82C2792116A}"/>
                </a:ext>
              </a:extLst>
            </p:cNvPr>
            <p:cNvPicPr/>
            <p:nvPr/>
          </p:nvPicPr>
          <p:blipFill>
            <a:blip r:embed="rId3"/>
            <a:srcRect/>
            <a:stretch>
              <a:fillRect/>
            </a:stretch>
          </p:blipFill>
          <p:spPr>
            <a:xfrm>
              <a:off x="0" y="0"/>
              <a:ext cx="3300095" cy="774065"/>
            </a:xfrm>
            <a:prstGeom prst="rect">
              <a:avLst/>
            </a:prstGeom>
            <a:ln/>
          </p:spPr>
        </p:pic>
      </p:grpSp>
      <p:sp>
        <p:nvSpPr>
          <p:cNvPr id="3" name="TextBox 2">
            <a:extLst>
              <a:ext uri="{FF2B5EF4-FFF2-40B4-BE49-F238E27FC236}">
                <a16:creationId xmlns:a16="http://schemas.microsoft.com/office/drawing/2014/main" id="{ABE15062-30F0-05A1-2354-C692FD1E6004}"/>
              </a:ext>
            </a:extLst>
          </p:cNvPr>
          <p:cNvSpPr txBox="1"/>
          <p:nvPr/>
        </p:nvSpPr>
        <p:spPr>
          <a:xfrm>
            <a:off x="5111115" y="6405178"/>
            <a:ext cx="2719578" cy="369332"/>
          </a:xfrm>
          <a:prstGeom prst="rect">
            <a:avLst/>
          </a:prstGeom>
          <a:noFill/>
        </p:spPr>
        <p:txBody>
          <a:bodyPr wrap="square" lIns="45720" rIns="45720" anchor="ctr">
            <a:spAutoFit/>
          </a:bodyPr>
          <a:lstStyle/>
          <a:p>
            <a:pPr>
              <a:defRPr sz="1800" b="1">
                <a:solidFill>
                  <a:srgbClr val="FFFFFF"/>
                </a:solidFill>
                <a:latin typeface="Aptos"/>
              </a:defRPr>
            </a:pPr>
            <a:r>
              <a:rPr lang="en-US" b="1">
                <a:solidFill>
                  <a:schemeClr val="bg1"/>
                </a:solidFill>
              </a:rPr>
              <a:t>Project Code: 26-2-R-10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256032"/>
          </a:xfrm>
          <a:prstGeom prst="rect">
            <a:avLst/>
          </a:prstGeom>
          <a:gradFill>
            <a:gsLst>
              <a:gs pos="0">
                <a:srgbClr val="0EAFEB"/>
              </a:gs>
              <a:gs pos="100000">
                <a:srgbClr val="0E21BB"/>
              </a:gs>
            </a:gsLst>
            <a:lin ang="108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250115" y="510319"/>
            <a:ext cx="109728" cy="530352"/>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02920" y="356833"/>
            <a:ext cx="10241280" cy="824841"/>
          </a:xfrm>
          <a:prstGeom prst="rect">
            <a:avLst/>
          </a:prstGeom>
          <a:noFill/>
        </p:spPr>
        <p:txBody>
          <a:bodyPr wrap="square" lIns="73152" tIns="73152" rIns="73152" bIns="73152" anchor="ctr">
            <a:spAutoFit/>
          </a:bodyPr>
          <a:lstStyle/>
          <a:p>
            <a:pPr algn="l">
              <a:defRPr sz="2800" b="1">
                <a:solidFill>
                  <a:srgbClr val="0F172A"/>
                </a:solidFill>
                <a:latin typeface="Aptos"/>
              </a:defRPr>
            </a:pPr>
            <a:r>
              <a:rPr lang="en-US" sz="4400"/>
              <a:t>The Status Quo - Journal Impact Factor</a:t>
            </a:r>
            <a:endParaRPr sz="4400"/>
          </a:p>
        </p:txBody>
      </p:sp>
      <p:sp>
        <p:nvSpPr>
          <p:cNvPr id="5" name="Slide Number Placeholder 4">
            <a:extLst>
              <a:ext uri="{FF2B5EF4-FFF2-40B4-BE49-F238E27FC236}">
                <a16:creationId xmlns:a16="http://schemas.microsoft.com/office/drawing/2014/main" id="{B271B6F3-6294-2D91-E60B-BEE7BE32BBF4}"/>
              </a:ext>
            </a:extLst>
          </p:cNvPr>
          <p:cNvSpPr>
            <a:spLocks noGrp="1"/>
          </p:cNvSpPr>
          <p:nvPr>
            <p:ph type="sldNum" sz="quarter" idx="12"/>
          </p:nvPr>
        </p:nvSpPr>
        <p:spPr/>
        <p:txBody>
          <a:bodyPr/>
          <a:lstStyle/>
          <a:p>
            <a:fld id="{C1FF6DA9-008F-8B48-92A6-B652298478BF}" type="slidenum">
              <a:rPr lang="en-US" smtClean="0"/>
              <a:t>1</a:t>
            </a:fld>
            <a:endParaRPr lang="en-US"/>
          </a:p>
        </p:txBody>
      </p:sp>
      <p:sp>
        <p:nvSpPr>
          <p:cNvPr id="6" name="TextBox 5">
            <a:extLst>
              <a:ext uri="{FF2B5EF4-FFF2-40B4-BE49-F238E27FC236}">
                <a16:creationId xmlns:a16="http://schemas.microsoft.com/office/drawing/2014/main" id="{C7DD9CAD-0524-D991-EF7B-FF9BFE9C4918}"/>
              </a:ext>
            </a:extLst>
          </p:cNvPr>
          <p:cNvSpPr txBox="1"/>
          <p:nvPr/>
        </p:nvSpPr>
        <p:spPr>
          <a:xfrm>
            <a:off x="502920" y="1578573"/>
            <a:ext cx="5827542" cy="1938992"/>
          </a:xfrm>
          <a:prstGeom prst="rect">
            <a:avLst/>
          </a:prstGeom>
          <a:noFill/>
        </p:spPr>
        <p:txBody>
          <a:bodyPr wrap="square" rtlCol="0">
            <a:spAutoFit/>
          </a:bodyPr>
          <a:lstStyle/>
          <a:p>
            <a:pPr marL="285750" indent="-285750">
              <a:buFont typeface="Arial" panose="020B0604020202020204" pitchFamily="34" charset="0"/>
              <a:buChar char="•"/>
            </a:pPr>
            <a:r>
              <a:rPr lang="en-US" sz="2400" b="1"/>
              <a:t>Journal Impact Factor </a:t>
            </a:r>
            <a:r>
              <a:rPr lang="en-US" sz="2400"/>
              <a:t>is the five-star rating method of science – one number, the average citations a journal earns, that directly affects hiring, funding, and prestige.</a:t>
            </a:r>
          </a:p>
        </p:txBody>
      </p:sp>
      <mc:AlternateContent xmlns:mc="http://schemas.openxmlformats.org/markup-compatibility/2006" xmlns:a14="http://schemas.microsoft.com/office/drawing/2010/main">
        <mc:Choice Requires="a14">
          <p:sp>
            <p:nvSpPr>
              <p:cNvPr id="7" name="Rectangle: Rounded Corners 6">
                <a:extLst>
                  <a:ext uri="{FF2B5EF4-FFF2-40B4-BE49-F238E27FC236}">
                    <a16:creationId xmlns:a16="http://schemas.microsoft.com/office/drawing/2014/main" id="{893DB3DA-9C12-CB17-EE6F-6AD257923D12}"/>
                  </a:ext>
                </a:extLst>
              </p:cNvPr>
              <p:cNvSpPr/>
              <p:nvPr/>
            </p:nvSpPr>
            <p:spPr>
              <a:xfrm>
                <a:off x="359843" y="5226790"/>
                <a:ext cx="10241280" cy="1328613"/>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b="1" i="1" smtClean="0">
                          <a:latin typeface="Cambria Math" panose="02040503050406030204" pitchFamily="18" charset="0"/>
                        </a:rPr>
                        <m:t>𝑰𝒎𝒑𝒂𝒄𝒕</m:t>
                      </m:r>
                      <m:r>
                        <a:rPr lang="en-US" b="1" i="1" smtClean="0">
                          <a:latin typeface="Cambria Math" panose="02040503050406030204" pitchFamily="18" charset="0"/>
                        </a:rPr>
                        <m:t> </m:t>
                      </m:r>
                      <m:r>
                        <a:rPr lang="en-US" b="1" i="1" smtClean="0">
                          <a:latin typeface="Cambria Math" panose="02040503050406030204" pitchFamily="18" charset="0"/>
                        </a:rPr>
                        <m:t>𝑭𝒂𝒄𝒕𝒐𝒓</m:t>
                      </m:r>
                      <m:r>
                        <a:rPr lang="en-US" b="1" i="1" smtClean="0">
                          <a:latin typeface="Cambria Math" panose="02040503050406030204" pitchFamily="18" charset="0"/>
                        </a:rPr>
                        <m:t>=</m:t>
                      </m:r>
                      <m:f>
                        <m:fPr>
                          <m:ctrlPr>
                            <a:rPr lang="en-US" b="1" i="1" smtClean="0">
                              <a:latin typeface="Cambria Math" panose="02040503050406030204" pitchFamily="18" charset="0"/>
                            </a:rPr>
                          </m:ctrlPr>
                        </m:fPr>
                        <m:num>
                          <m:r>
                            <a:rPr lang="en-US" b="1" i="1" smtClean="0">
                              <a:latin typeface="Cambria Math" panose="02040503050406030204" pitchFamily="18" charset="0"/>
                            </a:rPr>
                            <m:t>𝑪𝒊𝒕𝒂𝒕𝒊𝒐𝒏𝒔</m:t>
                          </m:r>
                          <m:r>
                            <a:rPr lang="en-US" b="1" i="1" smtClean="0">
                              <a:latin typeface="Cambria Math" panose="02040503050406030204" pitchFamily="18" charset="0"/>
                            </a:rPr>
                            <m:t> </m:t>
                          </m:r>
                          <m:r>
                            <a:rPr lang="en-US" b="1" i="1" smtClean="0">
                              <a:latin typeface="Cambria Math" panose="02040503050406030204" pitchFamily="18" charset="0"/>
                            </a:rPr>
                            <m:t>𝒊𝒏</m:t>
                          </m:r>
                          <m:r>
                            <a:rPr lang="en-US" b="1" i="1" smtClean="0">
                              <a:latin typeface="Cambria Math" panose="02040503050406030204" pitchFamily="18" charset="0"/>
                            </a:rPr>
                            <m:t> </m:t>
                          </m:r>
                          <m:r>
                            <a:rPr lang="en-US" b="1" i="1" smtClean="0">
                              <a:latin typeface="Cambria Math" panose="02040503050406030204" pitchFamily="18" charset="0"/>
                            </a:rPr>
                            <m:t>𝒕𝒉𝒆</m:t>
                          </m:r>
                          <m:r>
                            <a:rPr lang="en-US" b="1" i="1" smtClean="0">
                              <a:latin typeface="Cambria Math" panose="02040503050406030204" pitchFamily="18" charset="0"/>
                            </a:rPr>
                            <m:t> </m:t>
                          </m:r>
                          <m:r>
                            <a:rPr lang="en-US" b="1" i="1" smtClean="0">
                              <a:latin typeface="Cambria Math" panose="02040503050406030204" pitchFamily="18" charset="0"/>
                            </a:rPr>
                            <m:t>𝑱𝑪𝑹</m:t>
                          </m:r>
                          <m:r>
                            <a:rPr lang="en-US" b="1" i="1" smtClean="0">
                              <a:latin typeface="Cambria Math" panose="02040503050406030204" pitchFamily="18" charset="0"/>
                            </a:rPr>
                            <m:t> </m:t>
                          </m:r>
                          <m:r>
                            <a:rPr lang="en-US" b="1" i="1" smtClean="0">
                              <a:latin typeface="Cambria Math" panose="02040503050406030204" pitchFamily="18" charset="0"/>
                            </a:rPr>
                            <m:t>𝒚𝒆𝒂𝒓</m:t>
                          </m:r>
                          <m:r>
                            <a:rPr lang="en-US" b="1" i="1" smtClean="0">
                              <a:latin typeface="Cambria Math" panose="02040503050406030204" pitchFamily="18" charset="0"/>
                            </a:rPr>
                            <m:t> </m:t>
                          </m:r>
                          <m:r>
                            <a:rPr lang="en-US" b="1" i="1" smtClean="0">
                              <a:latin typeface="Cambria Math" panose="02040503050406030204" pitchFamily="18" charset="0"/>
                            </a:rPr>
                            <m:t>𝒕𝒐</m:t>
                          </m:r>
                          <m:r>
                            <a:rPr lang="en-US" b="1" i="1" smtClean="0">
                              <a:latin typeface="Cambria Math" panose="02040503050406030204" pitchFamily="18" charset="0"/>
                            </a:rPr>
                            <m:t> </m:t>
                          </m:r>
                          <m:r>
                            <a:rPr lang="en-US" b="1" i="1" smtClean="0">
                              <a:latin typeface="Cambria Math" panose="02040503050406030204" pitchFamily="18" charset="0"/>
                            </a:rPr>
                            <m:t>𝒂𝒓𝒕𝒊𝒄𝒍𝒆𝒔</m:t>
                          </m:r>
                          <m:r>
                            <a:rPr lang="en-US" b="1" i="1" smtClean="0">
                              <a:latin typeface="Cambria Math" panose="02040503050406030204" pitchFamily="18" charset="0"/>
                            </a:rPr>
                            <m:t> </m:t>
                          </m:r>
                          <m:r>
                            <a:rPr lang="en-US" b="1" i="1" smtClean="0">
                              <a:latin typeface="Cambria Math" panose="02040503050406030204" pitchFamily="18" charset="0"/>
                            </a:rPr>
                            <m:t>𝒑𝒖𝒃𝒍𝒊𝒔𝒉𝒆𝒅</m:t>
                          </m:r>
                          <m:r>
                            <a:rPr lang="en-US" b="1" i="1" smtClean="0">
                              <a:latin typeface="Cambria Math" panose="02040503050406030204" pitchFamily="18" charset="0"/>
                            </a:rPr>
                            <m:t> </m:t>
                          </m:r>
                          <m:r>
                            <a:rPr lang="en-US" b="1" i="1" smtClean="0">
                              <a:latin typeface="Cambria Math" panose="02040503050406030204" pitchFamily="18" charset="0"/>
                            </a:rPr>
                            <m:t>𝒊𝒏</m:t>
                          </m:r>
                          <m:r>
                            <a:rPr lang="en-US" b="1" i="1" smtClean="0">
                              <a:latin typeface="Cambria Math" panose="02040503050406030204" pitchFamily="18" charset="0"/>
                            </a:rPr>
                            <m:t> </m:t>
                          </m:r>
                          <m:r>
                            <a:rPr lang="en-US" b="1" i="1" smtClean="0">
                              <a:latin typeface="Cambria Math" panose="02040503050406030204" pitchFamily="18" charset="0"/>
                            </a:rPr>
                            <m:t>𝒕𝒉𝒆</m:t>
                          </m:r>
                          <m:r>
                            <a:rPr lang="en-US" b="1" i="1" smtClean="0">
                              <a:latin typeface="Cambria Math" panose="02040503050406030204" pitchFamily="18" charset="0"/>
                            </a:rPr>
                            <m:t> </m:t>
                          </m:r>
                          <m:r>
                            <a:rPr lang="en-US" b="1" i="1" smtClean="0">
                              <a:latin typeface="Cambria Math" panose="02040503050406030204" pitchFamily="18" charset="0"/>
                            </a:rPr>
                            <m:t>𝒑𝒓𝒆𝒗𝒊𝒐𝒖𝒔</m:t>
                          </m:r>
                          <m:r>
                            <a:rPr lang="en-US" b="1" i="1" smtClean="0">
                              <a:latin typeface="Cambria Math" panose="02040503050406030204" pitchFamily="18" charset="0"/>
                            </a:rPr>
                            <m:t> </m:t>
                          </m:r>
                          <m:r>
                            <a:rPr lang="en-US" b="1" i="1" smtClean="0">
                              <a:latin typeface="Cambria Math" panose="02040503050406030204" pitchFamily="18" charset="0"/>
                            </a:rPr>
                            <m:t>𝟐</m:t>
                          </m:r>
                          <m:r>
                            <a:rPr lang="en-US" b="1" i="1" smtClean="0">
                              <a:latin typeface="Cambria Math" panose="02040503050406030204" pitchFamily="18" charset="0"/>
                            </a:rPr>
                            <m:t> </m:t>
                          </m:r>
                          <m:r>
                            <a:rPr lang="en-US" b="1" i="1" smtClean="0">
                              <a:latin typeface="Cambria Math" panose="02040503050406030204" pitchFamily="18" charset="0"/>
                            </a:rPr>
                            <m:t>𝒚𝒆𝒂𝒓𝒔</m:t>
                          </m:r>
                        </m:num>
                        <m:den>
                          <m:r>
                            <a:rPr lang="en-US" b="1" i="1" smtClean="0">
                              <a:latin typeface="Cambria Math" panose="02040503050406030204" pitchFamily="18" charset="0"/>
                            </a:rPr>
                            <m:t>𝑻𝒐𝒕𝒂𝒍</m:t>
                          </m:r>
                          <m:r>
                            <a:rPr lang="en-US" b="1" i="1" smtClean="0">
                              <a:latin typeface="Cambria Math" panose="02040503050406030204" pitchFamily="18" charset="0"/>
                            </a:rPr>
                            <m:t> </m:t>
                          </m:r>
                          <m:r>
                            <a:rPr lang="en-US" b="1" i="1" smtClean="0">
                              <a:latin typeface="Cambria Math" panose="02040503050406030204" pitchFamily="18" charset="0"/>
                            </a:rPr>
                            <m:t>𝒄𝒊𝒕𝒂𝒃𝒍𝒆</m:t>
                          </m:r>
                          <m:r>
                            <a:rPr lang="en-US" b="1" i="1" smtClean="0">
                              <a:latin typeface="Cambria Math" panose="02040503050406030204" pitchFamily="18" charset="0"/>
                            </a:rPr>
                            <m:t> </m:t>
                          </m:r>
                          <m:r>
                            <a:rPr lang="en-US" b="1" i="1" smtClean="0">
                              <a:latin typeface="Cambria Math" panose="02040503050406030204" pitchFamily="18" charset="0"/>
                            </a:rPr>
                            <m:t>𝒊𝒕𝒆𝒎𝒔</m:t>
                          </m:r>
                          <m:r>
                            <a:rPr lang="en-US" b="1" i="1" smtClean="0">
                              <a:latin typeface="Cambria Math" panose="02040503050406030204" pitchFamily="18" charset="0"/>
                            </a:rPr>
                            <m:t> </m:t>
                          </m:r>
                          <m:r>
                            <a:rPr lang="en-US" b="1" i="1" smtClean="0">
                              <a:latin typeface="Cambria Math" panose="02040503050406030204" pitchFamily="18" charset="0"/>
                            </a:rPr>
                            <m:t>𝒑𝒖𝒃𝒍𝒊𝒔𝒉𝒆𝒅</m:t>
                          </m:r>
                          <m:r>
                            <a:rPr lang="en-US" b="1" i="1" smtClean="0">
                              <a:latin typeface="Cambria Math" panose="02040503050406030204" pitchFamily="18" charset="0"/>
                            </a:rPr>
                            <m:t> </m:t>
                          </m:r>
                          <m:r>
                            <a:rPr lang="en-US" b="1" i="1" smtClean="0">
                              <a:latin typeface="Cambria Math" panose="02040503050406030204" pitchFamily="18" charset="0"/>
                            </a:rPr>
                            <m:t>𝒊𝒏</m:t>
                          </m:r>
                          <m:r>
                            <a:rPr lang="en-US" b="1" i="1" smtClean="0">
                              <a:latin typeface="Cambria Math" panose="02040503050406030204" pitchFamily="18" charset="0"/>
                            </a:rPr>
                            <m:t> </m:t>
                          </m:r>
                          <m:r>
                            <a:rPr lang="en-US" b="1" i="1" smtClean="0">
                              <a:latin typeface="Cambria Math" panose="02040503050406030204" pitchFamily="18" charset="0"/>
                            </a:rPr>
                            <m:t>𝒕𝒉𝒆</m:t>
                          </m:r>
                          <m:r>
                            <a:rPr lang="en-US" b="1" i="1" smtClean="0">
                              <a:latin typeface="Cambria Math" panose="02040503050406030204" pitchFamily="18" charset="0"/>
                            </a:rPr>
                            <m:t> </m:t>
                          </m:r>
                          <m:r>
                            <a:rPr lang="en-US" b="1" i="1" smtClean="0">
                              <a:latin typeface="Cambria Math" panose="02040503050406030204" pitchFamily="18" charset="0"/>
                            </a:rPr>
                            <m:t>𝒑𝒓𝒆𝒗𝒊𝒐𝒖𝒔</m:t>
                          </m:r>
                          <m:r>
                            <a:rPr lang="en-US" b="1" i="1" smtClean="0">
                              <a:latin typeface="Cambria Math" panose="02040503050406030204" pitchFamily="18" charset="0"/>
                            </a:rPr>
                            <m:t> </m:t>
                          </m:r>
                          <m:r>
                            <a:rPr lang="en-US" b="1" i="1" smtClean="0">
                              <a:latin typeface="Cambria Math" panose="02040503050406030204" pitchFamily="18" charset="0"/>
                            </a:rPr>
                            <m:t>𝟐</m:t>
                          </m:r>
                          <m:r>
                            <a:rPr lang="en-US" b="1" i="1" smtClean="0">
                              <a:latin typeface="Cambria Math" panose="02040503050406030204" pitchFamily="18" charset="0"/>
                            </a:rPr>
                            <m:t> </m:t>
                          </m:r>
                          <m:r>
                            <a:rPr lang="en-US" b="1" i="1" smtClean="0">
                              <a:latin typeface="Cambria Math" panose="02040503050406030204" pitchFamily="18" charset="0"/>
                            </a:rPr>
                            <m:t>𝒚𝒆𝒂𝒓𝒔</m:t>
                          </m:r>
                        </m:den>
                      </m:f>
                    </m:oMath>
                  </m:oMathPara>
                </a14:m>
                <a:endParaRPr lang="en-US" b="1"/>
              </a:p>
            </p:txBody>
          </p:sp>
        </mc:Choice>
        <mc:Fallback xmlns="">
          <p:sp>
            <p:nvSpPr>
              <p:cNvPr id="7" name="Rectangle: Rounded Corners 6">
                <a:extLst>
                  <a:ext uri="{FF2B5EF4-FFF2-40B4-BE49-F238E27FC236}">
                    <a16:creationId xmlns:a16="http://schemas.microsoft.com/office/drawing/2014/main" id="{893DB3DA-9C12-CB17-EE6F-6AD257923D12}"/>
                  </a:ext>
                </a:extLst>
              </p:cNvPr>
              <p:cNvSpPr>
                <a:spLocks noRot="1" noChangeAspect="1" noMove="1" noResize="1" noEditPoints="1" noAdjustHandles="1" noChangeArrowheads="1" noChangeShapeType="1" noTextEdit="1"/>
              </p:cNvSpPr>
              <p:nvPr/>
            </p:nvSpPr>
            <p:spPr>
              <a:xfrm>
                <a:off x="359843" y="5226790"/>
                <a:ext cx="10241280" cy="1328613"/>
              </a:xfrm>
              <a:prstGeom prst="roundRect">
                <a:avLst/>
              </a:prstGeom>
              <a:blipFill>
                <a:blip r:embed="rId3"/>
                <a:stretch>
                  <a:fillRect/>
                </a:stretch>
              </a:blipFill>
            </p:spPr>
            <p:txBody>
              <a:bodyPr/>
              <a:lstStyle/>
              <a:p>
                <a:r>
                  <a:rPr lang="en-US">
                    <a:noFill/>
                  </a:rPr>
                  <a:t> </a:t>
                </a:r>
              </a:p>
            </p:txBody>
          </p:sp>
        </mc:Fallback>
      </mc:AlternateContent>
      <p:sp>
        <p:nvSpPr>
          <p:cNvPr id="10" name="Shape 4">
            <a:extLst>
              <a:ext uri="{FF2B5EF4-FFF2-40B4-BE49-F238E27FC236}">
                <a16:creationId xmlns:a16="http://schemas.microsoft.com/office/drawing/2014/main" id="{4D439538-BE0F-9BBA-F05F-5FB75805C2CC}"/>
              </a:ext>
            </a:extLst>
          </p:cNvPr>
          <p:cNvSpPr/>
          <p:nvPr/>
        </p:nvSpPr>
        <p:spPr>
          <a:xfrm>
            <a:off x="1878495" y="3429000"/>
            <a:ext cx="2782590" cy="419100"/>
          </a:xfrm>
          <a:prstGeom prst="roundRect">
            <a:avLst>
              <a:gd name="adj" fmla="val 50000"/>
            </a:avLst>
          </a:prstGeom>
          <a:ln w="6350">
            <a:solidFill>
              <a:srgbClr val="FFFFFF">
                <a:alpha val="18000"/>
              </a:srgbClr>
            </a:solidFill>
            <a:prstDash val="solid"/>
          </a:ln>
        </p:spPr>
        <p:txBody>
          <a:bodyPr/>
          <a:lstStyle/>
          <a:p>
            <a:endParaRPr lang="en-IL" b="1">
              <a:solidFill>
                <a:schemeClr val="tx2"/>
              </a:solidFill>
            </a:endParaRPr>
          </a:p>
        </p:txBody>
      </p:sp>
      <p:sp>
        <p:nvSpPr>
          <p:cNvPr id="11" name="Text 5">
            <a:extLst>
              <a:ext uri="{FF2B5EF4-FFF2-40B4-BE49-F238E27FC236}">
                <a16:creationId xmlns:a16="http://schemas.microsoft.com/office/drawing/2014/main" id="{07CB58CF-7270-693A-99F6-79BF30F140DE}"/>
              </a:ext>
            </a:extLst>
          </p:cNvPr>
          <p:cNvSpPr/>
          <p:nvPr/>
        </p:nvSpPr>
        <p:spPr>
          <a:xfrm>
            <a:off x="830348" y="3848100"/>
            <a:ext cx="2472368" cy="273050"/>
          </a:xfrm>
          <a:prstGeom prst="rect">
            <a:avLst/>
          </a:prstGeom>
          <a:noFill/>
          <a:ln/>
        </p:spPr>
        <p:txBody>
          <a:bodyPr wrap="square" lIns="25400" tIns="25400" rIns="25400" bIns="25400" rtlCol="0" anchor="t">
            <a:normAutofit/>
          </a:bodyPr>
          <a:lstStyle/>
          <a:p>
            <a:pPr marL="0" indent="0" algn="l">
              <a:buNone/>
            </a:pPr>
            <a:r>
              <a:rPr lang="en-US" sz="1425" b="1">
                <a:solidFill>
                  <a:schemeClr val="tx2"/>
                </a:solidFill>
                <a:latin typeface="Courier New" pitchFamily="34" charset="0"/>
                <a:ea typeface="Courier New" pitchFamily="34" charset="-122"/>
                <a:cs typeface="Courier New" pitchFamily="34" charset="-120"/>
              </a:rPr>
              <a:t>avg. citations / paper</a:t>
            </a:r>
            <a:endParaRPr lang="en-US" sz="1425" b="1">
              <a:solidFill>
                <a:schemeClr val="tx2"/>
              </a:solidFill>
            </a:endParaRPr>
          </a:p>
        </p:txBody>
      </p:sp>
      <p:sp>
        <p:nvSpPr>
          <p:cNvPr id="12" name="Shape 6">
            <a:extLst>
              <a:ext uri="{FF2B5EF4-FFF2-40B4-BE49-F238E27FC236}">
                <a16:creationId xmlns:a16="http://schemas.microsoft.com/office/drawing/2014/main" id="{79B46E70-F08A-CA79-DBDF-E0686C9EEFC2}"/>
              </a:ext>
            </a:extLst>
          </p:cNvPr>
          <p:cNvSpPr/>
          <p:nvPr/>
        </p:nvSpPr>
        <p:spPr>
          <a:xfrm>
            <a:off x="4832535" y="3429000"/>
            <a:ext cx="1805384" cy="419100"/>
          </a:xfrm>
          <a:prstGeom prst="roundRect">
            <a:avLst>
              <a:gd name="adj" fmla="val 50000"/>
            </a:avLst>
          </a:prstGeom>
          <a:ln w="6350">
            <a:solidFill>
              <a:srgbClr val="FFFFFF">
                <a:alpha val="18000"/>
              </a:srgbClr>
            </a:solidFill>
            <a:prstDash val="solid"/>
          </a:ln>
        </p:spPr>
        <p:txBody>
          <a:bodyPr/>
          <a:lstStyle/>
          <a:p>
            <a:endParaRPr lang="en-IL" b="1">
              <a:solidFill>
                <a:schemeClr val="tx2"/>
              </a:solidFill>
            </a:endParaRPr>
          </a:p>
        </p:txBody>
      </p:sp>
      <p:sp>
        <p:nvSpPr>
          <p:cNvPr id="13" name="Text 7">
            <a:extLst>
              <a:ext uri="{FF2B5EF4-FFF2-40B4-BE49-F238E27FC236}">
                <a16:creationId xmlns:a16="http://schemas.microsoft.com/office/drawing/2014/main" id="{600CC67A-6F2C-14FA-C075-66D87A884D02}"/>
              </a:ext>
            </a:extLst>
          </p:cNvPr>
          <p:cNvSpPr/>
          <p:nvPr/>
        </p:nvSpPr>
        <p:spPr>
          <a:xfrm>
            <a:off x="3877115" y="3832225"/>
            <a:ext cx="1487884" cy="273050"/>
          </a:xfrm>
          <a:prstGeom prst="rect">
            <a:avLst/>
          </a:prstGeom>
          <a:noFill/>
          <a:ln/>
        </p:spPr>
        <p:txBody>
          <a:bodyPr wrap="square" lIns="25400" tIns="25400" rIns="25400" bIns="25400" rtlCol="0" anchor="t">
            <a:normAutofit/>
          </a:bodyPr>
          <a:lstStyle/>
          <a:p>
            <a:pPr marL="0" indent="0" algn="l">
              <a:buNone/>
            </a:pPr>
            <a:r>
              <a:rPr lang="en-US" sz="1425" b="1">
                <a:solidFill>
                  <a:schemeClr val="tx2"/>
                </a:solidFill>
                <a:latin typeface="Courier New" pitchFamily="34" charset="0"/>
                <a:ea typeface="Courier New" pitchFamily="34" charset="-122"/>
                <a:cs typeface="Courier New" pitchFamily="34" charset="-120"/>
              </a:rPr>
              <a:t>2-year window</a:t>
            </a:r>
            <a:endParaRPr lang="en-US" sz="1425" b="1">
              <a:solidFill>
                <a:schemeClr val="tx2"/>
              </a:solidFill>
            </a:endParaRPr>
          </a:p>
        </p:txBody>
      </p:sp>
      <p:sp>
        <p:nvSpPr>
          <p:cNvPr id="14" name="Shape 8">
            <a:extLst>
              <a:ext uri="{FF2B5EF4-FFF2-40B4-BE49-F238E27FC236}">
                <a16:creationId xmlns:a16="http://schemas.microsoft.com/office/drawing/2014/main" id="{E4090EBA-2198-1FBD-FF9F-1E9D7A21E98C}"/>
              </a:ext>
            </a:extLst>
          </p:cNvPr>
          <p:cNvSpPr/>
          <p:nvPr/>
        </p:nvSpPr>
        <p:spPr>
          <a:xfrm>
            <a:off x="6654085" y="3521075"/>
            <a:ext cx="1967894" cy="378385"/>
          </a:xfrm>
          <a:prstGeom prst="roundRect">
            <a:avLst>
              <a:gd name="adj" fmla="val 50000"/>
            </a:avLst>
          </a:prstGeom>
          <a:ln w="6350">
            <a:solidFill>
              <a:srgbClr val="FFFFFF">
                <a:alpha val="18000"/>
              </a:srgbClr>
            </a:solidFill>
            <a:prstDash val="solid"/>
          </a:ln>
        </p:spPr>
        <p:txBody>
          <a:bodyPr/>
          <a:lstStyle/>
          <a:p>
            <a:endParaRPr lang="en-IL" b="1">
              <a:solidFill>
                <a:schemeClr val="tx2"/>
              </a:solidFill>
            </a:endParaRPr>
          </a:p>
        </p:txBody>
      </p:sp>
      <p:sp>
        <p:nvSpPr>
          <p:cNvPr id="15" name="Text 9">
            <a:extLst>
              <a:ext uri="{FF2B5EF4-FFF2-40B4-BE49-F238E27FC236}">
                <a16:creationId xmlns:a16="http://schemas.microsoft.com/office/drawing/2014/main" id="{642202E0-7174-15A3-5C66-36B580E08C84}"/>
              </a:ext>
            </a:extLst>
          </p:cNvPr>
          <p:cNvSpPr/>
          <p:nvPr/>
        </p:nvSpPr>
        <p:spPr>
          <a:xfrm>
            <a:off x="5768424" y="3899460"/>
            <a:ext cx="1724927" cy="246523"/>
          </a:xfrm>
          <a:prstGeom prst="rect">
            <a:avLst/>
          </a:prstGeom>
          <a:noFill/>
          <a:ln/>
        </p:spPr>
        <p:txBody>
          <a:bodyPr wrap="square" lIns="25400" tIns="25400" rIns="25400" bIns="25400" rtlCol="0" anchor="t">
            <a:normAutofit fontScale="70000" lnSpcReduction="20000"/>
          </a:bodyPr>
          <a:lstStyle/>
          <a:p>
            <a:pPr marL="0" indent="0" algn="l">
              <a:buNone/>
            </a:pPr>
            <a:r>
              <a:rPr lang="en-US" sz="1425" b="1">
                <a:solidFill>
                  <a:schemeClr val="tx2"/>
                </a:solidFill>
                <a:latin typeface="Courier New" pitchFamily="34" charset="0"/>
                <a:ea typeface="Courier New" pitchFamily="34" charset="-122"/>
                <a:cs typeface="Courier New" pitchFamily="34" charset="-120"/>
              </a:rPr>
              <a:t>50+ years as default</a:t>
            </a:r>
            <a:endParaRPr lang="en-US" sz="1425" b="1">
              <a:solidFill>
                <a:schemeClr val="tx2"/>
              </a:solidFill>
            </a:endParaRPr>
          </a:p>
        </p:txBody>
      </p:sp>
      <p:sp>
        <p:nvSpPr>
          <p:cNvPr id="18" name="Shape 10">
            <a:extLst>
              <a:ext uri="{FF2B5EF4-FFF2-40B4-BE49-F238E27FC236}">
                <a16:creationId xmlns:a16="http://schemas.microsoft.com/office/drawing/2014/main" id="{7EFEB63A-6B52-A118-22C0-37CA913A44D4}"/>
              </a:ext>
            </a:extLst>
          </p:cNvPr>
          <p:cNvSpPr/>
          <p:nvPr/>
        </p:nvSpPr>
        <p:spPr>
          <a:xfrm>
            <a:off x="8067750" y="1249143"/>
            <a:ext cx="3331199" cy="3550904"/>
          </a:xfrm>
          <a:prstGeom prst="roundRect">
            <a:avLst>
              <a:gd name="adj" fmla="val 5177"/>
            </a:avLst>
          </a:prstGeom>
          <a:solidFill>
            <a:srgbClr val="FBFAF6"/>
          </a:solidFill>
          <a:ln/>
          <a:effectLst>
            <a:outerShdw blurRad="666750" dist="285750" dir="5400000" algn="bl" rotWithShape="0">
              <a:srgbClr val="000000">
                <a:alpha val="32000"/>
              </a:srgbClr>
            </a:outerShdw>
          </a:effectLst>
        </p:spPr>
        <p:txBody>
          <a:bodyPr/>
          <a:lstStyle/>
          <a:p>
            <a:endParaRPr lang="en-IL"/>
          </a:p>
        </p:txBody>
      </p:sp>
      <p:sp>
        <p:nvSpPr>
          <p:cNvPr id="19" name="Text 11">
            <a:extLst>
              <a:ext uri="{FF2B5EF4-FFF2-40B4-BE49-F238E27FC236}">
                <a16:creationId xmlns:a16="http://schemas.microsoft.com/office/drawing/2014/main" id="{120D3E9A-3087-F599-6CEA-5F0377AA44FC}"/>
              </a:ext>
            </a:extLst>
          </p:cNvPr>
          <p:cNvSpPr/>
          <p:nvPr/>
        </p:nvSpPr>
        <p:spPr>
          <a:xfrm>
            <a:off x="8287488" y="1387713"/>
            <a:ext cx="2891724" cy="275189"/>
          </a:xfrm>
          <a:prstGeom prst="rect">
            <a:avLst/>
          </a:prstGeom>
          <a:noFill/>
          <a:ln/>
        </p:spPr>
        <p:txBody>
          <a:bodyPr wrap="square" lIns="25400" tIns="25400" rIns="25400" bIns="25400" rtlCol="0" anchor="t">
            <a:normAutofit fontScale="92500" lnSpcReduction="20000"/>
          </a:bodyPr>
          <a:lstStyle/>
          <a:p>
            <a:pPr marL="0" indent="0" algn="l">
              <a:buNone/>
            </a:pPr>
            <a:r>
              <a:rPr lang="en-US" sz="1800" b="1">
                <a:solidFill>
                  <a:srgbClr val="54536F"/>
                </a:solidFill>
                <a:latin typeface="Arial" pitchFamily="34" charset="0"/>
                <a:ea typeface="Arial" pitchFamily="34" charset="-122"/>
                <a:cs typeface="Arial" pitchFamily="34" charset="-120"/>
              </a:rPr>
              <a:t>Journal of Applied Science</a:t>
            </a:r>
            <a:endParaRPr lang="en-US" sz="1800"/>
          </a:p>
        </p:txBody>
      </p:sp>
      <p:sp>
        <p:nvSpPr>
          <p:cNvPr id="20" name="Text 12">
            <a:extLst>
              <a:ext uri="{FF2B5EF4-FFF2-40B4-BE49-F238E27FC236}">
                <a16:creationId xmlns:a16="http://schemas.microsoft.com/office/drawing/2014/main" id="{DC903A4C-5E06-8895-0FCD-FA366571E819}"/>
              </a:ext>
            </a:extLst>
          </p:cNvPr>
          <p:cNvSpPr/>
          <p:nvPr/>
        </p:nvSpPr>
        <p:spPr>
          <a:xfrm>
            <a:off x="8380295" y="1870884"/>
            <a:ext cx="4853709" cy="498780"/>
          </a:xfrm>
          <a:prstGeom prst="rect">
            <a:avLst/>
          </a:prstGeom>
          <a:noFill/>
          <a:ln/>
        </p:spPr>
        <p:txBody>
          <a:bodyPr wrap="square" lIns="25400" tIns="25400" rIns="25400" bIns="25400" rtlCol="0" anchor="t">
            <a:normAutofit fontScale="85000" lnSpcReduction="20000"/>
          </a:bodyPr>
          <a:lstStyle/>
          <a:p>
            <a:pPr marL="0" indent="0" algn="l">
              <a:lnSpc>
                <a:spcPct val="100000"/>
              </a:lnSpc>
              <a:buNone/>
            </a:pPr>
            <a:r>
              <a:rPr lang="en-US" sz="4050" kern="0" spc="600">
                <a:solidFill>
                  <a:srgbClr val="E0A100"/>
                </a:solidFill>
                <a:latin typeface="Arial" pitchFamily="34" charset="0"/>
                <a:ea typeface="Arial" pitchFamily="34" charset="-122"/>
                <a:cs typeface="Arial" pitchFamily="34" charset="-120"/>
              </a:rPr>
              <a:t>★★★★★</a:t>
            </a:r>
            <a:endParaRPr lang="en-US" sz="4050"/>
          </a:p>
        </p:txBody>
      </p:sp>
      <p:sp>
        <p:nvSpPr>
          <p:cNvPr id="21" name="Text 13">
            <a:extLst>
              <a:ext uri="{FF2B5EF4-FFF2-40B4-BE49-F238E27FC236}">
                <a16:creationId xmlns:a16="http://schemas.microsoft.com/office/drawing/2014/main" id="{8FC166AB-C90D-EC22-291D-22392FD484CD}"/>
              </a:ext>
            </a:extLst>
          </p:cNvPr>
          <p:cNvSpPr/>
          <p:nvPr/>
        </p:nvSpPr>
        <p:spPr>
          <a:xfrm>
            <a:off x="8545394" y="2478225"/>
            <a:ext cx="6327428" cy="285750"/>
          </a:xfrm>
          <a:prstGeom prst="rect">
            <a:avLst/>
          </a:prstGeom>
          <a:noFill/>
          <a:ln/>
        </p:spPr>
        <p:txBody>
          <a:bodyPr wrap="square" lIns="25400" tIns="25400" rIns="25400" bIns="25400" rtlCol="0" anchor="t">
            <a:normAutofit/>
          </a:bodyPr>
          <a:lstStyle/>
          <a:p>
            <a:pPr marL="0" indent="0" algn="l">
              <a:buNone/>
            </a:pPr>
            <a:r>
              <a:rPr lang="en-US" sz="1500" kern="0" spc="240">
                <a:solidFill>
                  <a:srgbClr val="8A89A0"/>
                </a:solidFill>
                <a:latin typeface="Courier New" pitchFamily="34" charset="0"/>
                <a:ea typeface="Courier New" pitchFamily="34" charset="-122"/>
                <a:cs typeface="Courier New" pitchFamily="34" charset="-120"/>
              </a:rPr>
              <a:t>IMPACT FACTOR</a:t>
            </a:r>
            <a:endParaRPr lang="en-US" sz="1500"/>
          </a:p>
        </p:txBody>
      </p:sp>
      <p:sp>
        <p:nvSpPr>
          <p:cNvPr id="22" name="Text 14">
            <a:extLst>
              <a:ext uri="{FF2B5EF4-FFF2-40B4-BE49-F238E27FC236}">
                <a16:creationId xmlns:a16="http://schemas.microsoft.com/office/drawing/2014/main" id="{FF8B2D38-A752-56DF-0115-AB0A593B2F73}"/>
              </a:ext>
            </a:extLst>
          </p:cNvPr>
          <p:cNvSpPr/>
          <p:nvPr/>
        </p:nvSpPr>
        <p:spPr>
          <a:xfrm>
            <a:off x="8545394" y="2959957"/>
            <a:ext cx="4853709" cy="1080062"/>
          </a:xfrm>
          <a:prstGeom prst="rect">
            <a:avLst/>
          </a:prstGeom>
          <a:noFill/>
          <a:ln/>
        </p:spPr>
        <p:txBody>
          <a:bodyPr wrap="square" lIns="25400" tIns="25400" rIns="25400" bIns="25400" rtlCol="0" anchor="t">
            <a:normAutofit fontScale="85000" lnSpcReduction="20000"/>
          </a:bodyPr>
          <a:lstStyle/>
          <a:p>
            <a:pPr marL="0" indent="0" algn="l">
              <a:lnSpc>
                <a:spcPct val="95000"/>
              </a:lnSpc>
              <a:buNone/>
            </a:pPr>
            <a:r>
              <a:rPr lang="en-US" sz="9600" b="1" kern="0" spc="-288">
                <a:solidFill>
                  <a:srgbClr val="232157"/>
                </a:solidFill>
                <a:latin typeface="Arial" pitchFamily="34" charset="0"/>
                <a:ea typeface="Arial" pitchFamily="34" charset="-122"/>
                <a:cs typeface="Arial" pitchFamily="34" charset="-120"/>
              </a:rPr>
              <a:t>14.2</a:t>
            </a:r>
            <a:endParaRPr lang="en-US" sz="9600"/>
          </a:p>
        </p:txBody>
      </p:sp>
      <p:sp>
        <p:nvSpPr>
          <p:cNvPr id="23" name="Text 15">
            <a:extLst>
              <a:ext uri="{FF2B5EF4-FFF2-40B4-BE49-F238E27FC236}">
                <a16:creationId xmlns:a16="http://schemas.microsoft.com/office/drawing/2014/main" id="{12504C03-9156-CEB5-454B-915909704F3D}"/>
              </a:ext>
            </a:extLst>
          </p:cNvPr>
          <p:cNvSpPr/>
          <p:nvPr/>
        </p:nvSpPr>
        <p:spPr>
          <a:xfrm>
            <a:off x="8287488" y="4169088"/>
            <a:ext cx="3609092" cy="286655"/>
          </a:xfrm>
          <a:prstGeom prst="rect">
            <a:avLst/>
          </a:prstGeom>
          <a:noFill/>
          <a:ln/>
        </p:spPr>
        <p:txBody>
          <a:bodyPr wrap="square" lIns="25400" tIns="25400" rIns="25400" bIns="25400" rtlCol="0" anchor="t">
            <a:normAutofit fontScale="92500" lnSpcReduction="10000"/>
          </a:bodyPr>
          <a:lstStyle/>
          <a:p>
            <a:pPr marL="0" indent="0" algn="l">
              <a:buNone/>
            </a:pPr>
            <a:r>
              <a:rPr lang="en-US" sz="1725">
                <a:solidFill>
                  <a:srgbClr val="6E6D85"/>
                </a:solidFill>
                <a:latin typeface="Arial" pitchFamily="34" charset="0"/>
                <a:ea typeface="Arial" pitchFamily="34" charset="-122"/>
                <a:cs typeface="Arial" pitchFamily="34" charset="-120"/>
              </a:rPr>
              <a:t>the one number scientists trusts</a:t>
            </a:r>
            <a:endParaRPr lang="en-US" sz="172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3" name="Rectangle 2"/>
          <p:cNvSpPr/>
          <p:nvPr/>
        </p:nvSpPr>
        <p:spPr>
          <a:xfrm>
            <a:off x="502920" y="658368"/>
            <a:ext cx="109728" cy="530352"/>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85800" y="488492"/>
            <a:ext cx="10241280" cy="824841"/>
          </a:xfrm>
          <a:prstGeom prst="rect">
            <a:avLst/>
          </a:prstGeom>
          <a:noFill/>
        </p:spPr>
        <p:txBody>
          <a:bodyPr wrap="square" lIns="73152" tIns="73152" rIns="73152" bIns="73152" anchor="ctr">
            <a:spAutoFit/>
          </a:bodyPr>
          <a:lstStyle/>
          <a:p>
            <a:pPr algn="l">
              <a:defRPr sz="2800" b="1">
                <a:solidFill>
                  <a:srgbClr val="0F172A"/>
                </a:solidFill>
                <a:latin typeface="Aptos"/>
              </a:defRPr>
            </a:pPr>
            <a:r>
              <a:rPr lang="en-US" sz="4400"/>
              <a:t>The Problem with Impact Factor</a:t>
            </a:r>
            <a:endParaRPr sz="4400"/>
          </a:p>
        </p:txBody>
      </p:sp>
      <p:sp>
        <p:nvSpPr>
          <p:cNvPr id="5" name="Slide Number Placeholder 4">
            <a:extLst>
              <a:ext uri="{FF2B5EF4-FFF2-40B4-BE49-F238E27FC236}">
                <a16:creationId xmlns:a16="http://schemas.microsoft.com/office/drawing/2014/main" id="{FF638D9F-250F-0BAD-5C2C-4F9DABD27A07}"/>
              </a:ext>
            </a:extLst>
          </p:cNvPr>
          <p:cNvSpPr>
            <a:spLocks noGrp="1"/>
          </p:cNvSpPr>
          <p:nvPr>
            <p:ph type="sldNum" sz="quarter" idx="12"/>
          </p:nvPr>
        </p:nvSpPr>
        <p:spPr/>
        <p:txBody>
          <a:bodyPr/>
          <a:lstStyle/>
          <a:p>
            <a:fld id="{C1FF6DA9-008F-8B48-92A6-B652298478BF}" type="slidenum">
              <a:rPr lang="en-US" smtClean="0"/>
              <a:t>2</a:t>
            </a:fld>
            <a:endParaRPr lang="en-US"/>
          </a:p>
        </p:txBody>
      </p:sp>
      <p:sp>
        <p:nvSpPr>
          <p:cNvPr id="6" name="Rectangle 5">
            <a:extLst>
              <a:ext uri="{FF2B5EF4-FFF2-40B4-BE49-F238E27FC236}">
                <a16:creationId xmlns:a16="http://schemas.microsoft.com/office/drawing/2014/main" id="{F3249653-9142-C454-D6E9-3434CA100EB3}"/>
              </a:ext>
            </a:extLst>
          </p:cNvPr>
          <p:cNvSpPr/>
          <p:nvPr/>
        </p:nvSpPr>
        <p:spPr>
          <a:xfrm>
            <a:off x="0" y="0"/>
            <a:ext cx="12191695" cy="256032"/>
          </a:xfrm>
          <a:prstGeom prst="rect">
            <a:avLst/>
          </a:prstGeom>
          <a:gradFill>
            <a:gsLst>
              <a:gs pos="0">
                <a:srgbClr val="0EAFEB"/>
              </a:gs>
              <a:gs pos="100000">
                <a:srgbClr val="0E21BB"/>
              </a:gs>
            </a:gsLst>
            <a:lin ang="108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Rectangle: Rounded Corners 1">
            <a:extLst>
              <a:ext uri="{FF2B5EF4-FFF2-40B4-BE49-F238E27FC236}">
                <a16:creationId xmlns:a16="http://schemas.microsoft.com/office/drawing/2014/main" id="{9DDDACFD-175A-9E39-2D0F-919C58313444}"/>
              </a:ext>
            </a:extLst>
          </p:cNvPr>
          <p:cNvSpPr/>
          <p:nvPr/>
        </p:nvSpPr>
        <p:spPr>
          <a:xfrm>
            <a:off x="757575" y="4481424"/>
            <a:ext cx="3020400" cy="824841"/>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2000" b="1"/>
              <a:t>Treats all citations equally</a:t>
            </a:r>
          </a:p>
        </p:txBody>
      </p:sp>
      <p:sp>
        <p:nvSpPr>
          <p:cNvPr id="8" name="Flowchart: Connector 7">
            <a:extLst>
              <a:ext uri="{FF2B5EF4-FFF2-40B4-BE49-F238E27FC236}">
                <a16:creationId xmlns:a16="http://schemas.microsoft.com/office/drawing/2014/main" id="{A7B09FD4-EF35-4A3D-B2CE-5E47DC5F1912}"/>
              </a:ext>
            </a:extLst>
          </p:cNvPr>
          <p:cNvSpPr/>
          <p:nvPr/>
        </p:nvSpPr>
        <p:spPr>
          <a:xfrm>
            <a:off x="1367778" y="2529000"/>
            <a:ext cx="1800000" cy="1800000"/>
          </a:xfrm>
          <a:prstGeom prst="flowChartConnector">
            <a:avLst/>
          </a:prstGeom>
          <a:gradFill>
            <a:gsLst>
              <a:gs pos="0">
                <a:schemeClr val="accent2">
                  <a:lumMod val="40000"/>
                  <a:lumOff val="60000"/>
                </a:schemeClr>
              </a:gs>
              <a:gs pos="32000">
                <a:schemeClr val="accent2">
                  <a:lumMod val="60000"/>
                  <a:lumOff val="40000"/>
                </a:schemeClr>
              </a:gs>
              <a:gs pos="84000">
                <a:schemeClr val="accent2">
                  <a:lumMod val="75000"/>
                </a:schemeClr>
              </a:gs>
              <a:gs pos="100000">
                <a:schemeClr val="accent2">
                  <a:lumMod val="5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0F459B45-1389-88A3-A904-E9223CE7AFF0}"/>
              </a:ext>
            </a:extLst>
          </p:cNvPr>
          <p:cNvSpPr txBox="1"/>
          <p:nvPr/>
        </p:nvSpPr>
        <p:spPr>
          <a:xfrm>
            <a:off x="1231093" y="2133752"/>
            <a:ext cx="2087017" cy="400110"/>
          </a:xfrm>
          <a:prstGeom prst="rect">
            <a:avLst/>
          </a:prstGeom>
          <a:noFill/>
        </p:spPr>
        <p:txBody>
          <a:bodyPr wrap="square" rtlCol="0">
            <a:spAutoFit/>
          </a:bodyPr>
          <a:lstStyle/>
          <a:p>
            <a:pPr algn="ctr"/>
            <a:r>
              <a:rPr lang="en-US" sz="2000" b="1"/>
              <a:t>Context Blindness</a:t>
            </a:r>
          </a:p>
        </p:txBody>
      </p:sp>
      <p:pic>
        <p:nvPicPr>
          <p:cNvPr id="22" name="Picture 21">
            <a:extLst>
              <a:ext uri="{FF2B5EF4-FFF2-40B4-BE49-F238E27FC236}">
                <a16:creationId xmlns:a16="http://schemas.microsoft.com/office/drawing/2014/main" id="{9688746B-5483-C277-11D8-9EC41A1D4935}"/>
              </a:ext>
            </a:extLst>
          </p:cNvPr>
          <p:cNvPicPr>
            <a:picLocks noChangeAspect="1"/>
          </p:cNvPicPr>
          <p:nvPr/>
        </p:nvPicPr>
        <p:blipFill>
          <a:blip r:embed="rId3"/>
          <a:stretch>
            <a:fillRect/>
          </a:stretch>
        </p:blipFill>
        <p:spPr>
          <a:xfrm>
            <a:off x="1810575" y="2971800"/>
            <a:ext cx="914400" cy="914400"/>
          </a:xfrm>
          <a:prstGeom prst="rect">
            <a:avLst/>
          </a:prstGeom>
        </p:spPr>
      </p:pic>
      <p:sp>
        <p:nvSpPr>
          <p:cNvPr id="27" name="Rectangle: Rounded Corners 26">
            <a:extLst>
              <a:ext uri="{FF2B5EF4-FFF2-40B4-BE49-F238E27FC236}">
                <a16:creationId xmlns:a16="http://schemas.microsoft.com/office/drawing/2014/main" id="{1302910F-821F-B968-5B3A-7BBA1DF47EDF}"/>
              </a:ext>
            </a:extLst>
          </p:cNvPr>
          <p:cNvSpPr/>
          <p:nvPr/>
        </p:nvSpPr>
        <p:spPr>
          <a:xfrm>
            <a:off x="4543168" y="4481424"/>
            <a:ext cx="3018564" cy="824841"/>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2000" b="1"/>
              <a:t>Vulnerable to coordinated citation rings</a:t>
            </a:r>
          </a:p>
        </p:txBody>
      </p:sp>
      <p:sp>
        <p:nvSpPr>
          <p:cNvPr id="28" name="Flowchart: Connector 27">
            <a:extLst>
              <a:ext uri="{FF2B5EF4-FFF2-40B4-BE49-F238E27FC236}">
                <a16:creationId xmlns:a16="http://schemas.microsoft.com/office/drawing/2014/main" id="{AB336519-A2BD-801A-450F-8669651321FE}"/>
              </a:ext>
            </a:extLst>
          </p:cNvPr>
          <p:cNvSpPr/>
          <p:nvPr/>
        </p:nvSpPr>
        <p:spPr>
          <a:xfrm>
            <a:off x="5196003" y="2529000"/>
            <a:ext cx="1800000" cy="1800000"/>
          </a:xfrm>
          <a:prstGeom prst="flowChartConnector">
            <a:avLst/>
          </a:prstGeom>
          <a:gradFill>
            <a:gsLst>
              <a:gs pos="0">
                <a:schemeClr val="accent2">
                  <a:lumMod val="40000"/>
                  <a:lumOff val="60000"/>
                </a:schemeClr>
              </a:gs>
              <a:gs pos="32000">
                <a:schemeClr val="accent2">
                  <a:lumMod val="60000"/>
                  <a:lumOff val="40000"/>
                </a:schemeClr>
              </a:gs>
              <a:gs pos="84000">
                <a:schemeClr val="accent2">
                  <a:lumMod val="75000"/>
                </a:schemeClr>
              </a:gs>
              <a:gs pos="100000">
                <a:schemeClr val="accent2">
                  <a:lumMod val="5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981BC257-5B94-9F0E-BDC9-65C3F1C33782}"/>
              </a:ext>
            </a:extLst>
          </p:cNvPr>
          <p:cNvSpPr txBox="1"/>
          <p:nvPr/>
        </p:nvSpPr>
        <p:spPr>
          <a:xfrm>
            <a:off x="4548806" y="2133752"/>
            <a:ext cx="3094082" cy="400110"/>
          </a:xfrm>
          <a:prstGeom prst="rect">
            <a:avLst/>
          </a:prstGeom>
          <a:noFill/>
        </p:spPr>
        <p:txBody>
          <a:bodyPr wrap="square" rtlCol="0">
            <a:spAutoFit/>
          </a:bodyPr>
          <a:lstStyle/>
          <a:p>
            <a:pPr algn="ctr"/>
            <a:r>
              <a:rPr lang="en-US" sz="2000" b="1"/>
              <a:t>Systematic Manipulation</a:t>
            </a:r>
          </a:p>
        </p:txBody>
      </p:sp>
      <p:pic>
        <p:nvPicPr>
          <p:cNvPr id="36" name="Picture 35">
            <a:extLst>
              <a:ext uri="{FF2B5EF4-FFF2-40B4-BE49-F238E27FC236}">
                <a16:creationId xmlns:a16="http://schemas.microsoft.com/office/drawing/2014/main" id="{C69E3799-A6E8-C513-5400-5B62EA97B67A}"/>
              </a:ext>
            </a:extLst>
          </p:cNvPr>
          <p:cNvPicPr>
            <a:picLocks noChangeAspect="1"/>
          </p:cNvPicPr>
          <p:nvPr/>
        </p:nvPicPr>
        <p:blipFill>
          <a:blip r:embed="rId4"/>
          <a:stretch>
            <a:fillRect/>
          </a:stretch>
        </p:blipFill>
        <p:spPr>
          <a:xfrm>
            <a:off x="5638647" y="2971800"/>
            <a:ext cx="914400" cy="914400"/>
          </a:xfrm>
          <a:prstGeom prst="rect">
            <a:avLst/>
          </a:prstGeom>
        </p:spPr>
      </p:pic>
      <p:sp>
        <p:nvSpPr>
          <p:cNvPr id="37" name="Rectangle: Rounded Corners 36">
            <a:extLst>
              <a:ext uri="{FF2B5EF4-FFF2-40B4-BE49-F238E27FC236}">
                <a16:creationId xmlns:a16="http://schemas.microsoft.com/office/drawing/2014/main" id="{BCBAF925-0BF6-6A38-DF2D-E3E2E77D76E7}"/>
              </a:ext>
            </a:extLst>
          </p:cNvPr>
          <p:cNvSpPr/>
          <p:nvPr/>
        </p:nvSpPr>
        <p:spPr>
          <a:xfrm>
            <a:off x="8326926" y="4481424"/>
            <a:ext cx="3020400" cy="824841"/>
          </a:xfrm>
          <a:prstGeom prst="roundRect">
            <a:avLst/>
          </a:prstGeom>
        </p:spPr>
        <p:style>
          <a:lnRef idx="2">
            <a:schemeClr val="accent2"/>
          </a:lnRef>
          <a:fillRef idx="1">
            <a:schemeClr val="lt1"/>
          </a:fillRef>
          <a:effectRef idx="0">
            <a:schemeClr val="accent2"/>
          </a:effectRef>
          <a:fontRef idx="minor">
            <a:schemeClr val="dk1"/>
          </a:fontRef>
        </p:style>
        <p:txBody>
          <a:bodyPr rtlCol="0" anchor="ctr"/>
          <a:lstStyle/>
          <a:p>
            <a:pPr algn="ctr"/>
            <a:r>
              <a:rPr lang="en-US" sz="2000" b="1"/>
              <a:t>Ignores critical metadata</a:t>
            </a:r>
          </a:p>
        </p:txBody>
      </p:sp>
      <p:sp>
        <p:nvSpPr>
          <p:cNvPr id="38" name="Flowchart: Connector 37">
            <a:extLst>
              <a:ext uri="{FF2B5EF4-FFF2-40B4-BE49-F238E27FC236}">
                <a16:creationId xmlns:a16="http://schemas.microsoft.com/office/drawing/2014/main" id="{6CCACE2C-9C67-AAD0-B1D6-66C5564AF5F4}"/>
              </a:ext>
            </a:extLst>
          </p:cNvPr>
          <p:cNvSpPr/>
          <p:nvPr/>
        </p:nvSpPr>
        <p:spPr>
          <a:xfrm>
            <a:off x="8937282" y="2521782"/>
            <a:ext cx="1800000" cy="1800000"/>
          </a:xfrm>
          <a:prstGeom prst="flowChartConnector">
            <a:avLst/>
          </a:prstGeom>
          <a:gradFill>
            <a:gsLst>
              <a:gs pos="0">
                <a:schemeClr val="accent2">
                  <a:lumMod val="40000"/>
                  <a:lumOff val="60000"/>
                </a:schemeClr>
              </a:gs>
              <a:gs pos="32000">
                <a:schemeClr val="accent2">
                  <a:lumMod val="60000"/>
                  <a:lumOff val="40000"/>
                </a:schemeClr>
              </a:gs>
              <a:gs pos="84000">
                <a:schemeClr val="accent2">
                  <a:lumMod val="75000"/>
                </a:schemeClr>
              </a:gs>
              <a:gs pos="100000">
                <a:schemeClr val="accent2">
                  <a:lumMod val="5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68ABAA40-C930-D6B6-5570-03A0975183A4}"/>
              </a:ext>
            </a:extLst>
          </p:cNvPr>
          <p:cNvSpPr txBox="1"/>
          <p:nvPr/>
        </p:nvSpPr>
        <p:spPr>
          <a:xfrm>
            <a:off x="8290085" y="2126534"/>
            <a:ext cx="3094082" cy="400110"/>
          </a:xfrm>
          <a:prstGeom prst="rect">
            <a:avLst/>
          </a:prstGeom>
          <a:noFill/>
        </p:spPr>
        <p:txBody>
          <a:bodyPr wrap="square" rtlCol="0">
            <a:spAutoFit/>
          </a:bodyPr>
          <a:lstStyle/>
          <a:p>
            <a:pPr algn="ctr"/>
            <a:r>
              <a:rPr lang="en-US" sz="2000" b="1"/>
              <a:t>Dimensionality Flaws</a:t>
            </a:r>
          </a:p>
        </p:txBody>
      </p:sp>
      <p:pic>
        <p:nvPicPr>
          <p:cNvPr id="58" name="Picture 57">
            <a:extLst>
              <a:ext uri="{FF2B5EF4-FFF2-40B4-BE49-F238E27FC236}">
                <a16:creationId xmlns:a16="http://schemas.microsoft.com/office/drawing/2014/main" id="{8C5C7489-16A8-7265-08C8-7B7D7BAFD718}"/>
              </a:ext>
            </a:extLst>
          </p:cNvPr>
          <p:cNvPicPr>
            <a:picLocks noChangeAspect="1"/>
          </p:cNvPicPr>
          <p:nvPr/>
        </p:nvPicPr>
        <p:blipFill>
          <a:blip r:embed="rId5"/>
          <a:stretch>
            <a:fillRect/>
          </a:stretch>
        </p:blipFill>
        <p:spPr>
          <a:xfrm>
            <a:off x="9379926" y="2964582"/>
            <a:ext cx="914400" cy="9144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a:extLst>
            <a:ext uri="{FF2B5EF4-FFF2-40B4-BE49-F238E27FC236}">
              <a16:creationId xmlns:a16="http://schemas.microsoft.com/office/drawing/2014/main" id="{DA15216D-ED54-4F8A-2BFB-2592DB391B9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6650205-DE72-A832-23F7-8C4617F273CA}"/>
              </a:ext>
            </a:extLst>
          </p:cNvPr>
          <p:cNvSpPr/>
          <p:nvPr/>
        </p:nvSpPr>
        <p:spPr>
          <a:xfrm>
            <a:off x="502920" y="658368"/>
            <a:ext cx="109728" cy="530352"/>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8DBC76E1-4B61-B525-AAB2-054A576CDC39}"/>
              </a:ext>
            </a:extLst>
          </p:cNvPr>
          <p:cNvSpPr txBox="1"/>
          <p:nvPr/>
        </p:nvSpPr>
        <p:spPr>
          <a:xfrm>
            <a:off x="685800" y="580824"/>
            <a:ext cx="10241280" cy="640175"/>
          </a:xfrm>
          <a:prstGeom prst="rect">
            <a:avLst/>
          </a:prstGeom>
          <a:noFill/>
        </p:spPr>
        <p:txBody>
          <a:bodyPr wrap="square" lIns="73152" tIns="73152" rIns="73152" bIns="73152" anchor="ctr">
            <a:spAutoFit/>
          </a:bodyPr>
          <a:lstStyle/>
          <a:p>
            <a:pPr>
              <a:defRPr sz="2800" b="1">
                <a:solidFill>
                  <a:srgbClr val="0F172A"/>
                </a:solidFill>
                <a:latin typeface="Aptos"/>
              </a:defRPr>
            </a:pPr>
            <a:r>
              <a:rPr lang="en-US" sz="3200"/>
              <a:t>The Solution: Curvature-Aware Impact Factor (CAIF)</a:t>
            </a:r>
          </a:p>
        </p:txBody>
      </p:sp>
      <p:sp>
        <p:nvSpPr>
          <p:cNvPr id="5" name="Slide Number Placeholder 4">
            <a:extLst>
              <a:ext uri="{FF2B5EF4-FFF2-40B4-BE49-F238E27FC236}">
                <a16:creationId xmlns:a16="http://schemas.microsoft.com/office/drawing/2014/main" id="{7D27020E-3FF2-5282-4A8F-56503E1BECF4}"/>
              </a:ext>
            </a:extLst>
          </p:cNvPr>
          <p:cNvSpPr>
            <a:spLocks noGrp="1"/>
          </p:cNvSpPr>
          <p:nvPr>
            <p:ph type="sldNum" sz="quarter" idx="12"/>
          </p:nvPr>
        </p:nvSpPr>
        <p:spPr/>
        <p:txBody>
          <a:bodyPr/>
          <a:lstStyle/>
          <a:p>
            <a:fld id="{C1FF6DA9-008F-8B48-92A6-B652298478BF}" type="slidenum">
              <a:rPr lang="en-US" smtClean="0"/>
              <a:t>3</a:t>
            </a:fld>
            <a:endParaRPr lang="en-US"/>
          </a:p>
        </p:txBody>
      </p:sp>
      <p:sp>
        <p:nvSpPr>
          <p:cNvPr id="6" name="Rectangle 5">
            <a:extLst>
              <a:ext uri="{FF2B5EF4-FFF2-40B4-BE49-F238E27FC236}">
                <a16:creationId xmlns:a16="http://schemas.microsoft.com/office/drawing/2014/main" id="{9F1F7CA5-F2CF-445A-1044-A2C300836EB0}"/>
              </a:ext>
            </a:extLst>
          </p:cNvPr>
          <p:cNvSpPr/>
          <p:nvPr/>
        </p:nvSpPr>
        <p:spPr>
          <a:xfrm>
            <a:off x="0" y="0"/>
            <a:ext cx="12191695" cy="256032"/>
          </a:xfrm>
          <a:prstGeom prst="rect">
            <a:avLst/>
          </a:prstGeom>
          <a:gradFill>
            <a:gsLst>
              <a:gs pos="0">
                <a:srgbClr val="0EAFEB"/>
              </a:gs>
              <a:gs pos="100000">
                <a:srgbClr val="0E21BB"/>
              </a:gs>
            </a:gsLst>
            <a:lin ang="10800000" scaled="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D59C0836-3BAA-9771-D989-351C8B0AD1F6}"/>
                  </a:ext>
                </a:extLst>
              </p:cNvPr>
              <p:cNvSpPr/>
              <p:nvPr/>
            </p:nvSpPr>
            <p:spPr>
              <a:xfrm>
                <a:off x="524286" y="4479747"/>
                <a:ext cx="3092292" cy="824841"/>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600" b="1"/>
                  <a:t>Probabilistic Weights </a:t>
                </a:r>
                <a14:m>
                  <m:oMath xmlns:m="http://schemas.openxmlformats.org/officeDocument/2006/math">
                    <m:sSub>
                      <m:sSubPr>
                        <m:ctrlPr>
                          <a:rPr lang="en-US" sz="1600" b="1" i="1" smtClean="0">
                            <a:latin typeface="Cambria Math" panose="02040503050406030204" pitchFamily="18" charset="0"/>
                          </a:rPr>
                        </m:ctrlPr>
                      </m:sSubPr>
                      <m:e>
                        <m:r>
                          <a:rPr lang="en-US" sz="1600" b="1" i="1" smtClean="0">
                            <a:latin typeface="Cambria Math" panose="02040503050406030204" pitchFamily="18" charset="0"/>
                          </a:rPr>
                          <m:t>𝒘</m:t>
                        </m:r>
                      </m:e>
                      <m:sub>
                        <m:r>
                          <a:rPr lang="en-US" sz="1600" b="1" i="1" smtClean="0">
                            <a:latin typeface="Cambria Math" panose="02040503050406030204" pitchFamily="18" charset="0"/>
                          </a:rPr>
                          <m:t>𝒆</m:t>
                        </m:r>
                      </m:sub>
                    </m:sSub>
                    <m:r>
                      <a:rPr lang="en-US" sz="1600" b="1" i="1" smtClean="0">
                        <a:latin typeface="Cambria Math" panose="02040503050406030204" pitchFamily="18" charset="0"/>
                      </a:rPr>
                      <m:t>∈(</m:t>
                    </m:r>
                    <m:r>
                      <a:rPr lang="en-US" sz="1600" b="1" i="1" smtClean="0">
                        <a:latin typeface="Cambria Math" panose="02040503050406030204" pitchFamily="18" charset="0"/>
                      </a:rPr>
                      <m:t>𝟎</m:t>
                    </m:r>
                    <m:r>
                      <a:rPr lang="en-US" sz="1600" b="1" i="1" smtClean="0">
                        <a:latin typeface="Cambria Math" panose="02040503050406030204" pitchFamily="18" charset="0"/>
                      </a:rPr>
                      <m:t>, </m:t>
                    </m:r>
                    <m:r>
                      <a:rPr lang="en-US" sz="1600" b="1" i="1" smtClean="0">
                        <a:latin typeface="Cambria Math" panose="02040503050406030204" pitchFamily="18" charset="0"/>
                      </a:rPr>
                      <m:t>𝟏</m:t>
                    </m:r>
                    <m:r>
                      <a:rPr lang="en-US" sz="1600" b="1" i="1" smtClean="0">
                        <a:latin typeface="Cambria Math" panose="02040503050406030204" pitchFamily="18" charset="0"/>
                      </a:rPr>
                      <m:t>)</m:t>
                    </m:r>
                  </m:oMath>
                </a14:m>
                <a:r>
                  <a:rPr lang="en-US" sz="1600" b="1"/>
                  <a:t> Every citation must earn its value</a:t>
                </a:r>
              </a:p>
            </p:txBody>
          </p:sp>
        </mc:Choice>
        <mc:Fallback xmlns="">
          <p:sp>
            <p:nvSpPr>
              <p:cNvPr id="2" name="Rectangle: Rounded Corners 1">
                <a:extLst>
                  <a:ext uri="{FF2B5EF4-FFF2-40B4-BE49-F238E27FC236}">
                    <a16:creationId xmlns:a16="http://schemas.microsoft.com/office/drawing/2014/main" id="{D59C0836-3BAA-9771-D989-351C8B0AD1F6}"/>
                  </a:ext>
                </a:extLst>
              </p:cNvPr>
              <p:cNvSpPr>
                <a:spLocks noRot="1" noChangeAspect="1" noMove="1" noResize="1" noEditPoints="1" noAdjustHandles="1" noChangeArrowheads="1" noChangeShapeType="1" noTextEdit="1"/>
              </p:cNvSpPr>
              <p:nvPr/>
            </p:nvSpPr>
            <p:spPr>
              <a:xfrm>
                <a:off x="524286" y="4479747"/>
                <a:ext cx="3092292" cy="824841"/>
              </a:xfrm>
              <a:prstGeom prst="roundRect">
                <a:avLst/>
              </a:prstGeom>
              <a:blipFill>
                <a:blip r:embed="rId3"/>
                <a:stretch>
                  <a:fillRect/>
                </a:stretch>
              </a:blipFill>
            </p:spPr>
            <p:txBody>
              <a:bodyPr/>
              <a:lstStyle/>
              <a:p>
                <a:r>
                  <a:rPr lang="en-US">
                    <a:noFill/>
                  </a:rPr>
                  <a:t> </a:t>
                </a:r>
              </a:p>
            </p:txBody>
          </p:sp>
        </mc:Fallback>
      </mc:AlternateContent>
      <p:sp>
        <p:nvSpPr>
          <p:cNvPr id="8" name="Flowchart: Connector 7">
            <a:extLst>
              <a:ext uri="{FF2B5EF4-FFF2-40B4-BE49-F238E27FC236}">
                <a16:creationId xmlns:a16="http://schemas.microsoft.com/office/drawing/2014/main" id="{162CD7E4-467C-AA33-577B-600D256E3297}"/>
              </a:ext>
            </a:extLst>
          </p:cNvPr>
          <p:cNvSpPr/>
          <p:nvPr/>
        </p:nvSpPr>
        <p:spPr>
          <a:xfrm>
            <a:off x="1163609" y="2529000"/>
            <a:ext cx="1800000" cy="1800000"/>
          </a:xfrm>
          <a:prstGeom prst="flowChartConnector">
            <a:avLst/>
          </a:prstGeom>
          <a:gradFill>
            <a:gsLst>
              <a:gs pos="0">
                <a:schemeClr val="accent3">
                  <a:lumMod val="40000"/>
                  <a:lumOff val="60000"/>
                </a:schemeClr>
              </a:gs>
              <a:gs pos="32000">
                <a:schemeClr val="accent3">
                  <a:lumMod val="60000"/>
                  <a:lumOff val="40000"/>
                </a:schemeClr>
              </a:gs>
              <a:gs pos="84000">
                <a:schemeClr val="accent3">
                  <a:lumMod val="75000"/>
                </a:schemeClr>
              </a:gs>
              <a:gs pos="100000">
                <a:schemeClr val="accent3">
                  <a:lumMod val="5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82D9806B-2FE9-8AA5-E62D-7F719F6F5D25}"/>
              </a:ext>
            </a:extLst>
          </p:cNvPr>
          <p:cNvSpPr txBox="1"/>
          <p:nvPr/>
        </p:nvSpPr>
        <p:spPr>
          <a:xfrm>
            <a:off x="1026924" y="2133752"/>
            <a:ext cx="2087017" cy="400110"/>
          </a:xfrm>
          <a:prstGeom prst="rect">
            <a:avLst/>
          </a:prstGeom>
          <a:noFill/>
        </p:spPr>
        <p:txBody>
          <a:bodyPr wrap="square" rtlCol="0">
            <a:spAutoFit/>
          </a:bodyPr>
          <a:lstStyle/>
          <a:p>
            <a:pPr algn="ctr"/>
            <a:r>
              <a:rPr lang="en-US" sz="2000" b="1"/>
              <a:t>Trust Weighted</a:t>
            </a:r>
          </a:p>
        </p:txBody>
      </p:sp>
      <p:sp>
        <p:nvSpPr>
          <p:cNvPr id="9" name="Rectangle: Rounded Corners 8">
            <a:extLst>
              <a:ext uri="{FF2B5EF4-FFF2-40B4-BE49-F238E27FC236}">
                <a16:creationId xmlns:a16="http://schemas.microsoft.com/office/drawing/2014/main" id="{055CABAB-A3F4-219B-D815-3C035C1CDFF6}"/>
              </a:ext>
            </a:extLst>
          </p:cNvPr>
          <p:cNvSpPr/>
          <p:nvPr/>
        </p:nvSpPr>
        <p:spPr>
          <a:xfrm>
            <a:off x="4549646" y="4479748"/>
            <a:ext cx="3092400" cy="824841"/>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600" b="1"/>
              <a:t>Neutralize citation rings by mapping the topology</a:t>
            </a:r>
          </a:p>
        </p:txBody>
      </p:sp>
      <p:sp>
        <p:nvSpPr>
          <p:cNvPr id="10" name="Flowchart: Connector 9">
            <a:extLst>
              <a:ext uri="{FF2B5EF4-FFF2-40B4-BE49-F238E27FC236}">
                <a16:creationId xmlns:a16="http://schemas.microsoft.com/office/drawing/2014/main" id="{410F0221-1C44-E036-EB88-977610AFCB20}"/>
              </a:ext>
            </a:extLst>
          </p:cNvPr>
          <p:cNvSpPr/>
          <p:nvPr/>
        </p:nvSpPr>
        <p:spPr>
          <a:xfrm>
            <a:off x="5178622" y="2529000"/>
            <a:ext cx="1800000" cy="1800000"/>
          </a:xfrm>
          <a:prstGeom prst="flowChartConnector">
            <a:avLst/>
          </a:prstGeom>
          <a:gradFill>
            <a:gsLst>
              <a:gs pos="0">
                <a:schemeClr val="accent3">
                  <a:lumMod val="40000"/>
                  <a:lumOff val="60000"/>
                </a:schemeClr>
              </a:gs>
              <a:gs pos="32000">
                <a:schemeClr val="accent3">
                  <a:lumMod val="60000"/>
                  <a:lumOff val="40000"/>
                </a:schemeClr>
              </a:gs>
              <a:gs pos="84000">
                <a:schemeClr val="accent3">
                  <a:lumMod val="75000"/>
                </a:schemeClr>
              </a:gs>
              <a:gs pos="100000">
                <a:schemeClr val="accent3">
                  <a:lumMod val="5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4E8D599-7E5D-5EC8-E186-80D9BA85FC0E}"/>
              </a:ext>
            </a:extLst>
          </p:cNvPr>
          <p:cNvSpPr txBox="1"/>
          <p:nvPr/>
        </p:nvSpPr>
        <p:spPr>
          <a:xfrm>
            <a:off x="4922556" y="2133752"/>
            <a:ext cx="2346581" cy="400110"/>
          </a:xfrm>
          <a:prstGeom prst="rect">
            <a:avLst/>
          </a:prstGeom>
          <a:noFill/>
        </p:spPr>
        <p:txBody>
          <a:bodyPr wrap="square" rtlCol="0">
            <a:spAutoFit/>
          </a:bodyPr>
          <a:lstStyle/>
          <a:p>
            <a:pPr algn="ctr"/>
            <a:r>
              <a:rPr lang="en-US" sz="2000" b="1"/>
              <a:t>Structurally Secure</a:t>
            </a:r>
          </a:p>
        </p:txBody>
      </p:sp>
      <p:sp>
        <p:nvSpPr>
          <p:cNvPr id="13" name="Rectangle: Rounded Corners 12">
            <a:extLst>
              <a:ext uri="{FF2B5EF4-FFF2-40B4-BE49-F238E27FC236}">
                <a16:creationId xmlns:a16="http://schemas.microsoft.com/office/drawing/2014/main" id="{5ACCD9AA-47C6-9483-B18E-1E852061D77D}"/>
              </a:ext>
            </a:extLst>
          </p:cNvPr>
          <p:cNvSpPr/>
          <p:nvPr/>
        </p:nvSpPr>
        <p:spPr>
          <a:xfrm>
            <a:off x="8486752" y="4479747"/>
            <a:ext cx="3092400" cy="824841"/>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en-US" sz="1600" b="1"/>
              <a:t>4D feature vector – analyzing Geometry, Network Flows, Timestamps, and Text Semantics</a:t>
            </a:r>
          </a:p>
        </p:txBody>
      </p:sp>
      <p:sp>
        <p:nvSpPr>
          <p:cNvPr id="15" name="Flowchart: Connector 14">
            <a:extLst>
              <a:ext uri="{FF2B5EF4-FFF2-40B4-BE49-F238E27FC236}">
                <a16:creationId xmlns:a16="http://schemas.microsoft.com/office/drawing/2014/main" id="{6906D206-3F3B-57B7-0D67-718BBC741D50}"/>
              </a:ext>
            </a:extLst>
          </p:cNvPr>
          <p:cNvSpPr/>
          <p:nvPr/>
        </p:nvSpPr>
        <p:spPr>
          <a:xfrm>
            <a:off x="9132955" y="2529000"/>
            <a:ext cx="1800000" cy="1800000"/>
          </a:xfrm>
          <a:prstGeom prst="flowChartConnector">
            <a:avLst/>
          </a:prstGeom>
          <a:gradFill>
            <a:gsLst>
              <a:gs pos="0">
                <a:schemeClr val="accent3">
                  <a:lumMod val="40000"/>
                  <a:lumOff val="60000"/>
                </a:schemeClr>
              </a:gs>
              <a:gs pos="32000">
                <a:schemeClr val="accent3">
                  <a:lumMod val="60000"/>
                  <a:lumOff val="40000"/>
                </a:schemeClr>
              </a:gs>
              <a:gs pos="84000">
                <a:schemeClr val="accent3">
                  <a:lumMod val="75000"/>
                </a:schemeClr>
              </a:gs>
              <a:gs pos="100000">
                <a:schemeClr val="accent3">
                  <a:lumMod val="50000"/>
                </a:schemeClr>
              </a:gs>
            </a:gsLst>
            <a:lin ang="54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AA02EF10-D390-0EAC-5D2B-527A2FB7772F}"/>
              </a:ext>
            </a:extLst>
          </p:cNvPr>
          <p:cNvSpPr txBox="1"/>
          <p:nvPr/>
        </p:nvSpPr>
        <p:spPr>
          <a:xfrm>
            <a:off x="8595558" y="2133752"/>
            <a:ext cx="2874788" cy="400110"/>
          </a:xfrm>
          <a:prstGeom prst="rect">
            <a:avLst/>
          </a:prstGeom>
          <a:noFill/>
        </p:spPr>
        <p:txBody>
          <a:bodyPr wrap="square" rtlCol="0">
            <a:spAutoFit/>
          </a:bodyPr>
          <a:lstStyle/>
          <a:p>
            <a:pPr algn="ctr"/>
            <a:r>
              <a:rPr lang="en-US" sz="2000" b="1"/>
              <a:t>Multi-Modal Dimensions</a:t>
            </a:r>
          </a:p>
        </p:txBody>
      </p:sp>
      <p:pic>
        <p:nvPicPr>
          <p:cNvPr id="19" name="Picture 18">
            <a:extLst>
              <a:ext uri="{FF2B5EF4-FFF2-40B4-BE49-F238E27FC236}">
                <a16:creationId xmlns:a16="http://schemas.microsoft.com/office/drawing/2014/main" id="{B23F18BB-BC97-303E-0C10-8780560B01A3}"/>
              </a:ext>
            </a:extLst>
          </p:cNvPr>
          <p:cNvPicPr>
            <a:picLocks noChangeAspect="1"/>
          </p:cNvPicPr>
          <p:nvPr/>
        </p:nvPicPr>
        <p:blipFill>
          <a:blip r:embed="rId4"/>
          <a:stretch>
            <a:fillRect/>
          </a:stretch>
        </p:blipFill>
        <p:spPr>
          <a:xfrm>
            <a:off x="1597626" y="2971800"/>
            <a:ext cx="914400" cy="914400"/>
          </a:xfrm>
          <a:prstGeom prst="rect">
            <a:avLst/>
          </a:prstGeom>
        </p:spPr>
      </p:pic>
      <p:pic>
        <p:nvPicPr>
          <p:cNvPr id="21" name="Picture 20">
            <a:extLst>
              <a:ext uri="{FF2B5EF4-FFF2-40B4-BE49-F238E27FC236}">
                <a16:creationId xmlns:a16="http://schemas.microsoft.com/office/drawing/2014/main" id="{400E9D9B-7C5A-C1A2-D244-84C7EED07912}"/>
              </a:ext>
            </a:extLst>
          </p:cNvPr>
          <p:cNvPicPr>
            <a:picLocks noChangeAspect="1"/>
          </p:cNvPicPr>
          <p:nvPr/>
        </p:nvPicPr>
        <p:blipFill>
          <a:blip r:embed="rId5"/>
          <a:stretch>
            <a:fillRect/>
          </a:stretch>
        </p:blipFill>
        <p:spPr>
          <a:xfrm>
            <a:off x="5621411" y="2971778"/>
            <a:ext cx="914422" cy="914422"/>
          </a:xfrm>
          <a:prstGeom prst="rect">
            <a:avLst/>
          </a:prstGeom>
        </p:spPr>
      </p:pic>
      <p:pic>
        <p:nvPicPr>
          <p:cNvPr id="23" name="Picture 22">
            <a:extLst>
              <a:ext uri="{FF2B5EF4-FFF2-40B4-BE49-F238E27FC236}">
                <a16:creationId xmlns:a16="http://schemas.microsoft.com/office/drawing/2014/main" id="{D94DC78C-E04B-C90D-0318-445967D9CB53}"/>
              </a:ext>
            </a:extLst>
          </p:cNvPr>
          <p:cNvPicPr>
            <a:picLocks noChangeAspect="1"/>
          </p:cNvPicPr>
          <p:nvPr/>
        </p:nvPicPr>
        <p:blipFill>
          <a:blip r:embed="rId6"/>
          <a:stretch>
            <a:fillRect/>
          </a:stretch>
        </p:blipFill>
        <p:spPr>
          <a:xfrm>
            <a:off x="9532202" y="2927235"/>
            <a:ext cx="1001499" cy="1001499"/>
          </a:xfrm>
          <a:prstGeom prst="rect">
            <a:avLst/>
          </a:prstGeom>
        </p:spPr>
      </p:pic>
    </p:spTree>
    <p:extLst>
      <p:ext uri="{BB962C8B-B14F-4D97-AF65-F5344CB8AC3E}">
        <p14:creationId xmlns:p14="http://schemas.microsoft.com/office/powerpoint/2010/main" val="25666445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cxnSp>
        <p:nvCxnSpPr>
          <p:cNvPr id="25" name="Straight Arrow Connector 19">
            <a:extLst>
              <a:ext uri="{FF2B5EF4-FFF2-40B4-BE49-F238E27FC236}">
                <a16:creationId xmlns:a16="http://schemas.microsoft.com/office/drawing/2014/main" id="{D16B6900-6F55-25C6-78B0-AE4090A90569}"/>
              </a:ext>
            </a:extLst>
          </p:cNvPr>
          <p:cNvCxnSpPr>
            <a:cxnSpLocks/>
            <a:stCxn id="12" idx="2"/>
            <a:endCxn id="15" idx="2"/>
          </p:cNvCxnSpPr>
          <p:nvPr/>
        </p:nvCxnSpPr>
        <p:spPr>
          <a:xfrm rot="16200000" flipH="1">
            <a:off x="6096787" y="3740955"/>
            <a:ext cx="12700" cy="2959100"/>
          </a:xfrm>
          <a:prstGeom prst="bentConnector3">
            <a:avLst>
              <a:gd name="adj1" fmla="val 5473472"/>
            </a:avLst>
          </a:prstGeom>
          <a:ln w="123825">
            <a:gradFill>
              <a:gsLst>
                <a:gs pos="100000">
                  <a:srgbClr val="8D57EF"/>
                </a:gs>
                <a:gs pos="0">
                  <a:srgbClr val="0EAFEB"/>
                </a:gs>
              </a:gsLst>
              <a:lin ang="5400000" scaled="1"/>
            </a:gradFill>
            <a:tailEnd type="triangle"/>
          </a:ln>
          <a:effectLst/>
        </p:spPr>
        <p:style>
          <a:lnRef idx="2">
            <a:schemeClr val="accent1"/>
          </a:lnRef>
          <a:fillRef idx="0">
            <a:schemeClr val="accent1"/>
          </a:fillRef>
          <a:effectRef idx="1">
            <a:schemeClr val="accent1"/>
          </a:effectRef>
          <a:fontRef idx="minor">
            <a:schemeClr val="tx1"/>
          </a:fontRef>
        </p:style>
      </p:cxnSp>
      <p:sp>
        <p:nvSpPr>
          <p:cNvPr id="2" name="TopBar"/>
          <p:cNvSpPr/>
          <p:nvPr/>
        </p:nvSpPr>
        <p:spPr>
          <a:xfrm>
            <a:off x="0" y="0"/>
            <a:ext cx="12191695" cy="256032"/>
          </a:xfrm>
          <a:prstGeom prst="rect">
            <a:avLst/>
          </a:prstGeom>
          <a:gradFill>
            <a:gsLst>
              <a:gs pos="0">
                <a:srgbClr val="0EAFEB"/>
              </a:gs>
              <a:gs pos="100000">
                <a:srgbClr val="0E21BB"/>
              </a:gs>
            </a:gsLst>
            <a:lin ang="10800000" scaled="0"/>
          </a:gradFill>
          <a:ln>
            <a:noFill/>
          </a:ln>
        </p:spPr>
        <p:txBody>
          <a:bodyPr rtlCol="0" anchor="ctr"/>
          <a:lstStyle/>
          <a:p>
            <a:pPr algn="ctr"/>
            <a:endParaRPr/>
          </a:p>
        </p:txBody>
      </p:sp>
      <p:sp>
        <p:nvSpPr>
          <p:cNvPr id="3" name="TealAccent"/>
          <p:cNvSpPr/>
          <p:nvPr/>
        </p:nvSpPr>
        <p:spPr>
          <a:xfrm>
            <a:off x="502920" y="658368"/>
            <a:ext cx="109728" cy="530352"/>
          </a:xfrm>
          <a:prstGeom prst="rect">
            <a:avLst/>
          </a:prstGeom>
          <a:solidFill>
            <a:srgbClr val="14B8A6"/>
          </a:solidFill>
          <a:ln>
            <a:noFill/>
          </a:ln>
        </p:spPr>
        <p:txBody>
          <a:bodyPr rtlCol="0" anchor="ctr"/>
          <a:lstStyle/>
          <a:p>
            <a:pPr algn="ctr"/>
            <a:endParaRPr/>
          </a:p>
        </p:txBody>
      </p:sp>
      <p:sp>
        <p:nvSpPr>
          <p:cNvPr id="4" name="TitleBox"/>
          <p:cNvSpPr txBox="1"/>
          <p:nvPr/>
        </p:nvSpPr>
        <p:spPr>
          <a:xfrm>
            <a:off x="685800" y="519269"/>
            <a:ext cx="10741280" cy="763286"/>
          </a:xfrm>
          <a:prstGeom prst="rect">
            <a:avLst/>
          </a:prstGeom>
          <a:noFill/>
        </p:spPr>
        <p:txBody>
          <a:bodyPr wrap="square" lIns="73152" tIns="73152" rIns="73152" bIns="73152" anchor="ctr">
            <a:spAutoFit/>
          </a:bodyPr>
          <a:lstStyle/>
          <a:p>
            <a:pPr algn="l">
              <a:defRPr sz="2800" b="1">
                <a:solidFill>
                  <a:srgbClr val="0F172A"/>
                </a:solidFill>
                <a:latin typeface="Aptos"/>
              </a:defRPr>
            </a:pPr>
            <a:r>
              <a:rPr lang="en-US" sz="4000"/>
              <a:t>System Architecture Overview</a:t>
            </a:r>
          </a:p>
        </p:txBody>
      </p:sp>
      <p:sp>
        <p:nvSpPr>
          <p:cNvPr id="6" name="SlideNum"/>
          <p:cNvSpPr>
            <a:spLocks noGrp="1"/>
          </p:cNvSpPr>
          <p:nvPr>
            <p:ph type="sldNum" sz="quarter" idx="12"/>
          </p:nvPr>
        </p:nvSpPr>
        <p:spPr/>
        <p:txBody>
          <a:bodyPr/>
          <a:lstStyle/>
          <a:p>
            <a:fld id="{C1FF6DA9-008F-8B48-92A6-B652298478BF}" type="slidenum">
              <a:rPr lang="en-US" smtClean="0"/>
              <a:t>4</a:t>
            </a:fld>
            <a:endParaRPr lang="en-US"/>
          </a:p>
        </p:txBody>
      </p:sp>
      <p:grpSp>
        <p:nvGrpSpPr>
          <p:cNvPr id="10" name="Group 9">
            <a:extLst>
              <a:ext uri="{FF2B5EF4-FFF2-40B4-BE49-F238E27FC236}">
                <a16:creationId xmlns:a16="http://schemas.microsoft.com/office/drawing/2014/main" id="{DAA62064-8FE1-E911-5EB0-25BC4D39A08B}"/>
              </a:ext>
            </a:extLst>
          </p:cNvPr>
          <p:cNvGrpSpPr/>
          <p:nvPr/>
        </p:nvGrpSpPr>
        <p:grpSpPr>
          <a:xfrm>
            <a:off x="341147" y="2181734"/>
            <a:ext cx="11509707" cy="3038771"/>
            <a:chOff x="286555" y="2291056"/>
            <a:chExt cx="11509707" cy="3038771"/>
          </a:xfrm>
        </p:grpSpPr>
        <p:sp>
          <p:nvSpPr>
            <p:cNvPr id="19" name="Rectangle: Rounded Corners 18">
              <a:extLst>
                <a:ext uri="{FF2B5EF4-FFF2-40B4-BE49-F238E27FC236}">
                  <a16:creationId xmlns:a16="http://schemas.microsoft.com/office/drawing/2014/main" id="{53958BCA-0B2A-E837-1115-A7FB80662DCC}"/>
                </a:ext>
              </a:extLst>
            </p:cNvPr>
            <p:cNvSpPr/>
            <p:nvPr/>
          </p:nvSpPr>
          <p:spPr>
            <a:xfrm>
              <a:off x="286555" y="2291057"/>
              <a:ext cx="2633980" cy="3038770"/>
            </a:xfrm>
            <a:prstGeom prst="roundRect">
              <a:avLst/>
            </a:prstGeom>
            <a:solidFill>
              <a:srgbClr val="D1FAF7"/>
            </a:solidFill>
            <a:ln>
              <a:solidFill>
                <a:srgbClr val="14BFAC"/>
              </a:solidFill>
            </a:ln>
          </p:spPr>
          <p:style>
            <a:lnRef idx="1">
              <a:schemeClr val="accent1"/>
            </a:lnRef>
            <a:fillRef idx="3">
              <a:schemeClr val="accent1"/>
            </a:fillRef>
            <a:effectRef idx="2">
              <a:schemeClr val="accent1"/>
            </a:effectRef>
            <a:fontRef idx="minor">
              <a:schemeClr val="lt1"/>
            </a:fontRef>
          </p:style>
          <p:txBody>
            <a:bodyPr rtlCol="0" anchor="b" anchorCtr="1"/>
            <a:lstStyle/>
            <a:p>
              <a:r>
                <a:rPr lang="en-US" b="1">
                  <a:solidFill>
                    <a:schemeClr val="tx1"/>
                  </a:solidFill>
                </a:rPr>
                <a:t>Data Collection</a:t>
              </a:r>
            </a:p>
          </p:txBody>
        </p:sp>
        <p:sp>
          <p:nvSpPr>
            <p:cNvPr id="11" name="Rectangle: Rounded Corners 10">
              <a:extLst>
                <a:ext uri="{FF2B5EF4-FFF2-40B4-BE49-F238E27FC236}">
                  <a16:creationId xmlns:a16="http://schemas.microsoft.com/office/drawing/2014/main" id="{BBD04D44-3F94-587B-2892-1F2252F957E5}"/>
                </a:ext>
              </a:extLst>
            </p:cNvPr>
            <p:cNvSpPr/>
            <p:nvPr/>
          </p:nvSpPr>
          <p:spPr>
            <a:xfrm>
              <a:off x="498645" y="2585797"/>
              <a:ext cx="2209800" cy="731782"/>
            </a:xfrm>
            <a:prstGeom prst="roundRect">
              <a:avLst/>
            </a:prstGeom>
            <a:solidFill>
              <a:srgbClr val="14B8A6"/>
            </a:solidFill>
            <a:ln>
              <a:solidFill>
                <a:srgbClr val="4ACCBF"/>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a:solidFill>
                    <a:schemeClr val="tx1"/>
                  </a:solidFill>
                </a:rPr>
                <a:t>Phase 1: Ingestion</a:t>
              </a:r>
            </a:p>
          </p:txBody>
        </p:sp>
        <p:sp>
          <p:nvSpPr>
            <p:cNvPr id="12" name="Rectangle: Rounded Corners 11">
              <a:extLst>
                <a:ext uri="{FF2B5EF4-FFF2-40B4-BE49-F238E27FC236}">
                  <a16:creationId xmlns:a16="http://schemas.microsoft.com/office/drawing/2014/main" id="{D06E682D-02B3-6781-43C2-7207846F2EE8}"/>
                </a:ext>
              </a:extLst>
            </p:cNvPr>
            <p:cNvSpPr/>
            <p:nvPr/>
          </p:nvSpPr>
          <p:spPr>
            <a:xfrm>
              <a:off x="3245655" y="2291057"/>
              <a:ext cx="2633980" cy="3038770"/>
            </a:xfrm>
            <a:prstGeom prst="roundRect">
              <a:avLst/>
            </a:prstGeom>
            <a:solidFill>
              <a:srgbClr val="DBEAFE"/>
            </a:solidFill>
            <a:ln>
              <a:solidFill>
                <a:srgbClr val="53C2EC"/>
              </a:solidFill>
            </a:ln>
          </p:spPr>
          <p:style>
            <a:lnRef idx="1">
              <a:schemeClr val="accent1"/>
            </a:lnRef>
            <a:fillRef idx="3">
              <a:schemeClr val="accent1"/>
            </a:fillRef>
            <a:effectRef idx="2">
              <a:schemeClr val="accent1"/>
            </a:effectRef>
            <a:fontRef idx="minor">
              <a:schemeClr val="lt1"/>
            </a:fontRef>
          </p:style>
          <p:txBody>
            <a:bodyPr rtlCol="0" anchor="b" anchorCtr="1"/>
            <a:lstStyle/>
            <a:p>
              <a:r>
                <a:rPr lang="en-US" b="1">
                  <a:solidFill>
                    <a:schemeClr val="tx1"/>
                  </a:solidFill>
                </a:rPr>
                <a:t>Feature Profiling</a:t>
              </a:r>
            </a:p>
          </p:txBody>
        </p:sp>
        <p:sp>
          <p:nvSpPr>
            <p:cNvPr id="13" name="Rectangle: Rounded Corners 12">
              <a:extLst>
                <a:ext uri="{FF2B5EF4-FFF2-40B4-BE49-F238E27FC236}">
                  <a16:creationId xmlns:a16="http://schemas.microsoft.com/office/drawing/2014/main" id="{76A4AAC8-9755-82E6-E358-98137A44AD4F}"/>
                </a:ext>
              </a:extLst>
            </p:cNvPr>
            <p:cNvSpPr/>
            <p:nvPr/>
          </p:nvSpPr>
          <p:spPr>
            <a:xfrm>
              <a:off x="3457745" y="2585797"/>
              <a:ext cx="2209800" cy="731782"/>
            </a:xfrm>
            <a:prstGeom prst="roundRect">
              <a:avLst/>
            </a:prstGeom>
            <a:solidFill>
              <a:srgbClr val="0EAFEB"/>
            </a:solidFill>
            <a:ln>
              <a:solidFill>
                <a:srgbClr val="53C2E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a:solidFill>
                    <a:schemeClr val="tx1"/>
                  </a:solidFill>
                </a:rPr>
                <a:t>Phase 2: Extraction</a:t>
              </a:r>
            </a:p>
          </p:txBody>
        </p:sp>
        <p:sp>
          <p:nvSpPr>
            <p:cNvPr id="15" name="Rectangle: Rounded Corners 14">
              <a:extLst>
                <a:ext uri="{FF2B5EF4-FFF2-40B4-BE49-F238E27FC236}">
                  <a16:creationId xmlns:a16="http://schemas.microsoft.com/office/drawing/2014/main" id="{5285B774-892F-8CDE-BE77-FCA6CD41E3B6}"/>
                </a:ext>
              </a:extLst>
            </p:cNvPr>
            <p:cNvSpPr/>
            <p:nvPr/>
          </p:nvSpPr>
          <p:spPr>
            <a:xfrm>
              <a:off x="6204755" y="2297110"/>
              <a:ext cx="2633980" cy="3032717"/>
            </a:xfrm>
            <a:prstGeom prst="roundRect">
              <a:avLst/>
            </a:prstGeom>
            <a:solidFill>
              <a:srgbClr val="EDE9FE"/>
            </a:solidFill>
            <a:ln>
              <a:solidFill>
                <a:srgbClr val="AB86F1"/>
              </a:solidFill>
            </a:ln>
          </p:spPr>
          <p:style>
            <a:lnRef idx="1">
              <a:schemeClr val="accent1"/>
            </a:lnRef>
            <a:fillRef idx="3">
              <a:schemeClr val="accent1"/>
            </a:fillRef>
            <a:effectRef idx="2">
              <a:schemeClr val="accent1"/>
            </a:effectRef>
            <a:fontRef idx="minor">
              <a:schemeClr val="lt1"/>
            </a:fontRef>
          </p:style>
          <p:txBody>
            <a:bodyPr rtlCol="0" anchor="b" anchorCtr="1"/>
            <a:lstStyle/>
            <a:p>
              <a:pPr algn="ctr"/>
              <a:r>
                <a:rPr lang="en-US" b="1">
                  <a:solidFill>
                    <a:schemeClr val="tx1"/>
                  </a:solidFill>
                </a:rPr>
                <a:t>Trust Calculation</a:t>
              </a:r>
            </a:p>
          </p:txBody>
        </p:sp>
        <p:sp>
          <p:nvSpPr>
            <p:cNvPr id="16" name="Rectangle: Rounded Corners 15">
              <a:extLst>
                <a:ext uri="{FF2B5EF4-FFF2-40B4-BE49-F238E27FC236}">
                  <a16:creationId xmlns:a16="http://schemas.microsoft.com/office/drawing/2014/main" id="{E58ADDDF-9E1C-85BC-7D5A-1C40344AE09F}"/>
                </a:ext>
              </a:extLst>
            </p:cNvPr>
            <p:cNvSpPr/>
            <p:nvPr/>
          </p:nvSpPr>
          <p:spPr>
            <a:xfrm>
              <a:off x="6416845" y="2591851"/>
              <a:ext cx="2209800" cy="731782"/>
            </a:xfrm>
            <a:prstGeom prst="roundRect">
              <a:avLst/>
            </a:prstGeom>
            <a:solidFill>
              <a:srgbClr val="8D57EF"/>
            </a:solidFill>
            <a:ln>
              <a:solidFill>
                <a:srgbClr val="AB86F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a:solidFill>
                    <a:schemeClr val="tx1"/>
                  </a:solidFill>
                </a:rPr>
                <a:t>Phase 3: Audit</a:t>
              </a:r>
            </a:p>
          </p:txBody>
        </p:sp>
        <p:sp>
          <p:nvSpPr>
            <p:cNvPr id="17" name="Rectangle: Rounded Corners 16">
              <a:extLst>
                <a:ext uri="{FF2B5EF4-FFF2-40B4-BE49-F238E27FC236}">
                  <a16:creationId xmlns:a16="http://schemas.microsoft.com/office/drawing/2014/main" id="{880AE1AD-4B7C-6D4E-956D-5B7DF6201449}"/>
                </a:ext>
              </a:extLst>
            </p:cNvPr>
            <p:cNvSpPr/>
            <p:nvPr/>
          </p:nvSpPr>
          <p:spPr>
            <a:xfrm>
              <a:off x="9162282" y="2291056"/>
              <a:ext cx="2633980" cy="3032717"/>
            </a:xfrm>
            <a:prstGeom prst="roundRect">
              <a:avLst/>
            </a:prstGeom>
            <a:solidFill>
              <a:srgbClr val="D1FAF7"/>
            </a:solidFill>
            <a:ln>
              <a:solidFill>
                <a:srgbClr val="97CFB0"/>
              </a:solidFill>
            </a:ln>
          </p:spPr>
          <p:style>
            <a:lnRef idx="1">
              <a:schemeClr val="accent1"/>
            </a:lnRef>
            <a:fillRef idx="3">
              <a:schemeClr val="accent1"/>
            </a:fillRef>
            <a:effectRef idx="2">
              <a:schemeClr val="accent1"/>
            </a:effectRef>
            <a:fontRef idx="minor">
              <a:schemeClr val="lt1"/>
            </a:fontRef>
          </p:style>
          <p:txBody>
            <a:bodyPr rtlCol="0" anchor="b" anchorCtr="1"/>
            <a:lstStyle/>
            <a:p>
              <a:r>
                <a:rPr lang="en-US" b="1">
                  <a:solidFill>
                    <a:schemeClr val="tx1"/>
                  </a:solidFill>
                </a:rPr>
                <a:t>Final Score</a:t>
              </a:r>
            </a:p>
          </p:txBody>
        </p:sp>
        <p:sp>
          <p:nvSpPr>
            <p:cNvPr id="18" name="Rectangle: Rounded Corners 17">
              <a:extLst>
                <a:ext uri="{FF2B5EF4-FFF2-40B4-BE49-F238E27FC236}">
                  <a16:creationId xmlns:a16="http://schemas.microsoft.com/office/drawing/2014/main" id="{4032A418-36F2-A6BA-81C0-DE2BDF4F9A64}"/>
                </a:ext>
              </a:extLst>
            </p:cNvPr>
            <p:cNvSpPr/>
            <p:nvPr/>
          </p:nvSpPr>
          <p:spPr>
            <a:xfrm>
              <a:off x="9374372" y="2585797"/>
              <a:ext cx="2209800" cy="731782"/>
            </a:xfrm>
            <a:prstGeom prst="roundRect">
              <a:avLst/>
            </a:prstGeom>
            <a:solidFill>
              <a:srgbClr val="16A34A"/>
            </a:solidFill>
            <a:ln>
              <a:solidFill>
                <a:srgbClr val="98D0B2"/>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a:solidFill>
                    <a:schemeClr val="tx1"/>
                  </a:solidFill>
                </a:rPr>
                <a:t>Phase 4: Validation</a:t>
              </a:r>
            </a:p>
          </p:txBody>
        </p:sp>
        <p:pic>
          <p:nvPicPr>
            <p:cNvPr id="22" name="Picture 21">
              <a:extLst>
                <a:ext uri="{FF2B5EF4-FFF2-40B4-BE49-F238E27FC236}">
                  <a16:creationId xmlns:a16="http://schemas.microsoft.com/office/drawing/2014/main" id="{1D55BA5A-B1D4-2FA9-66CA-5BC1008EDCB2}"/>
                </a:ext>
              </a:extLst>
            </p:cNvPr>
            <p:cNvPicPr>
              <a:picLocks noChangeAspect="1"/>
            </p:cNvPicPr>
            <p:nvPr/>
          </p:nvPicPr>
          <p:blipFill>
            <a:blip r:embed="rId3"/>
            <a:stretch>
              <a:fillRect/>
            </a:stretch>
          </p:blipFill>
          <p:spPr>
            <a:xfrm>
              <a:off x="1036106" y="3488758"/>
              <a:ext cx="1134877" cy="1134877"/>
            </a:xfrm>
            <a:prstGeom prst="rect">
              <a:avLst/>
            </a:prstGeom>
          </p:spPr>
        </p:pic>
        <p:pic>
          <p:nvPicPr>
            <p:cNvPr id="24" name="Picture 23">
              <a:extLst>
                <a:ext uri="{FF2B5EF4-FFF2-40B4-BE49-F238E27FC236}">
                  <a16:creationId xmlns:a16="http://schemas.microsoft.com/office/drawing/2014/main" id="{68F6C477-0CA5-4F4E-69F1-1FFC9DE6549D}"/>
                </a:ext>
              </a:extLst>
            </p:cNvPr>
            <p:cNvPicPr>
              <a:picLocks noChangeAspect="1"/>
            </p:cNvPicPr>
            <p:nvPr/>
          </p:nvPicPr>
          <p:blipFill>
            <a:blip r:embed="rId4"/>
            <a:stretch>
              <a:fillRect/>
            </a:stretch>
          </p:blipFill>
          <p:spPr>
            <a:xfrm>
              <a:off x="3995645" y="3489635"/>
              <a:ext cx="1134000" cy="1134000"/>
            </a:xfrm>
            <a:prstGeom prst="rect">
              <a:avLst/>
            </a:prstGeom>
          </p:spPr>
        </p:pic>
        <p:pic>
          <p:nvPicPr>
            <p:cNvPr id="7" name="Picture 6">
              <a:extLst>
                <a:ext uri="{FF2B5EF4-FFF2-40B4-BE49-F238E27FC236}">
                  <a16:creationId xmlns:a16="http://schemas.microsoft.com/office/drawing/2014/main" id="{62E5314A-5446-B0F9-985D-446C6E196F0C}"/>
                </a:ext>
              </a:extLst>
            </p:cNvPr>
            <p:cNvPicPr>
              <a:picLocks noChangeAspect="1"/>
            </p:cNvPicPr>
            <p:nvPr/>
          </p:nvPicPr>
          <p:blipFill>
            <a:blip r:embed="rId5"/>
            <a:stretch>
              <a:fillRect/>
            </a:stretch>
          </p:blipFill>
          <p:spPr>
            <a:xfrm>
              <a:off x="6954745" y="3489635"/>
              <a:ext cx="1134000" cy="1134000"/>
            </a:xfrm>
            <a:prstGeom prst="rect">
              <a:avLst/>
            </a:prstGeom>
          </p:spPr>
        </p:pic>
        <p:pic>
          <p:nvPicPr>
            <p:cNvPr id="9" name="Picture 8">
              <a:extLst>
                <a:ext uri="{FF2B5EF4-FFF2-40B4-BE49-F238E27FC236}">
                  <a16:creationId xmlns:a16="http://schemas.microsoft.com/office/drawing/2014/main" id="{CB2C8937-D5FA-42B9-4BF3-28DD69566649}"/>
                </a:ext>
              </a:extLst>
            </p:cNvPr>
            <p:cNvPicPr>
              <a:picLocks noChangeAspect="1"/>
            </p:cNvPicPr>
            <p:nvPr/>
          </p:nvPicPr>
          <p:blipFill>
            <a:blip r:embed="rId6"/>
            <a:stretch>
              <a:fillRect/>
            </a:stretch>
          </p:blipFill>
          <p:spPr>
            <a:xfrm>
              <a:off x="9912272" y="3489635"/>
              <a:ext cx="1134000" cy="1134000"/>
            </a:xfrm>
            <a:prstGeom prst="rect">
              <a:avLst/>
            </a:prstGeom>
          </p:spPr>
        </p:pic>
      </p:grpSp>
      <p:cxnSp>
        <p:nvCxnSpPr>
          <p:cNvPr id="20" name="Straight Arrow Connector 19">
            <a:extLst>
              <a:ext uri="{FF2B5EF4-FFF2-40B4-BE49-F238E27FC236}">
                <a16:creationId xmlns:a16="http://schemas.microsoft.com/office/drawing/2014/main" id="{4FCD2CA1-C797-A1FA-8480-1A7C84D1E440}"/>
              </a:ext>
            </a:extLst>
          </p:cNvPr>
          <p:cNvCxnSpPr>
            <a:cxnSpLocks/>
            <a:stCxn id="19" idx="0"/>
            <a:endCxn id="12" idx="0"/>
          </p:cNvCxnSpPr>
          <p:nvPr/>
        </p:nvCxnSpPr>
        <p:spPr>
          <a:xfrm rot="5400000" flipH="1" flipV="1">
            <a:off x="3137687" y="702185"/>
            <a:ext cx="12700" cy="2959100"/>
          </a:xfrm>
          <a:prstGeom prst="bentConnector3">
            <a:avLst>
              <a:gd name="adj1" fmla="val 5633567"/>
            </a:avLst>
          </a:prstGeom>
          <a:ln w="123825">
            <a:gradFill>
              <a:gsLst>
                <a:gs pos="0">
                  <a:srgbClr val="14B8A6"/>
                </a:gs>
                <a:gs pos="100000">
                  <a:srgbClr val="0EAFEB"/>
                </a:gs>
              </a:gsLst>
              <a:lin ang="5400000" scaled="1"/>
            </a:gradFill>
            <a:tailEnd type="triangle"/>
          </a:ln>
          <a:effectLst/>
        </p:spPr>
        <p:style>
          <a:lnRef idx="2">
            <a:schemeClr val="accent1"/>
          </a:lnRef>
          <a:fillRef idx="0">
            <a:schemeClr val="accent1"/>
          </a:fillRef>
          <a:effectRef idx="1">
            <a:schemeClr val="accent1"/>
          </a:effectRef>
          <a:fontRef idx="minor">
            <a:schemeClr val="tx1"/>
          </a:fontRef>
        </p:style>
      </p:cxnSp>
      <p:cxnSp>
        <p:nvCxnSpPr>
          <p:cNvPr id="50" name="Straight Arrow Connector 19">
            <a:extLst>
              <a:ext uri="{FF2B5EF4-FFF2-40B4-BE49-F238E27FC236}">
                <a16:creationId xmlns:a16="http://schemas.microsoft.com/office/drawing/2014/main" id="{BA4D92C3-1C87-AAF0-317C-8F1A55AA3245}"/>
              </a:ext>
            </a:extLst>
          </p:cNvPr>
          <p:cNvCxnSpPr>
            <a:cxnSpLocks/>
            <a:stCxn id="15" idx="0"/>
            <a:endCxn id="17" idx="0"/>
          </p:cNvCxnSpPr>
          <p:nvPr/>
        </p:nvCxnSpPr>
        <p:spPr>
          <a:xfrm rot="5400000" flipH="1" flipV="1">
            <a:off x="9052073" y="705998"/>
            <a:ext cx="6054" cy="2957527"/>
          </a:xfrm>
          <a:prstGeom prst="bentConnector3">
            <a:avLst>
              <a:gd name="adj1" fmla="val 10657433"/>
            </a:avLst>
          </a:prstGeom>
          <a:ln w="123825">
            <a:gradFill>
              <a:gsLst>
                <a:gs pos="0">
                  <a:srgbClr val="8D57EF"/>
                </a:gs>
                <a:gs pos="100000">
                  <a:srgbClr val="16A34A"/>
                </a:gs>
              </a:gsLst>
              <a:lin ang="5400000" scaled="1"/>
            </a:gradFill>
            <a:tailEnd type="triangle"/>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opBar"/>
          <p:cNvSpPr/>
          <p:nvPr/>
        </p:nvSpPr>
        <p:spPr>
          <a:xfrm>
            <a:off x="0" y="0"/>
            <a:ext cx="12191695" cy="256032"/>
          </a:xfrm>
          <a:prstGeom prst="rect">
            <a:avLst/>
          </a:prstGeom>
          <a:gradFill>
            <a:gsLst>
              <a:gs pos="0">
                <a:srgbClr val="0EAFEB"/>
              </a:gs>
              <a:gs pos="100000">
                <a:srgbClr val="0E21BB"/>
              </a:gs>
            </a:gsLst>
            <a:lin ang="10800000" scaled="0"/>
          </a:gradFill>
          <a:ln>
            <a:noFill/>
          </a:ln>
        </p:spPr>
        <p:txBody>
          <a:bodyPr rtlCol="0" anchor="ctr"/>
          <a:lstStyle/>
          <a:p>
            <a:pPr algn="ctr"/>
            <a:endParaRPr/>
          </a:p>
        </p:txBody>
      </p:sp>
      <p:sp>
        <p:nvSpPr>
          <p:cNvPr id="3" name="TealAccent"/>
          <p:cNvSpPr/>
          <p:nvPr/>
        </p:nvSpPr>
        <p:spPr>
          <a:xfrm>
            <a:off x="502920" y="658368"/>
            <a:ext cx="109728" cy="530352"/>
          </a:xfrm>
          <a:prstGeom prst="rect">
            <a:avLst/>
          </a:prstGeom>
          <a:solidFill>
            <a:srgbClr val="14B8A6"/>
          </a:solidFill>
          <a:ln>
            <a:noFill/>
          </a:ln>
        </p:spPr>
        <p:txBody>
          <a:bodyPr rtlCol="0" anchor="ctr"/>
          <a:lstStyle/>
          <a:p>
            <a:pPr algn="ctr"/>
            <a:endParaRPr/>
          </a:p>
        </p:txBody>
      </p:sp>
      <p:sp>
        <p:nvSpPr>
          <p:cNvPr id="4" name="TitleBox"/>
          <p:cNvSpPr txBox="1"/>
          <p:nvPr/>
        </p:nvSpPr>
        <p:spPr>
          <a:xfrm>
            <a:off x="685800" y="488492"/>
            <a:ext cx="10741280" cy="824841"/>
          </a:xfrm>
          <a:prstGeom prst="rect">
            <a:avLst/>
          </a:prstGeom>
          <a:noFill/>
        </p:spPr>
        <p:txBody>
          <a:bodyPr wrap="square" lIns="73152" tIns="73152" rIns="73152" bIns="73152" anchor="ctr">
            <a:spAutoFit/>
          </a:bodyPr>
          <a:lstStyle/>
          <a:p>
            <a:pPr algn="l">
              <a:defRPr sz="2800" b="1">
                <a:solidFill>
                  <a:srgbClr val="0F172A"/>
                </a:solidFill>
                <a:latin typeface="Aptos"/>
              </a:defRPr>
            </a:pPr>
            <a:r>
              <a:rPr lang="en-US" sz="4000"/>
              <a:t>Phase 1: Data Acquisition &amp; Pre-processing</a:t>
            </a:r>
          </a:p>
        </p:txBody>
      </p:sp>
      <p:sp>
        <p:nvSpPr>
          <p:cNvPr id="6" name="SlideNum"/>
          <p:cNvSpPr>
            <a:spLocks noGrp="1"/>
          </p:cNvSpPr>
          <p:nvPr>
            <p:ph type="sldNum" sz="quarter" idx="12"/>
          </p:nvPr>
        </p:nvSpPr>
        <p:spPr/>
        <p:txBody>
          <a:bodyPr/>
          <a:lstStyle/>
          <a:p>
            <a:fld id="{C1FF6DA9-008F-8B48-92A6-B652298478BF}" type="slidenum">
              <a:rPr lang="en-US" smtClean="0"/>
              <a:t>5</a:t>
            </a:fld>
            <a:endParaRPr lang="en-US"/>
          </a:p>
        </p:txBody>
      </p:sp>
      <p:sp>
        <p:nvSpPr>
          <p:cNvPr id="39" name="Rectangle: Rounded Corners 38">
            <a:extLst>
              <a:ext uri="{FF2B5EF4-FFF2-40B4-BE49-F238E27FC236}">
                <a16:creationId xmlns:a16="http://schemas.microsoft.com/office/drawing/2014/main" id="{B7B84A2A-E6D6-2E3F-DFD4-A149F1FED277}"/>
              </a:ext>
            </a:extLst>
          </p:cNvPr>
          <p:cNvSpPr/>
          <p:nvPr/>
        </p:nvSpPr>
        <p:spPr>
          <a:xfrm>
            <a:off x="502920" y="1715669"/>
            <a:ext cx="5457992" cy="2708031"/>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marL="342900" indent="-342900">
              <a:buFont typeface="Arial" panose="020B0604020202020204" pitchFamily="34" charset="0"/>
              <a:buChar char="•"/>
            </a:pPr>
            <a:endParaRPr lang="en-US" sz="2000" b="1">
              <a:solidFill>
                <a:srgbClr val="1C1B3A"/>
              </a:solidFill>
              <a:latin typeface="Arial" pitchFamily="34" charset="0"/>
              <a:ea typeface="Arial" pitchFamily="34" charset="-122"/>
              <a:cs typeface="Arial" pitchFamily="34" charset="-120"/>
            </a:endParaRPr>
          </a:p>
          <a:p>
            <a:pPr marL="342900" indent="-342900">
              <a:buFont typeface="Arial" panose="020B0604020202020204" pitchFamily="34" charset="0"/>
              <a:buChar char="•"/>
            </a:pPr>
            <a:r>
              <a:rPr lang="en-US" sz="2000" b="1">
                <a:solidFill>
                  <a:srgbClr val="1C1B3A"/>
                </a:solidFill>
                <a:latin typeface="Arial" pitchFamily="34" charset="0"/>
                <a:ea typeface="Arial" pitchFamily="34" charset="-122"/>
                <a:cs typeface="Arial" pitchFamily="34" charset="-120"/>
              </a:rPr>
              <a:t>Goal: </a:t>
            </a:r>
            <a:r>
              <a:rPr lang="en-US" sz="2000">
                <a:solidFill>
                  <a:srgbClr val="1C1B3A"/>
                </a:solidFill>
                <a:latin typeface="Arial" pitchFamily="34" charset="0"/>
                <a:ea typeface="Arial" pitchFamily="34" charset="-122"/>
                <a:cs typeface="Arial" pitchFamily="34" charset="-120"/>
              </a:rPr>
              <a:t>Turn a single journal request into a typed citation graph, broadcast as four parallel streams </a:t>
            </a:r>
          </a:p>
          <a:p>
            <a:pPr marL="342900" indent="-342900">
              <a:buFont typeface="Arial" panose="020B0604020202020204" pitchFamily="34" charset="0"/>
              <a:buChar char="•"/>
            </a:pPr>
            <a:endParaRPr lang="en-US"/>
          </a:p>
          <a:p>
            <a:pPr marL="342900" indent="-342900">
              <a:buFont typeface="Arial" panose="020B0604020202020204" pitchFamily="34" charset="0"/>
              <a:buChar char="•"/>
            </a:pPr>
            <a:r>
              <a:rPr lang="en-IL"/>
              <a:t>query the journal's papers and their citations, rebuild them as typed (</a:t>
            </a:r>
            <a:r>
              <a:rPr lang="en-US"/>
              <a:t>Source Node</a:t>
            </a:r>
            <a:r>
              <a:rPr lang="en-IL"/>
              <a:t>,</a:t>
            </a:r>
            <a:r>
              <a:rPr lang="en-US"/>
              <a:t>Relationship Type</a:t>
            </a:r>
            <a:r>
              <a:rPr lang="en-IL"/>
              <a:t>, </a:t>
            </a:r>
            <a:r>
              <a:rPr lang="en-US"/>
              <a:t>Target Node</a:t>
            </a:r>
            <a:r>
              <a:rPr lang="en-IL"/>
              <a:t>) triplets in a heterogeneous graph, then sort nodes by type and split each paper's details into four streams.</a:t>
            </a:r>
            <a:endParaRPr lang="en-US" sz="2000">
              <a:solidFill>
                <a:srgbClr val="1C1B3A"/>
              </a:solidFill>
              <a:latin typeface="Arial" pitchFamily="34" charset="0"/>
              <a:ea typeface="Arial" pitchFamily="34" charset="-122"/>
              <a:cs typeface="Arial" pitchFamily="34" charset="-120"/>
            </a:endParaRPr>
          </a:p>
          <a:p>
            <a:pPr marL="342900" indent="-342900">
              <a:buFont typeface="Arial" panose="020B0604020202020204" pitchFamily="34" charset="0"/>
              <a:buChar char="•"/>
            </a:pPr>
            <a:endParaRPr lang="en-US" sz="2000" b="1"/>
          </a:p>
        </p:txBody>
      </p:sp>
      <p:pic>
        <p:nvPicPr>
          <p:cNvPr id="13" name="Picture 12">
            <a:extLst>
              <a:ext uri="{FF2B5EF4-FFF2-40B4-BE49-F238E27FC236}">
                <a16:creationId xmlns:a16="http://schemas.microsoft.com/office/drawing/2014/main" id="{FE0C18C7-1936-694E-1412-501F35523442}"/>
              </a:ext>
            </a:extLst>
          </p:cNvPr>
          <p:cNvPicPr>
            <a:picLocks noChangeAspect="1"/>
          </p:cNvPicPr>
          <p:nvPr/>
        </p:nvPicPr>
        <p:blipFill>
          <a:blip r:embed="rId3"/>
          <a:stretch>
            <a:fillRect/>
          </a:stretch>
        </p:blipFill>
        <p:spPr>
          <a:xfrm>
            <a:off x="7880734" y="1326491"/>
            <a:ext cx="3034535" cy="504301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opBar"/>
          <p:cNvSpPr/>
          <p:nvPr/>
        </p:nvSpPr>
        <p:spPr>
          <a:xfrm>
            <a:off x="0" y="0"/>
            <a:ext cx="12191695" cy="256032"/>
          </a:xfrm>
          <a:prstGeom prst="rect">
            <a:avLst/>
          </a:prstGeom>
          <a:gradFill>
            <a:gsLst>
              <a:gs pos="0">
                <a:srgbClr val="0EAFEB"/>
              </a:gs>
              <a:gs pos="100000">
                <a:srgbClr val="0E21BB"/>
              </a:gs>
            </a:gsLst>
            <a:lin ang="10800000" scaled="0"/>
          </a:gradFill>
          <a:ln>
            <a:noFill/>
          </a:ln>
        </p:spPr>
        <p:txBody>
          <a:bodyPr rtlCol="0" anchor="ctr"/>
          <a:lstStyle/>
          <a:p>
            <a:pPr algn="ctr"/>
            <a:endParaRPr/>
          </a:p>
        </p:txBody>
      </p:sp>
      <p:sp>
        <p:nvSpPr>
          <p:cNvPr id="3" name="TealAccent"/>
          <p:cNvSpPr/>
          <p:nvPr/>
        </p:nvSpPr>
        <p:spPr>
          <a:xfrm>
            <a:off x="502920" y="658368"/>
            <a:ext cx="109728" cy="530352"/>
          </a:xfrm>
          <a:prstGeom prst="rect">
            <a:avLst/>
          </a:prstGeom>
          <a:solidFill>
            <a:srgbClr val="14B8A6"/>
          </a:solidFill>
          <a:ln>
            <a:noFill/>
          </a:ln>
        </p:spPr>
        <p:txBody>
          <a:bodyPr rtlCol="0" anchor="ctr"/>
          <a:lstStyle/>
          <a:p>
            <a:pPr algn="ctr"/>
            <a:endParaRPr/>
          </a:p>
        </p:txBody>
      </p:sp>
      <p:sp>
        <p:nvSpPr>
          <p:cNvPr id="4" name="TitleBox"/>
          <p:cNvSpPr txBox="1"/>
          <p:nvPr/>
        </p:nvSpPr>
        <p:spPr>
          <a:xfrm>
            <a:off x="685800" y="488492"/>
            <a:ext cx="10741280" cy="824841"/>
          </a:xfrm>
          <a:prstGeom prst="rect">
            <a:avLst/>
          </a:prstGeom>
          <a:noFill/>
        </p:spPr>
        <p:txBody>
          <a:bodyPr wrap="square" lIns="73152" tIns="73152" rIns="73152" bIns="73152" anchor="ctr">
            <a:spAutoFit/>
          </a:bodyPr>
          <a:lstStyle/>
          <a:p>
            <a:pPr algn="l">
              <a:defRPr sz="2800" b="1">
                <a:solidFill>
                  <a:srgbClr val="0F172A"/>
                </a:solidFill>
                <a:latin typeface="Aptos"/>
              </a:defRPr>
            </a:pPr>
            <a:r>
              <a:rPr lang="en-US" sz="4000"/>
              <a:t>Phase 2: Multi-Modal Feature Extraction</a:t>
            </a:r>
          </a:p>
        </p:txBody>
      </p:sp>
      <p:sp>
        <p:nvSpPr>
          <p:cNvPr id="6" name="SlideNum"/>
          <p:cNvSpPr>
            <a:spLocks noGrp="1"/>
          </p:cNvSpPr>
          <p:nvPr>
            <p:ph type="sldNum" sz="quarter" idx="12"/>
          </p:nvPr>
        </p:nvSpPr>
        <p:spPr/>
        <p:txBody>
          <a:bodyPr/>
          <a:lstStyle/>
          <a:p>
            <a:fld id="{C1FF6DA9-008F-8B48-92A6-B652298478BF}" type="slidenum">
              <a:rPr lang="en-US" smtClean="0"/>
              <a:t>6</a:t>
            </a:fld>
            <a:endParaRPr lang="en-US"/>
          </a:p>
        </p:txBody>
      </p:sp>
      <mc:AlternateContent xmlns:mc="http://schemas.openxmlformats.org/markup-compatibility/2006" xmlns:a14="http://schemas.microsoft.com/office/drawing/2010/main">
        <mc:Choice Requires="a14">
          <p:sp>
            <p:nvSpPr>
              <p:cNvPr id="8" name="Rectangle: Rounded Corners 7">
                <a:extLst>
                  <a:ext uri="{FF2B5EF4-FFF2-40B4-BE49-F238E27FC236}">
                    <a16:creationId xmlns:a16="http://schemas.microsoft.com/office/drawing/2014/main" id="{0C04CAA7-124B-AE4D-732F-AB431B722998}"/>
                  </a:ext>
                </a:extLst>
              </p:cNvPr>
              <p:cNvSpPr/>
              <p:nvPr/>
            </p:nvSpPr>
            <p:spPr>
              <a:xfrm>
                <a:off x="502920" y="1617183"/>
                <a:ext cx="5491480" cy="2387600"/>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marL="342900" indent="-342900">
                  <a:buFont typeface="Arial" panose="020B0604020202020204" pitchFamily="34" charset="0"/>
                  <a:buChar char="•"/>
                </a:pPr>
                <a:r>
                  <a:rPr lang="en-US" b="1">
                    <a:latin typeface="Arial" pitchFamily="34" charset="0"/>
                  </a:rPr>
                  <a:t>Goal: </a:t>
                </a:r>
                <a:r>
                  <a:rPr lang="en-US">
                    <a:latin typeface="Arial" pitchFamily="34" charset="0"/>
                  </a:rPr>
                  <a:t>Concatenate scores into one trust head vector for each citation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𝑍</m:t>
                        </m:r>
                      </m:e>
                      <m:sub>
                        <m:r>
                          <a:rPr lang="en-US" i="1">
                            <a:latin typeface="Cambria Math" panose="02040503050406030204" pitchFamily="18" charset="0"/>
                          </a:rPr>
                          <m:t>𝑒</m:t>
                        </m:r>
                      </m:sub>
                    </m:sSub>
                  </m:oMath>
                </a14:m>
                <a:r>
                  <a:rPr lang="en-US">
                    <a:latin typeface="Arial" pitchFamily="34" charset="0"/>
                  </a:rPr>
                  <a:t>):</a:t>
                </a:r>
              </a:p>
              <a:p>
                <a:pPr marL="342900" indent="-342900">
                  <a:buFont typeface="Arial" panose="020B0604020202020204" pitchFamily="34" charset="0"/>
                  <a:buChar char="•"/>
                </a:pPr>
                <a:endParaRPr lang="en-US">
                  <a:latin typeface="Arial" pitchFamily="34" charset="0"/>
                </a:endParaRPr>
              </a:p>
              <a:p>
                <a:pPr/>
                <a14:m>
                  <m:oMathPara xmlns:m="http://schemas.openxmlformats.org/officeDocument/2006/math">
                    <m:oMathParaPr>
                      <m:jc m:val="centerGroup"/>
                    </m:oMathParaPr>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𝒁</m:t>
                          </m:r>
                        </m:e>
                        <m:sub>
                          <m:r>
                            <a:rPr lang="en-US" b="1" i="1">
                              <a:latin typeface="Cambria Math" panose="02040503050406030204" pitchFamily="18" charset="0"/>
                            </a:rPr>
                            <m:t>𝒆</m:t>
                          </m:r>
                        </m:sub>
                      </m:sSub>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𝜿</m:t>
                          </m:r>
                        </m:e>
                        <m:sub>
                          <m:r>
                            <a:rPr lang="en-US" b="1" i="1">
                              <a:latin typeface="Cambria Math" panose="02040503050406030204" pitchFamily="18" charset="0"/>
                            </a:rPr>
                            <m:t>𝒆</m:t>
                          </m:r>
                        </m:sub>
                      </m:sSub>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𝜸</m:t>
                          </m:r>
                        </m:e>
                        <m:sub>
                          <m:r>
                            <a:rPr lang="en-US" b="1" i="1">
                              <a:latin typeface="Cambria Math" panose="02040503050406030204" pitchFamily="18" charset="0"/>
                            </a:rPr>
                            <m:t>𝒈𝒄𝒏</m:t>
                          </m:r>
                        </m:sub>
                      </m:sSub>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𝜹</m:t>
                          </m:r>
                        </m:e>
                        <m:sub>
                          <m:r>
                            <a:rPr lang="en-US" b="1" i="1">
                              <a:latin typeface="Cambria Math" panose="02040503050406030204" pitchFamily="18" charset="0"/>
                            </a:rPr>
                            <m:t>𝒕𝒆𝒎𝒑</m:t>
                          </m:r>
                        </m:sub>
                      </m:sSub>
                      <m:r>
                        <a:rPr lang="en-US" b="1" i="1">
                          <a:latin typeface="Cambria Math" panose="02040503050406030204" pitchFamily="18" charset="0"/>
                        </a:rPr>
                        <m:t>⊕</m:t>
                      </m:r>
                      <m:sSub>
                        <m:sSubPr>
                          <m:ctrlPr>
                            <a:rPr lang="en-US" b="1" i="1">
                              <a:latin typeface="Cambria Math" panose="02040503050406030204" pitchFamily="18" charset="0"/>
                            </a:rPr>
                          </m:ctrlPr>
                        </m:sSubPr>
                        <m:e>
                          <m:r>
                            <a:rPr lang="en-US" b="1" i="1">
                              <a:latin typeface="Cambria Math" panose="02040503050406030204" pitchFamily="18" charset="0"/>
                            </a:rPr>
                            <m:t>𝜽</m:t>
                          </m:r>
                        </m:e>
                        <m:sub>
                          <m:r>
                            <a:rPr lang="en-US" b="1" i="1">
                              <a:latin typeface="Cambria Math" panose="02040503050406030204" pitchFamily="18" charset="0"/>
                            </a:rPr>
                            <m:t>𝒔𝒆𝒎</m:t>
                          </m:r>
                        </m:sub>
                      </m:sSub>
                      <m:r>
                        <a:rPr lang="en-US" b="1" i="1">
                          <a:latin typeface="Cambria Math" panose="02040503050406030204" pitchFamily="18" charset="0"/>
                        </a:rPr>
                        <m:t>]</m:t>
                      </m:r>
                    </m:oMath>
                  </m:oMathPara>
                </a14:m>
                <a:endParaRPr lang="en-US" b="1"/>
              </a:p>
              <a:p>
                <a:endParaRPr lang="en-US" b="1">
                  <a:latin typeface="Arial" pitchFamily="34" charset="0"/>
                </a:endParaRPr>
              </a:p>
              <a:p>
                <a:pPr marL="342900" indent="-342900">
                  <a:buFont typeface="Arial" panose="020B0604020202020204" pitchFamily="34" charset="0"/>
                  <a:buChar char="•"/>
                </a:pPr>
                <a:r>
                  <a:rPr lang="en-US" b="1">
                    <a:latin typeface="Arial" pitchFamily="34" charset="0"/>
                  </a:rPr>
                  <a:t>4 parallel extractors: </a:t>
                </a:r>
                <a:r>
                  <a:rPr lang="en-US">
                    <a:latin typeface="Arial" pitchFamily="34" charset="0"/>
                  </a:rPr>
                  <a:t>ORC geometry, ORCA GCN, Temporal encoder, Semantic NLP</a:t>
                </a:r>
              </a:p>
            </p:txBody>
          </p:sp>
        </mc:Choice>
        <mc:Fallback xmlns="">
          <p:sp>
            <p:nvSpPr>
              <p:cNvPr id="8" name="Rectangle: Rounded Corners 7">
                <a:extLst>
                  <a:ext uri="{FF2B5EF4-FFF2-40B4-BE49-F238E27FC236}">
                    <a16:creationId xmlns:a16="http://schemas.microsoft.com/office/drawing/2014/main" id="{0C04CAA7-124B-AE4D-732F-AB431B722998}"/>
                  </a:ext>
                </a:extLst>
              </p:cNvPr>
              <p:cNvSpPr>
                <a:spLocks noRot="1" noChangeAspect="1" noMove="1" noResize="1" noEditPoints="1" noAdjustHandles="1" noChangeArrowheads="1" noChangeShapeType="1" noTextEdit="1"/>
              </p:cNvSpPr>
              <p:nvPr/>
            </p:nvSpPr>
            <p:spPr>
              <a:xfrm>
                <a:off x="502920" y="1617183"/>
                <a:ext cx="5491480" cy="2387600"/>
              </a:xfrm>
              <a:prstGeom prst="roundRect">
                <a:avLst/>
              </a:prstGeom>
              <a:blipFill>
                <a:blip r:embed="rId3"/>
                <a:stretch>
                  <a:fillRect/>
                </a:stretch>
              </a:blipFill>
            </p:spPr>
            <p:txBody>
              <a:bodyPr/>
              <a:lstStyle/>
              <a:p>
                <a:r>
                  <a:rPr lang="en-US">
                    <a:noFill/>
                  </a:rPr>
                  <a:t> </a:t>
                </a:r>
              </a:p>
            </p:txBody>
          </p:sp>
        </mc:Fallback>
      </mc:AlternateContent>
      <p:pic>
        <p:nvPicPr>
          <p:cNvPr id="14" name="Picture 13">
            <a:extLst>
              <a:ext uri="{FF2B5EF4-FFF2-40B4-BE49-F238E27FC236}">
                <a16:creationId xmlns:a16="http://schemas.microsoft.com/office/drawing/2014/main" id="{48788843-B6EC-069F-35AD-A270F19CFC97}"/>
              </a:ext>
            </a:extLst>
          </p:cNvPr>
          <p:cNvPicPr>
            <a:picLocks noChangeAspect="1"/>
          </p:cNvPicPr>
          <p:nvPr/>
        </p:nvPicPr>
        <p:blipFill>
          <a:blip r:embed="rId4"/>
          <a:srcRect l="-50" t="666" r="-133" b="13147"/>
          <a:stretch>
            <a:fillRect/>
          </a:stretch>
        </p:blipFill>
        <p:spPr>
          <a:xfrm>
            <a:off x="6095847" y="1502041"/>
            <a:ext cx="5793329" cy="4665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opBar"/>
          <p:cNvSpPr/>
          <p:nvPr/>
        </p:nvSpPr>
        <p:spPr>
          <a:xfrm>
            <a:off x="0" y="9832"/>
            <a:ext cx="12191695" cy="256032"/>
          </a:xfrm>
          <a:prstGeom prst="rect">
            <a:avLst/>
          </a:prstGeom>
          <a:gradFill>
            <a:gsLst>
              <a:gs pos="0">
                <a:srgbClr val="0EAFEB"/>
              </a:gs>
              <a:gs pos="100000">
                <a:srgbClr val="0E21BB"/>
              </a:gs>
            </a:gsLst>
            <a:lin ang="10800000" scaled="0"/>
          </a:gradFill>
          <a:ln>
            <a:noFill/>
          </a:ln>
        </p:spPr>
        <p:txBody>
          <a:bodyPr rtlCol="0" anchor="ctr"/>
          <a:lstStyle/>
          <a:p>
            <a:pPr algn="ctr"/>
            <a:endParaRPr/>
          </a:p>
        </p:txBody>
      </p:sp>
      <p:sp>
        <p:nvSpPr>
          <p:cNvPr id="3" name="TealAccent"/>
          <p:cNvSpPr/>
          <p:nvPr/>
        </p:nvSpPr>
        <p:spPr>
          <a:xfrm>
            <a:off x="502920" y="658368"/>
            <a:ext cx="109728" cy="530352"/>
          </a:xfrm>
          <a:prstGeom prst="rect">
            <a:avLst/>
          </a:prstGeom>
          <a:solidFill>
            <a:srgbClr val="14B8A6"/>
          </a:solidFill>
          <a:ln>
            <a:noFill/>
          </a:ln>
        </p:spPr>
        <p:txBody>
          <a:bodyPr rtlCol="0" anchor="ctr"/>
          <a:lstStyle/>
          <a:p>
            <a:pPr algn="ctr"/>
            <a:endParaRPr/>
          </a:p>
        </p:txBody>
      </p:sp>
      <p:sp>
        <p:nvSpPr>
          <p:cNvPr id="4" name="TitleBox"/>
          <p:cNvSpPr txBox="1"/>
          <p:nvPr/>
        </p:nvSpPr>
        <p:spPr>
          <a:xfrm>
            <a:off x="685800" y="519269"/>
            <a:ext cx="10741280" cy="763286"/>
          </a:xfrm>
          <a:prstGeom prst="rect">
            <a:avLst/>
          </a:prstGeom>
          <a:noFill/>
        </p:spPr>
        <p:txBody>
          <a:bodyPr wrap="square" lIns="73152" tIns="73152" rIns="73152" bIns="73152" anchor="ctr">
            <a:spAutoFit/>
          </a:bodyPr>
          <a:lstStyle/>
          <a:p>
            <a:pPr algn="l">
              <a:defRPr sz="2800" b="1">
                <a:solidFill>
                  <a:srgbClr val="0F172A"/>
                </a:solidFill>
                <a:latin typeface="Aptos"/>
              </a:defRPr>
            </a:pPr>
            <a:r>
              <a:rPr lang="en-US" sz="4000"/>
              <a:t>Phase 3: Neural Audit Mechanism</a:t>
            </a:r>
          </a:p>
        </p:txBody>
      </p:sp>
      <p:sp>
        <p:nvSpPr>
          <p:cNvPr id="6" name="SlideNum"/>
          <p:cNvSpPr>
            <a:spLocks noGrp="1"/>
          </p:cNvSpPr>
          <p:nvPr>
            <p:ph type="sldNum" sz="quarter" idx="12"/>
          </p:nvPr>
        </p:nvSpPr>
        <p:spPr/>
        <p:txBody>
          <a:bodyPr/>
          <a:lstStyle/>
          <a:p>
            <a:fld id="{C1FF6DA9-008F-8B48-92A6-B652298478BF}" type="slidenum">
              <a:rPr lang="en-US" smtClean="0"/>
              <a:t>7</a:t>
            </a:fld>
            <a:endParaRPr lang="en-US"/>
          </a:p>
        </p:txBody>
      </p:sp>
      <mc:AlternateContent xmlns:mc="http://schemas.openxmlformats.org/markup-compatibility/2006" xmlns:a14="http://schemas.microsoft.com/office/drawing/2010/main">
        <mc:Choice Requires="a14">
          <p:sp>
            <p:nvSpPr>
              <p:cNvPr id="5" name="Rectangle: Rounded Corners 4">
                <a:extLst>
                  <a:ext uri="{FF2B5EF4-FFF2-40B4-BE49-F238E27FC236}">
                    <a16:creationId xmlns:a16="http://schemas.microsoft.com/office/drawing/2014/main" id="{FC19D8B5-E3FA-BE4D-3F71-6875CAFE6CA4}"/>
                  </a:ext>
                </a:extLst>
              </p:cNvPr>
              <p:cNvSpPr/>
              <p:nvPr/>
            </p:nvSpPr>
            <p:spPr>
              <a:xfrm>
                <a:off x="685800" y="1938387"/>
                <a:ext cx="5383483" cy="76328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marL="342900" indent="-342900">
                  <a:buFont typeface="Arial" panose="020B0604020202020204" pitchFamily="34" charset="0"/>
                  <a:buChar char="•"/>
                </a:pPr>
                <a:r>
                  <a:rPr lang="en-US" sz="2000" b="1"/>
                  <a:t>Goal: </a:t>
                </a:r>
                <a:r>
                  <a:rPr lang="en-US" sz="2000"/>
                  <a:t>Convert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𝑍</m:t>
                        </m:r>
                      </m:e>
                      <m:sub>
                        <m:r>
                          <a:rPr lang="en-US" sz="2000" b="0" i="1" smtClean="0">
                            <a:latin typeface="Cambria Math" panose="02040503050406030204" pitchFamily="18" charset="0"/>
                          </a:rPr>
                          <m:t>𝑒</m:t>
                        </m:r>
                      </m:sub>
                    </m:sSub>
                  </m:oMath>
                </a14:m>
                <a:r>
                  <a:rPr lang="en-US" sz="2000"/>
                  <a:t> into a trust weight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𝑤</m:t>
                        </m:r>
                      </m:e>
                      <m:sub>
                        <m:r>
                          <a:rPr lang="en-US" sz="2000" b="0" i="1" smtClean="0">
                            <a:latin typeface="Cambria Math" panose="02040503050406030204" pitchFamily="18" charset="0"/>
                          </a:rPr>
                          <m:t>𝑒</m:t>
                        </m:r>
                      </m:sub>
                    </m:sSub>
                  </m:oMath>
                </a14:m>
                <a:endParaRPr lang="en-US" sz="2000"/>
              </a:p>
            </p:txBody>
          </p:sp>
        </mc:Choice>
        <mc:Fallback xmlns="">
          <p:sp>
            <p:nvSpPr>
              <p:cNvPr id="5" name="Rectangle: Rounded Corners 4">
                <a:extLst>
                  <a:ext uri="{FF2B5EF4-FFF2-40B4-BE49-F238E27FC236}">
                    <a16:creationId xmlns:a16="http://schemas.microsoft.com/office/drawing/2014/main" id="{FC19D8B5-E3FA-BE4D-3F71-6875CAFE6CA4}"/>
                  </a:ext>
                </a:extLst>
              </p:cNvPr>
              <p:cNvSpPr>
                <a:spLocks noRot="1" noChangeAspect="1" noMove="1" noResize="1" noEditPoints="1" noAdjustHandles="1" noChangeArrowheads="1" noChangeShapeType="1" noTextEdit="1"/>
              </p:cNvSpPr>
              <p:nvPr/>
            </p:nvSpPr>
            <p:spPr>
              <a:xfrm>
                <a:off x="685800" y="1938387"/>
                <a:ext cx="5383483" cy="763286"/>
              </a:xfrm>
              <a:prstGeom prst="roundRect">
                <a:avLst/>
              </a:prstGeom>
              <a:blipFill>
                <a:blip r:embed="rId3"/>
                <a:stretch>
                  <a:fillRect l="-113"/>
                </a:stretch>
              </a:blipFill>
            </p:spPr>
            <p:txBody>
              <a:bodyPr/>
              <a:lstStyle/>
              <a:p>
                <a:r>
                  <a:rPr lang="en-US">
                    <a:noFill/>
                  </a:rPr>
                  <a:t> </a:t>
                </a:r>
              </a:p>
            </p:txBody>
          </p:sp>
        </mc:Fallback>
      </mc:AlternateContent>
      <p:pic>
        <p:nvPicPr>
          <p:cNvPr id="12" name="Graphic 11">
            <a:extLst>
              <a:ext uri="{FF2B5EF4-FFF2-40B4-BE49-F238E27FC236}">
                <a16:creationId xmlns:a16="http://schemas.microsoft.com/office/drawing/2014/main" id="{37A138E7-EFA6-BB99-9295-6EC2E46AAA85}"/>
              </a:ext>
            </a:extLst>
          </p:cNvPr>
          <p:cNvPicPr>
            <a:picLocks noChangeAspect="1"/>
          </p:cNvPicPr>
          <p:nvPr/>
        </p:nvPicPr>
        <p:blipFill>
          <a:blip>
            <a:extLst>
              <a:ext uri="{96DAC541-7B7A-43D3-8B79-37D633B846F1}">
                <asvg:svgBlip xmlns:asvg="http://schemas.microsoft.com/office/drawing/2016/SVG/main" r:embed="rId4"/>
              </a:ext>
            </a:extLst>
          </a:blip>
          <a:srcRect b="43146"/>
          <a:stretch>
            <a:fillRect/>
          </a:stretch>
        </p:blipFill>
        <p:spPr>
          <a:xfrm>
            <a:off x="6322867" y="1356064"/>
            <a:ext cx="5659201" cy="466373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opBar"/>
          <p:cNvSpPr/>
          <p:nvPr/>
        </p:nvSpPr>
        <p:spPr>
          <a:xfrm>
            <a:off x="0" y="0"/>
            <a:ext cx="12191695" cy="256032"/>
          </a:xfrm>
          <a:prstGeom prst="rect">
            <a:avLst/>
          </a:prstGeom>
          <a:gradFill>
            <a:gsLst>
              <a:gs pos="0">
                <a:srgbClr val="0EAFEB"/>
              </a:gs>
              <a:gs pos="100000">
                <a:srgbClr val="0E21BB"/>
              </a:gs>
            </a:gsLst>
            <a:lin ang="10800000" scaled="0"/>
          </a:gradFill>
          <a:ln>
            <a:noFill/>
          </a:ln>
        </p:spPr>
        <p:txBody>
          <a:bodyPr rtlCol="0" anchor="ctr"/>
          <a:lstStyle/>
          <a:p>
            <a:pPr algn="ctr"/>
            <a:endParaRPr/>
          </a:p>
        </p:txBody>
      </p:sp>
      <p:sp>
        <p:nvSpPr>
          <p:cNvPr id="3" name="TealAccent"/>
          <p:cNvSpPr/>
          <p:nvPr/>
        </p:nvSpPr>
        <p:spPr>
          <a:xfrm>
            <a:off x="502920" y="658368"/>
            <a:ext cx="109728" cy="530352"/>
          </a:xfrm>
          <a:prstGeom prst="rect">
            <a:avLst/>
          </a:prstGeom>
          <a:solidFill>
            <a:srgbClr val="14B8A6"/>
          </a:solidFill>
          <a:ln>
            <a:noFill/>
          </a:ln>
        </p:spPr>
        <p:txBody>
          <a:bodyPr rtlCol="0" anchor="ctr"/>
          <a:lstStyle/>
          <a:p>
            <a:pPr algn="ctr"/>
            <a:endParaRPr/>
          </a:p>
        </p:txBody>
      </p:sp>
      <p:sp>
        <p:nvSpPr>
          <p:cNvPr id="4" name="TitleBox"/>
          <p:cNvSpPr txBox="1"/>
          <p:nvPr/>
        </p:nvSpPr>
        <p:spPr>
          <a:xfrm>
            <a:off x="685800" y="519269"/>
            <a:ext cx="10741280" cy="763286"/>
          </a:xfrm>
          <a:prstGeom prst="rect">
            <a:avLst/>
          </a:prstGeom>
          <a:noFill/>
        </p:spPr>
        <p:txBody>
          <a:bodyPr wrap="square" lIns="73152" tIns="73152" rIns="73152" bIns="73152" anchor="ctr">
            <a:spAutoFit/>
          </a:bodyPr>
          <a:lstStyle/>
          <a:p>
            <a:pPr algn="l">
              <a:defRPr sz="2800" b="1">
                <a:solidFill>
                  <a:srgbClr val="0F172A"/>
                </a:solidFill>
                <a:latin typeface="Aptos"/>
              </a:defRPr>
            </a:pPr>
            <a:r>
              <a:rPr lang="en-US" sz="4000"/>
              <a:t>Phase 4: Impact Calculation &amp; Validation</a:t>
            </a:r>
          </a:p>
        </p:txBody>
      </p:sp>
      <p:sp>
        <p:nvSpPr>
          <p:cNvPr id="6" name="SlideNum"/>
          <p:cNvSpPr>
            <a:spLocks noGrp="1"/>
          </p:cNvSpPr>
          <p:nvPr>
            <p:ph type="sldNum" sz="quarter" idx="12"/>
          </p:nvPr>
        </p:nvSpPr>
        <p:spPr/>
        <p:txBody>
          <a:bodyPr/>
          <a:lstStyle/>
          <a:p>
            <a:fld id="{C1FF6DA9-008F-8B48-92A6-B652298478BF}" type="slidenum">
              <a:rPr lang="en-US" smtClean="0"/>
              <a:t>8</a:t>
            </a:fld>
            <a:endParaRPr lang="en-US"/>
          </a:p>
        </p:txBody>
      </p:sp>
      <p:sp>
        <p:nvSpPr>
          <p:cNvPr id="9" name="Rectangle: Rounded Corners 8">
            <a:extLst>
              <a:ext uri="{FF2B5EF4-FFF2-40B4-BE49-F238E27FC236}">
                <a16:creationId xmlns:a16="http://schemas.microsoft.com/office/drawing/2014/main" id="{D7BDFE3B-E899-A010-E07C-034E59EEE403}"/>
              </a:ext>
            </a:extLst>
          </p:cNvPr>
          <p:cNvSpPr/>
          <p:nvPr/>
        </p:nvSpPr>
        <p:spPr>
          <a:xfrm>
            <a:off x="612648" y="1799679"/>
            <a:ext cx="4927746" cy="132519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marL="342900" indent="-342900">
              <a:buFont typeface="Arial" panose="020B0604020202020204" pitchFamily="34" charset="0"/>
              <a:buChar char="•"/>
            </a:pPr>
            <a:r>
              <a:rPr lang="en-US" sz="1600" b="1"/>
              <a:t>Goal:</a:t>
            </a:r>
            <a:r>
              <a:rPr lang="en-US" sz="1600"/>
              <a:t> Normalize citation quality for fair cross disciplinary comparison</a:t>
            </a:r>
          </a:p>
          <a:p>
            <a:pPr marL="342900" indent="-342900">
              <a:buFont typeface="Arial" panose="020B0604020202020204" pitchFamily="34" charset="0"/>
              <a:buChar char="•"/>
            </a:pPr>
            <a:r>
              <a:rPr lang="en-US" sz="1600"/>
              <a:t>Calculates a trust weighted sum and normalizes against the field wide average</a:t>
            </a:r>
          </a:p>
        </p:txBody>
      </p:sp>
      <p:pic>
        <p:nvPicPr>
          <p:cNvPr id="11" name="Picture 10">
            <a:extLst>
              <a:ext uri="{FF2B5EF4-FFF2-40B4-BE49-F238E27FC236}">
                <a16:creationId xmlns:a16="http://schemas.microsoft.com/office/drawing/2014/main" id="{AEA8BFD6-BC6B-E954-0E75-8101D9ED8AC1}"/>
              </a:ext>
            </a:extLst>
          </p:cNvPr>
          <p:cNvPicPr>
            <a:picLocks noChangeAspect="1"/>
          </p:cNvPicPr>
          <p:nvPr/>
        </p:nvPicPr>
        <p:blipFill>
          <a:blip r:embed="rId3"/>
          <a:srcRect t="26016"/>
          <a:stretch>
            <a:fillRect/>
          </a:stretch>
        </p:blipFill>
        <p:spPr>
          <a:xfrm>
            <a:off x="6206690" y="1740467"/>
            <a:ext cx="5659200" cy="415797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opBar"/>
          <p:cNvSpPr/>
          <p:nvPr/>
        </p:nvSpPr>
        <p:spPr>
          <a:xfrm>
            <a:off x="0" y="0"/>
            <a:ext cx="12191695" cy="256032"/>
          </a:xfrm>
          <a:prstGeom prst="rect">
            <a:avLst/>
          </a:prstGeom>
          <a:gradFill>
            <a:gsLst>
              <a:gs pos="0">
                <a:srgbClr val="0EAFEB"/>
              </a:gs>
              <a:gs pos="100000">
                <a:srgbClr val="0E21BB"/>
              </a:gs>
            </a:gsLst>
            <a:lin ang="10800000" scaled="0"/>
          </a:gradFill>
          <a:ln>
            <a:noFill/>
          </a:ln>
        </p:spPr>
        <p:txBody>
          <a:bodyPr rtlCol="0" anchor="ctr"/>
          <a:lstStyle/>
          <a:p>
            <a:pPr algn="ctr"/>
            <a:endParaRPr/>
          </a:p>
        </p:txBody>
      </p:sp>
      <p:sp>
        <p:nvSpPr>
          <p:cNvPr id="3" name="TealAccent"/>
          <p:cNvSpPr/>
          <p:nvPr/>
        </p:nvSpPr>
        <p:spPr>
          <a:xfrm>
            <a:off x="502920" y="658368"/>
            <a:ext cx="109728" cy="530352"/>
          </a:xfrm>
          <a:prstGeom prst="rect">
            <a:avLst/>
          </a:prstGeom>
          <a:solidFill>
            <a:srgbClr val="14B8A6"/>
          </a:solidFill>
          <a:ln>
            <a:noFill/>
          </a:ln>
        </p:spPr>
        <p:txBody>
          <a:bodyPr rtlCol="0" anchor="ctr"/>
          <a:lstStyle/>
          <a:p>
            <a:pPr algn="ctr"/>
            <a:endParaRPr/>
          </a:p>
        </p:txBody>
      </p:sp>
      <p:sp>
        <p:nvSpPr>
          <p:cNvPr id="4" name="TitleBox"/>
          <p:cNvSpPr txBox="1"/>
          <p:nvPr/>
        </p:nvSpPr>
        <p:spPr>
          <a:xfrm>
            <a:off x="685800" y="488492"/>
            <a:ext cx="10741280" cy="824841"/>
          </a:xfrm>
          <a:prstGeom prst="rect">
            <a:avLst/>
          </a:prstGeom>
          <a:noFill/>
        </p:spPr>
        <p:txBody>
          <a:bodyPr wrap="square" lIns="73152" tIns="73152" rIns="73152" bIns="73152" anchor="ctr">
            <a:spAutoFit/>
          </a:bodyPr>
          <a:lstStyle/>
          <a:p>
            <a:pPr algn="l">
              <a:defRPr sz="2800" b="1">
                <a:solidFill>
                  <a:srgbClr val="0F172A"/>
                </a:solidFill>
                <a:latin typeface="Aptos"/>
              </a:defRPr>
            </a:pPr>
            <a:r>
              <a:rPr lang="en-US" sz="4000"/>
              <a:t>Testing Plan: Methodology Overview</a:t>
            </a:r>
          </a:p>
        </p:txBody>
      </p:sp>
      <p:sp>
        <p:nvSpPr>
          <p:cNvPr id="6" name="SlideNum"/>
          <p:cNvSpPr>
            <a:spLocks noGrp="1"/>
          </p:cNvSpPr>
          <p:nvPr>
            <p:ph type="sldNum" sz="quarter" idx="12"/>
          </p:nvPr>
        </p:nvSpPr>
        <p:spPr/>
        <p:txBody>
          <a:bodyPr/>
          <a:lstStyle/>
          <a:p>
            <a:fld id="{C1FF6DA9-008F-8B48-92A6-B652298478BF}" type="slidenum">
              <a:rPr lang="en-US" smtClean="0"/>
              <a:t>9</a:t>
            </a:fld>
            <a:endParaRPr lang="en-US"/>
          </a:p>
        </p:txBody>
      </p:sp>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4C4CC218-0E41-91E7-A652-E40AF2809F87}"/>
                  </a:ext>
                </a:extLst>
              </p:cNvPr>
              <p:cNvGraphicFramePr>
                <a:graphicFrameLocks noGrp="1"/>
              </p:cNvGraphicFramePr>
              <p:nvPr>
                <p:extLst>
                  <p:ext uri="{D42A27DB-BD31-4B8C-83A1-F6EECF244321}">
                    <p14:modId xmlns:p14="http://schemas.microsoft.com/office/powerpoint/2010/main" val="3327408159"/>
                  </p:ext>
                </p:extLst>
              </p:nvPr>
            </p:nvGraphicFramePr>
            <p:xfrm>
              <a:off x="1010666" y="2603094"/>
              <a:ext cx="10170360" cy="2895600"/>
            </p:xfrm>
            <a:graphic>
              <a:graphicData uri="http://schemas.openxmlformats.org/drawingml/2006/table">
                <a:tbl>
                  <a:tblPr firstRow="1" bandRow="1">
                    <a:tableStyleId>{7DF18680-E054-41AD-8BC1-D1AEF772440D}</a:tableStyleId>
                  </a:tblPr>
                  <a:tblGrid>
                    <a:gridCol w="1251859">
                      <a:extLst>
                        <a:ext uri="{9D8B030D-6E8A-4147-A177-3AD203B41FA5}">
                          <a16:colId xmlns:a16="http://schemas.microsoft.com/office/drawing/2014/main" val="792006709"/>
                        </a:ext>
                      </a:extLst>
                    </a:gridCol>
                    <a:gridCol w="2712801">
                      <a:extLst>
                        <a:ext uri="{9D8B030D-6E8A-4147-A177-3AD203B41FA5}">
                          <a16:colId xmlns:a16="http://schemas.microsoft.com/office/drawing/2014/main" val="3191133041"/>
                        </a:ext>
                      </a:extLst>
                    </a:gridCol>
                    <a:gridCol w="2411520">
                      <a:extLst>
                        <a:ext uri="{9D8B030D-6E8A-4147-A177-3AD203B41FA5}">
                          <a16:colId xmlns:a16="http://schemas.microsoft.com/office/drawing/2014/main" val="3557718650"/>
                        </a:ext>
                      </a:extLst>
                    </a:gridCol>
                    <a:gridCol w="3794180">
                      <a:extLst>
                        <a:ext uri="{9D8B030D-6E8A-4147-A177-3AD203B41FA5}">
                          <a16:colId xmlns:a16="http://schemas.microsoft.com/office/drawing/2014/main" val="2875455344"/>
                        </a:ext>
                      </a:extLst>
                    </a:gridCol>
                  </a:tblGrid>
                  <a:tr h="370840">
                    <a:tc>
                      <a:txBody>
                        <a:bodyPr/>
                        <a:lstStyle/>
                        <a:p>
                          <a:pPr algn="ctr"/>
                          <a:r>
                            <a:rPr lang="en-US" sz="2000" b="1"/>
                            <a:t>Phase No.</a:t>
                          </a:r>
                        </a:p>
                      </a:txBody>
                      <a:tcPr/>
                    </a:tc>
                    <a:tc>
                      <a:txBody>
                        <a:bodyPr/>
                        <a:lstStyle/>
                        <a:p>
                          <a:pPr algn="ctr"/>
                          <a:r>
                            <a:rPr lang="en-US" sz="2000" b="1"/>
                            <a:t>Phase</a:t>
                          </a:r>
                        </a:p>
                      </a:txBody>
                      <a:tcPr/>
                    </a:tc>
                    <a:tc>
                      <a:txBody>
                        <a:bodyPr/>
                        <a:lstStyle/>
                        <a:p>
                          <a:pPr algn="ctr"/>
                          <a:r>
                            <a:rPr lang="en-US" sz="2000" b="1"/>
                            <a:t>Tests</a:t>
                          </a:r>
                        </a:p>
                      </a:txBody>
                      <a:tcPr/>
                    </a:tc>
                    <a:tc>
                      <a:txBody>
                        <a:bodyPr/>
                        <a:lstStyle/>
                        <a:p>
                          <a:pPr algn="ctr"/>
                          <a:r>
                            <a:rPr lang="en-US" sz="2000" b="1"/>
                            <a:t>Coverage</a:t>
                          </a:r>
                        </a:p>
                      </a:txBody>
                      <a:tcPr/>
                    </a:tc>
                    <a:extLst>
                      <a:ext uri="{0D108BD9-81ED-4DB2-BD59-A6C34878D82A}">
                        <a16:rowId xmlns:a16="http://schemas.microsoft.com/office/drawing/2014/main" val="1375436194"/>
                      </a:ext>
                    </a:extLst>
                  </a:tr>
                  <a:tr h="370840">
                    <a:tc>
                      <a:txBody>
                        <a:bodyPr/>
                        <a:lstStyle/>
                        <a:p>
                          <a:pPr algn="ctr"/>
                          <a:r>
                            <a:rPr lang="en-US" sz="2000" b="1"/>
                            <a:t>1</a:t>
                          </a:r>
                        </a:p>
                      </a:txBody>
                      <a:tcPr/>
                    </a:tc>
                    <a:tc>
                      <a:txBody>
                        <a:bodyPr/>
                        <a:lstStyle/>
                        <a:p>
                          <a:pPr algn="l"/>
                          <a:r>
                            <a:rPr lang="en-US" sz="2000" b="1"/>
                            <a:t>Data Ingestion</a:t>
                          </a:r>
                        </a:p>
                      </a:txBody>
                      <a:tcPr/>
                    </a:tc>
                    <a:tc>
                      <a:txBody>
                        <a:bodyPr/>
                        <a:lstStyle/>
                        <a:p>
                          <a:pPr algn="ctr"/>
                          <a14:m>
                            <m:oMathPara xmlns:m="http://schemas.openxmlformats.org/officeDocument/2006/math">
                              <m:oMathParaPr>
                                <m:jc m:val="centerGroup"/>
                              </m:oMathParaPr>
                              <m:oMath xmlns:m="http://schemas.openxmlformats.org/officeDocument/2006/math">
                                <m:r>
                                  <a:rPr lang="en-US" sz="2000" b="1" i="1" dirty="0" smtClean="0">
                                    <a:latin typeface="Cambria Math" panose="02040503050406030204" pitchFamily="18" charset="0"/>
                                  </a:rPr>
                                  <m:t>𝟎𝟏</m:t>
                                </m:r>
                                <m:r>
                                  <a:rPr lang="en-US" sz="2000" b="1" i="1" dirty="0" smtClean="0">
                                    <a:latin typeface="Cambria Math" panose="02040503050406030204" pitchFamily="18" charset="0"/>
                                  </a:rPr>
                                  <m:t>−</m:t>
                                </m:r>
                                <m:r>
                                  <a:rPr lang="en-US" sz="2000" b="1" i="1" dirty="0" smtClean="0">
                                    <a:latin typeface="Cambria Math" panose="02040503050406030204" pitchFamily="18" charset="0"/>
                                  </a:rPr>
                                  <m:t>𝟎𝟑</m:t>
                                </m:r>
                              </m:oMath>
                            </m:oMathPara>
                          </a14:m>
                          <a:endParaRPr lang="en-US" sz="2000" b="1"/>
                        </a:p>
                      </a:txBody>
                      <a:tcPr/>
                    </a:tc>
                    <a:tc>
                      <a:txBody>
                        <a:bodyPr/>
                        <a:lstStyle/>
                        <a:p>
                          <a:r>
                            <a:rPr lang="en-US" sz="2000" b="1"/>
                            <a:t>API parsing, </a:t>
                          </a:r>
                        </a:p>
                        <a:p>
                          <a:r>
                            <a:rPr lang="en-US" sz="2000" b="1"/>
                            <a:t>edge construction, edge cases</a:t>
                          </a:r>
                        </a:p>
                      </a:txBody>
                      <a:tcPr/>
                    </a:tc>
                    <a:extLst>
                      <a:ext uri="{0D108BD9-81ED-4DB2-BD59-A6C34878D82A}">
                        <a16:rowId xmlns:a16="http://schemas.microsoft.com/office/drawing/2014/main" val="1887661774"/>
                      </a:ext>
                    </a:extLst>
                  </a:tr>
                  <a:tr h="370840">
                    <a:tc>
                      <a:txBody>
                        <a:bodyPr/>
                        <a:lstStyle/>
                        <a:p>
                          <a:pPr algn="ctr"/>
                          <a:r>
                            <a:rPr lang="en-US" sz="2000" b="1"/>
                            <a:t>2</a:t>
                          </a:r>
                        </a:p>
                      </a:txBody>
                      <a:tcPr/>
                    </a:tc>
                    <a:tc>
                      <a:txBody>
                        <a:bodyPr/>
                        <a:lstStyle/>
                        <a:p>
                          <a:pPr algn="l"/>
                          <a:r>
                            <a:rPr lang="en-US" sz="2000" b="1"/>
                            <a:t>Feature Extraction</a:t>
                          </a:r>
                        </a:p>
                      </a:txBody>
                      <a:tcPr/>
                    </a:tc>
                    <a:tc>
                      <a:txBody>
                        <a:bodyPr/>
                        <a:lstStyle/>
                        <a:p>
                          <a:pPr algn="ctr"/>
                          <a14:m>
                            <m:oMathPara xmlns:m="http://schemas.openxmlformats.org/officeDocument/2006/math">
                              <m:oMathParaPr>
                                <m:jc m:val="centerGroup"/>
                              </m:oMathParaPr>
                              <m:oMath xmlns:m="http://schemas.openxmlformats.org/officeDocument/2006/math">
                                <m:r>
                                  <a:rPr lang="en-US" sz="2000" b="1" i="1" dirty="0" smtClean="0">
                                    <a:latin typeface="Cambria Math" panose="02040503050406030204" pitchFamily="18" charset="0"/>
                                  </a:rPr>
                                  <m:t>𝟎𝟒</m:t>
                                </m:r>
                                <m:r>
                                  <a:rPr lang="en-US" sz="2000" b="1" i="1" dirty="0" smtClean="0">
                                    <a:latin typeface="Cambria Math" panose="02040503050406030204" pitchFamily="18" charset="0"/>
                                  </a:rPr>
                                  <m:t>−</m:t>
                                </m:r>
                                <m:r>
                                  <a:rPr lang="en-US" sz="2000" b="1" i="1" dirty="0" smtClean="0">
                                    <a:latin typeface="Cambria Math" panose="02040503050406030204" pitchFamily="18" charset="0"/>
                                  </a:rPr>
                                  <m:t>𝟎𝟗</m:t>
                                </m:r>
                              </m:oMath>
                            </m:oMathPara>
                          </a14:m>
                          <a:endParaRPr lang="en-US" sz="2000" b="1"/>
                        </a:p>
                      </a:txBody>
                      <a:tcPr/>
                    </a:tc>
                    <a:tc>
                      <a:txBody>
                        <a:bodyPr/>
                        <a:lstStyle/>
                        <a:p>
                          <a:r>
                            <a:rPr lang="en-US" sz="2000" b="1"/>
                            <a:t>ORC, temporal, NLP,</a:t>
                          </a:r>
                        </a:p>
                        <a:p>
                          <a:r>
                            <a:rPr lang="en-US" sz="2000" b="1"/>
                            <a:t>boundary conditions</a:t>
                          </a:r>
                        </a:p>
                      </a:txBody>
                      <a:tcPr/>
                    </a:tc>
                    <a:extLst>
                      <a:ext uri="{0D108BD9-81ED-4DB2-BD59-A6C34878D82A}">
                        <a16:rowId xmlns:a16="http://schemas.microsoft.com/office/drawing/2014/main" val="3252538773"/>
                      </a:ext>
                    </a:extLst>
                  </a:tr>
                  <a:tr h="370840">
                    <a:tc>
                      <a:txBody>
                        <a:bodyPr/>
                        <a:lstStyle/>
                        <a:p>
                          <a:pPr algn="ctr"/>
                          <a:r>
                            <a:rPr lang="en-US" sz="2000" b="1"/>
                            <a:t>3</a:t>
                          </a:r>
                        </a:p>
                      </a:txBody>
                      <a:tcPr/>
                    </a:tc>
                    <a:tc>
                      <a:txBody>
                        <a:bodyPr/>
                        <a:lstStyle/>
                        <a:p>
                          <a:pPr algn="l"/>
                          <a:r>
                            <a:rPr lang="en-US" sz="2000" b="1"/>
                            <a:t>Fusion &amp; Validation</a:t>
                          </a:r>
                        </a:p>
                      </a:txBody>
                      <a:tcPr/>
                    </a:tc>
                    <a:tc>
                      <a:txBody>
                        <a:bodyPr/>
                        <a:lstStyle/>
                        <a:p>
                          <a:pPr algn="ct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𝟏𝟎</m:t>
                                </m:r>
                                <m:r>
                                  <a:rPr lang="en-US" sz="2000" b="1" i="1" smtClean="0">
                                    <a:latin typeface="Cambria Math" panose="02040503050406030204" pitchFamily="18" charset="0"/>
                                  </a:rPr>
                                  <m:t>−</m:t>
                                </m:r>
                                <m:r>
                                  <a:rPr lang="he-IL" sz="2000" b="1" i="1" smtClean="0">
                                    <a:latin typeface="Cambria Math" panose="02040503050406030204" pitchFamily="18" charset="0"/>
                                  </a:rPr>
                                  <m:t>𝟏𝟐</m:t>
                                </m:r>
                              </m:oMath>
                            </m:oMathPara>
                          </a14:m>
                          <a:endParaRPr lang="en-US" sz="2000" b="1"/>
                        </a:p>
                      </a:txBody>
                      <a:tcPr/>
                    </a:tc>
                    <a:tc>
                      <a:txBody>
                        <a:bodyPr/>
                        <a:lstStyle/>
                        <a:p>
                          <a:r>
                            <a:rPr lang="en-US" sz="2000" b="1"/>
                            <a:t>Convergence, Trust Head activation</a:t>
                          </a:r>
                        </a:p>
                      </a:txBody>
                      <a:tcPr/>
                    </a:tc>
                    <a:extLst>
                      <a:ext uri="{0D108BD9-81ED-4DB2-BD59-A6C34878D82A}">
                        <a16:rowId xmlns:a16="http://schemas.microsoft.com/office/drawing/2014/main" val="1862174470"/>
                      </a:ext>
                    </a:extLst>
                  </a:tr>
                  <a:tr h="370840">
                    <a:tc>
                      <a:txBody>
                        <a:bodyPr/>
                        <a:lstStyle/>
                        <a:p>
                          <a:pPr algn="ctr"/>
                          <a:r>
                            <a:rPr lang="en-US" sz="2000" b="1"/>
                            <a:t>4</a:t>
                          </a:r>
                        </a:p>
                      </a:txBody>
                      <a:tcPr/>
                    </a:tc>
                    <a:tc>
                      <a:txBody>
                        <a:bodyPr/>
                        <a:lstStyle/>
                        <a:p>
                          <a:pPr algn="l"/>
                          <a:r>
                            <a:rPr lang="en-US" sz="2000" b="1"/>
                            <a:t>Impact &amp; Validation</a:t>
                          </a:r>
                        </a:p>
                      </a:txBody>
                      <a:tcPr/>
                    </a:tc>
                    <a:tc>
                      <a:txBody>
                        <a:bodyPr/>
                        <a:lstStyle/>
                        <a:p>
                          <a:pPr algn="ctr"/>
                          <a14:m>
                            <m:oMathPara xmlns:m="http://schemas.openxmlformats.org/officeDocument/2006/math">
                              <m:oMathParaPr>
                                <m:jc m:val="centerGroup"/>
                              </m:oMathParaPr>
                              <m:oMath xmlns:m="http://schemas.openxmlformats.org/officeDocument/2006/math">
                                <m:r>
                                  <a:rPr lang="en-US" sz="2000" b="1" i="1" dirty="0" smtClean="0">
                                    <a:latin typeface="Cambria Math" panose="02040503050406030204" pitchFamily="18" charset="0"/>
                                  </a:rPr>
                                  <m:t>𝟏𝟑</m:t>
                                </m:r>
                                <m:r>
                                  <a:rPr lang="en-US" sz="2000" b="1" i="1" dirty="0" smtClean="0">
                                    <a:latin typeface="Cambria Math" panose="02040503050406030204" pitchFamily="18" charset="0"/>
                                  </a:rPr>
                                  <m:t>−</m:t>
                                </m:r>
                                <m:r>
                                  <a:rPr lang="en-US" sz="2000" b="1" i="1" dirty="0" smtClean="0">
                                    <a:latin typeface="Cambria Math" panose="02040503050406030204" pitchFamily="18" charset="0"/>
                                  </a:rPr>
                                  <m:t>𝟏𝟖</m:t>
                                </m:r>
                              </m:oMath>
                            </m:oMathPara>
                          </a14:m>
                          <a:endParaRPr lang="en-US" sz="2000" b="1"/>
                        </a:p>
                      </a:txBody>
                      <a:tcPr/>
                    </a:tc>
                    <a:tc>
                      <a:txBody>
                        <a:bodyPr/>
                        <a:lstStyle/>
                        <a:p>
                          <a:r>
                            <a:rPr lang="en-US" sz="2000" b="1"/>
                            <a:t>CAIF math, null model, loopback</a:t>
                          </a:r>
                        </a:p>
                      </a:txBody>
                      <a:tcPr/>
                    </a:tc>
                    <a:extLst>
                      <a:ext uri="{0D108BD9-81ED-4DB2-BD59-A6C34878D82A}">
                        <a16:rowId xmlns:a16="http://schemas.microsoft.com/office/drawing/2014/main" val="3875038061"/>
                      </a:ext>
                    </a:extLst>
                  </a:tr>
                </a:tbl>
              </a:graphicData>
            </a:graphic>
          </p:graphicFrame>
        </mc:Choice>
        <mc:Fallback xmlns="">
          <p:graphicFrame>
            <p:nvGraphicFramePr>
              <p:cNvPr id="8" name="Table 7">
                <a:extLst>
                  <a:ext uri="{FF2B5EF4-FFF2-40B4-BE49-F238E27FC236}">
                    <a16:creationId xmlns:a16="http://schemas.microsoft.com/office/drawing/2014/main" id="{4C4CC218-0E41-91E7-A652-E40AF2809F87}"/>
                  </a:ext>
                </a:extLst>
              </p:cNvPr>
              <p:cNvGraphicFramePr>
                <a:graphicFrameLocks noGrp="1"/>
              </p:cNvGraphicFramePr>
              <p:nvPr>
                <p:extLst>
                  <p:ext uri="{D42A27DB-BD31-4B8C-83A1-F6EECF244321}">
                    <p14:modId xmlns:p14="http://schemas.microsoft.com/office/powerpoint/2010/main" val="3327408159"/>
                  </p:ext>
                </p:extLst>
              </p:nvPr>
            </p:nvGraphicFramePr>
            <p:xfrm>
              <a:off x="1010666" y="2603094"/>
              <a:ext cx="10170360" cy="2895600"/>
            </p:xfrm>
            <a:graphic>
              <a:graphicData uri="http://schemas.openxmlformats.org/drawingml/2006/table">
                <a:tbl>
                  <a:tblPr firstRow="1" bandRow="1">
                    <a:tableStyleId>{7DF18680-E054-41AD-8BC1-D1AEF772440D}</a:tableStyleId>
                  </a:tblPr>
                  <a:tblGrid>
                    <a:gridCol w="1251859">
                      <a:extLst>
                        <a:ext uri="{9D8B030D-6E8A-4147-A177-3AD203B41FA5}">
                          <a16:colId xmlns:a16="http://schemas.microsoft.com/office/drawing/2014/main" val="792006709"/>
                        </a:ext>
                      </a:extLst>
                    </a:gridCol>
                    <a:gridCol w="2712801">
                      <a:extLst>
                        <a:ext uri="{9D8B030D-6E8A-4147-A177-3AD203B41FA5}">
                          <a16:colId xmlns:a16="http://schemas.microsoft.com/office/drawing/2014/main" val="3191133041"/>
                        </a:ext>
                      </a:extLst>
                    </a:gridCol>
                    <a:gridCol w="2411520">
                      <a:extLst>
                        <a:ext uri="{9D8B030D-6E8A-4147-A177-3AD203B41FA5}">
                          <a16:colId xmlns:a16="http://schemas.microsoft.com/office/drawing/2014/main" val="3557718650"/>
                        </a:ext>
                      </a:extLst>
                    </a:gridCol>
                    <a:gridCol w="3794180">
                      <a:extLst>
                        <a:ext uri="{9D8B030D-6E8A-4147-A177-3AD203B41FA5}">
                          <a16:colId xmlns:a16="http://schemas.microsoft.com/office/drawing/2014/main" val="2875455344"/>
                        </a:ext>
                      </a:extLst>
                    </a:gridCol>
                  </a:tblGrid>
                  <a:tr h="396240">
                    <a:tc>
                      <a:txBody>
                        <a:bodyPr/>
                        <a:lstStyle/>
                        <a:p>
                          <a:pPr algn="ctr"/>
                          <a:r>
                            <a:rPr lang="en-US" sz="2000" b="1"/>
                            <a:t>Phase No.</a:t>
                          </a:r>
                        </a:p>
                      </a:txBody>
                      <a:tcPr/>
                    </a:tc>
                    <a:tc>
                      <a:txBody>
                        <a:bodyPr/>
                        <a:lstStyle/>
                        <a:p>
                          <a:pPr algn="ctr"/>
                          <a:r>
                            <a:rPr lang="en-US" sz="2000" b="1"/>
                            <a:t>Phase</a:t>
                          </a:r>
                        </a:p>
                      </a:txBody>
                      <a:tcPr/>
                    </a:tc>
                    <a:tc>
                      <a:txBody>
                        <a:bodyPr/>
                        <a:lstStyle/>
                        <a:p>
                          <a:pPr algn="ctr"/>
                          <a:r>
                            <a:rPr lang="en-US" sz="2000" b="1"/>
                            <a:t>Tests</a:t>
                          </a:r>
                        </a:p>
                      </a:txBody>
                      <a:tcPr/>
                    </a:tc>
                    <a:tc>
                      <a:txBody>
                        <a:bodyPr/>
                        <a:lstStyle/>
                        <a:p>
                          <a:pPr algn="ctr"/>
                          <a:r>
                            <a:rPr lang="en-US" sz="2000" b="1"/>
                            <a:t>Coverage</a:t>
                          </a:r>
                        </a:p>
                      </a:txBody>
                      <a:tcPr/>
                    </a:tc>
                    <a:extLst>
                      <a:ext uri="{0D108BD9-81ED-4DB2-BD59-A6C34878D82A}">
                        <a16:rowId xmlns:a16="http://schemas.microsoft.com/office/drawing/2014/main" val="1375436194"/>
                      </a:ext>
                    </a:extLst>
                  </a:tr>
                  <a:tr h="701040">
                    <a:tc>
                      <a:txBody>
                        <a:bodyPr/>
                        <a:lstStyle/>
                        <a:p>
                          <a:pPr algn="ctr"/>
                          <a:r>
                            <a:rPr lang="en-US" sz="2000" b="1"/>
                            <a:t>1</a:t>
                          </a:r>
                        </a:p>
                      </a:txBody>
                      <a:tcPr/>
                    </a:tc>
                    <a:tc>
                      <a:txBody>
                        <a:bodyPr/>
                        <a:lstStyle/>
                        <a:p>
                          <a:pPr algn="l"/>
                          <a:r>
                            <a:rPr lang="en-US" sz="2000" b="1"/>
                            <a:t>Data Ingestion</a:t>
                          </a:r>
                        </a:p>
                      </a:txBody>
                      <a:tcPr/>
                    </a:tc>
                    <a:tc>
                      <a:txBody>
                        <a:bodyPr/>
                        <a:lstStyle/>
                        <a:p>
                          <a:endParaRPr lang="en-US"/>
                        </a:p>
                      </a:txBody>
                      <a:tcPr>
                        <a:blipFill>
                          <a:blip r:embed="rId3"/>
                          <a:stretch>
                            <a:fillRect l="-164646" t="-60870" r="-158333" b="-272174"/>
                          </a:stretch>
                        </a:blipFill>
                      </a:tcPr>
                    </a:tc>
                    <a:tc>
                      <a:txBody>
                        <a:bodyPr/>
                        <a:lstStyle/>
                        <a:p>
                          <a:r>
                            <a:rPr lang="en-US" sz="2000" b="1"/>
                            <a:t>API parsing, </a:t>
                          </a:r>
                        </a:p>
                        <a:p>
                          <a:r>
                            <a:rPr lang="en-US" sz="2000" b="1"/>
                            <a:t>edge construction, edge cases</a:t>
                          </a:r>
                        </a:p>
                      </a:txBody>
                      <a:tcPr/>
                    </a:tc>
                    <a:extLst>
                      <a:ext uri="{0D108BD9-81ED-4DB2-BD59-A6C34878D82A}">
                        <a16:rowId xmlns:a16="http://schemas.microsoft.com/office/drawing/2014/main" val="1887661774"/>
                      </a:ext>
                    </a:extLst>
                  </a:tr>
                  <a:tr h="701040">
                    <a:tc>
                      <a:txBody>
                        <a:bodyPr/>
                        <a:lstStyle/>
                        <a:p>
                          <a:pPr algn="ctr"/>
                          <a:r>
                            <a:rPr lang="en-US" sz="2000" b="1"/>
                            <a:t>2</a:t>
                          </a:r>
                        </a:p>
                      </a:txBody>
                      <a:tcPr/>
                    </a:tc>
                    <a:tc>
                      <a:txBody>
                        <a:bodyPr/>
                        <a:lstStyle/>
                        <a:p>
                          <a:pPr algn="l"/>
                          <a:r>
                            <a:rPr lang="en-US" sz="2000" b="1"/>
                            <a:t>Feature Extraction</a:t>
                          </a:r>
                        </a:p>
                      </a:txBody>
                      <a:tcPr/>
                    </a:tc>
                    <a:tc>
                      <a:txBody>
                        <a:bodyPr/>
                        <a:lstStyle/>
                        <a:p>
                          <a:endParaRPr lang="en-US"/>
                        </a:p>
                      </a:txBody>
                      <a:tcPr>
                        <a:blipFill>
                          <a:blip r:embed="rId3"/>
                          <a:stretch>
                            <a:fillRect l="-164646" t="-159483" r="-158333" b="-169828"/>
                          </a:stretch>
                        </a:blipFill>
                      </a:tcPr>
                    </a:tc>
                    <a:tc>
                      <a:txBody>
                        <a:bodyPr/>
                        <a:lstStyle/>
                        <a:p>
                          <a:r>
                            <a:rPr lang="en-US" sz="2000" b="1"/>
                            <a:t>ORC, temporal, NLP,</a:t>
                          </a:r>
                        </a:p>
                        <a:p>
                          <a:r>
                            <a:rPr lang="en-US" sz="2000" b="1"/>
                            <a:t>boundary conditions</a:t>
                          </a:r>
                        </a:p>
                      </a:txBody>
                      <a:tcPr/>
                    </a:tc>
                    <a:extLst>
                      <a:ext uri="{0D108BD9-81ED-4DB2-BD59-A6C34878D82A}">
                        <a16:rowId xmlns:a16="http://schemas.microsoft.com/office/drawing/2014/main" val="3252538773"/>
                      </a:ext>
                    </a:extLst>
                  </a:tr>
                  <a:tr h="701040">
                    <a:tc>
                      <a:txBody>
                        <a:bodyPr/>
                        <a:lstStyle/>
                        <a:p>
                          <a:pPr algn="ctr"/>
                          <a:r>
                            <a:rPr lang="en-US" sz="2000" b="1"/>
                            <a:t>3</a:t>
                          </a:r>
                        </a:p>
                      </a:txBody>
                      <a:tcPr/>
                    </a:tc>
                    <a:tc>
                      <a:txBody>
                        <a:bodyPr/>
                        <a:lstStyle/>
                        <a:p>
                          <a:pPr algn="l"/>
                          <a:r>
                            <a:rPr lang="en-US" sz="2000" b="1"/>
                            <a:t>Fusion &amp; Validation</a:t>
                          </a:r>
                        </a:p>
                      </a:txBody>
                      <a:tcPr/>
                    </a:tc>
                    <a:tc>
                      <a:txBody>
                        <a:bodyPr/>
                        <a:lstStyle/>
                        <a:p>
                          <a:endParaRPr lang="en-US"/>
                        </a:p>
                      </a:txBody>
                      <a:tcPr>
                        <a:blipFill>
                          <a:blip r:embed="rId3"/>
                          <a:stretch>
                            <a:fillRect l="-164646" t="-261739" r="-158333" b="-71304"/>
                          </a:stretch>
                        </a:blipFill>
                      </a:tcPr>
                    </a:tc>
                    <a:tc>
                      <a:txBody>
                        <a:bodyPr/>
                        <a:lstStyle/>
                        <a:p>
                          <a:r>
                            <a:rPr lang="en-US" sz="2000" b="1"/>
                            <a:t>Convergence, Trust Head activation</a:t>
                          </a:r>
                        </a:p>
                      </a:txBody>
                      <a:tcPr/>
                    </a:tc>
                    <a:extLst>
                      <a:ext uri="{0D108BD9-81ED-4DB2-BD59-A6C34878D82A}">
                        <a16:rowId xmlns:a16="http://schemas.microsoft.com/office/drawing/2014/main" val="1862174470"/>
                      </a:ext>
                    </a:extLst>
                  </a:tr>
                  <a:tr h="396240">
                    <a:tc>
                      <a:txBody>
                        <a:bodyPr/>
                        <a:lstStyle/>
                        <a:p>
                          <a:pPr algn="ctr"/>
                          <a:r>
                            <a:rPr lang="en-US" sz="2000" b="1"/>
                            <a:t>4</a:t>
                          </a:r>
                        </a:p>
                      </a:txBody>
                      <a:tcPr/>
                    </a:tc>
                    <a:tc>
                      <a:txBody>
                        <a:bodyPr/>
                        <a:lstStyle/>
                        <a:p>
                          <a:pPr algn="l"/>
                          <a:r>
                            <a:rPr lang="en-US" sz="2000" b="1"/>
                            <a:t>Impact &amp; Validation</a:t>
                          </a:r>
                        </a:p>
                      </a:txBody>
                      <a:tcPr/>
                    </a:tc>
                    <a:tc>
                      <a:txBody>
                        <a:bodyPr/>
                        <a:lstStyle/>
                        <a:p>
                          <a:endParaRPr lang="en-US"/>
                        </a:p>
                      </a:txBody>
                      <a:tcPr>
                        <a:blipFill>
                          <a:blip r:embed="rId3"/>
                          <a:stretch>
                            <a:fillRect l="-164646" t="-640000" r="-158333" b="-26154"/>
                          </a:stretch>
                        </a:blipFill>
                      </a:tcPr>
                    </a:tc>
                    <a:tc>
                      <a:txBody>
                        <a:bodyPr/>
                        <a:lstStyle/>
                        <a:p>
                          <a:r>
                            <a:rPr lang="en-US" sz="2000" b="1"/>
                            <a:t>CAIF math, null model, loopback</a:t>
                          </a:r>
                        </a:p>
                      </a:txBody>
                      <a:tcPr/>
                    </a:tc>
                    <a:extLst>
                      <a:ext uri="{0D108BD9-81ED-4DB2-BD59-A6C34878D82A}">
                        <a16:rowId xmlns:a16="http://schemas.microsoft.com/office/drawing/2014/main" val="3875038061"/>
                      </a:ext>
                    </a:extLst>
                  </a:tr>
                </a:tbl>
              </a:graphicData>
            </a:graphic>
          </p:graphicFrame>
        </mc:Fallback>
      </mc:AlternateContent>
      <p:sp>
        <p:nvSpPr>
          <p:cNvPr id="9" name="Rectangle: Rounded Corners 8">
            <a:extLst>
              <a:ext uri="{FF2B5EF4-FFF2-40B4-BE49-F238E27FC236}">
                <a16:creationId xmlns:a16="http://schemas.microsoft.com/office/drawing/2014/main" id="{7EC680D8-A426-D72B-B5AF-1E376DA24255}"/>
              </a:ext>
            </a:extLst>
          </p:cNvPr>
          <p:cNvSpPr/>
          <p:nvPr/>
        </p:nvSpPr>
        <p:spPr>
          <a:xfrm>
            <a:off x="2738801" y="1545793"/>
            <a:ext cx="6714091" cy="824841"/>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2800" b="1"/>
              <a:t>18 tests total across 4 pipeline phases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opBar"/>
          <p:cNvSpPr/>
          <p:nvPr/>
        </p:nvSpPr>
        <p:spPr>
          <a:xfrm>
            <a:off x="0" y="0"/>
            <a:ext cx="12191695" cy="256032"/>
          </a:xfrm>
          <a:prstGeom prst="rect">
            <a:avLst/>
          </a:prstGeom>
          <a:gradFill>
            <a:gsLst>
              <a:gs pos="0">
                <a:srgbClr val="0EAFEB"/>
              </a:gs>
              <a:gs pos="100000">
                <a:srgbClr val="0E21BB"/>
              </a:gs>
            </a:gsLst>
            <a:lin ang="10800000" scaled="0"/>
          </a:gradFill>
          <a:ln>
            <a:noFill/>
          </a:ln>
        </p:spPr>
        <p:txBody>
          <a:bodyPr rtlCol="0" anchor="ctr"/>
          <a:lstStyle/>
          <a:p>
            <a:pPr algn="ctr"/>
            <a:endParaRPr/>
          </a:p>
        </p:txBody>
      </p:sp>
      <p:sp>
        <p:nvSpPr>
          <p:cNvPr id="3" name="TealAccent"/>
          <p:cNvSpPr/>
          <p:nvPr/>
        </p:nvSpPr>
        <p:spPr>
          <a:xfrm>
            <a:off x="502920" y="658368"/>
            <a:ext cx="109728" cy="530352"/>
          </a:xfrm>
          <a:prstGeom prst="rect">
            <a:avLst/>
          </a:prstGeom>
          <a:solidFill>
            <a:srgbClr val="14B8A6"/>
          </a:solidFill>
          <a:ln>
            <a:noFill/>
          </a:ln>
        </p:spPr>
        <p:txBody>
          <a:bodyPr rtlCol="0" anchor="ctr"/>
          <a:lstStyle/>
          <a:p>
            <a:pPr algn="ctr"/>
            <a:endParaRPr/>
          </a:p>
        </p:txBody>
      </p:sp>
      <p:sp>
        <p:nvSpPr>
          <p:cNvPr id="4" name="TitleBox"/>
          <p:cNvSpPr txBox="1"/>
          <p:nvPr/>
        </p:nvSpPr>
        <p:spPr>
          <a:xfrm>
            <a:off x="685800" y="488492"/>
            <a:ext cx="10741280" cy="824841"/>
          </a:xfrm>
          <a:prstGeom prst="rect">
            <a:avLst/>
          </a:prstGeom>
          <a:noFill/>
        </p:spPr>
        <p:txBody>
          <a:bodyPr wrap="square" lIns="73152" tIns="73152" rIns="73152" bIns="73152" anchor="ctr">
            <a:spAutoFit/>
          </a:bodyPr>
          <a:lstStyle/>
          <a:p>
            <a:pPr algn="l">
              <a:defRPr sz="2800" b="1">
                <a:solidFill>
                  <a:srgbClr val="0F172A"/>
                </a:solidFill>
                <a:latin typeface="Aptos"/>
              </a:defRPr>
            </a:pPr>
            <a:r>
              <a:rPr lang="en-US" sz="4000"/>
              <a:t>Testing Plan: Key Validation Scenarios</a:t>
            </a:r>
          </a:p>
        </p:txBody>
      </p:sp>
      <p:sp>
        <p:nvSpPr>
          <p:cNvPr id="6" name="SlideNum"/>
          <p:cNvSpPr>
            <a:spLocks noGrp="1"/>
          </p:cNvSpPr>
          <p:nvPr>
            <p:ph type="sldNum" sz="quarter" idx="12"/>
          </p:nvPr>
        </p:nvSpPr>
        <p:spPr/>
        <p:txBody>
          <a:bodyPr/>
          <a:lstStyle/>
          <a:p>
            <a:fld id="{C1FF6DA9-008F-8B48-92A6-B652298478BF}" type="slidenum">
              <a:rPr lang="en-US" smtClean="0"/>
              <a:t>10</a:t>
            </a:fld>
            <a:endParaRPr lang="en-US"/>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707B9E36-A591-0571-2BB1-792D95DCA63D}"/>
                  </a:ext>
                </a:extLst>
              </p:cNvPr>
              <p:cNvGraphicFramePr>
                <a:graphicFrameLocks noGrp="1"/>
              </p:cNvGraphicFramePr>
              <p:nvPr>
                <p:extLst>
                  <p:ext uri="{D42A27DB-BD31-4B8C-83A1-F6EECF244321}">
                    <p14:modId xmlns:p14="http://schemas.microsoft.com/office/powerpoint/2010/main" val="2160707022"/>
                  </p:ext>
                </p:extLst>
              </p:nvPr>
            </p:nvGraphicFramePr>
            <p:xfrm>
              <a:off x="502920" y="1885918"/>
              <a:ext cx="10954984" cy="3390964"/>
            </p:xfrm>
            <a:graphic>
              <a:graphicData uri="http://schemas.openxmlformats.org/drawingml/2006/table">
                <a:tbl>
                  <a:tblPr firstRow="1" bandRow="1">
                    <a:tableStyleId>{7DF18680-E054-41AD-8BC1-D1AEF772440D}</a:tableStyleId>
                  </a:tblPr>
                  <a:tblGrid>
                    <a:gridCol w="706755">
                      <a:extLst>
                        <a:ext uri="{9D8B030D-6E8A-4147-A177-3AD203B41FA5}">
                          <a16:colId xmlns:a16="http://schemas.microsoft.com/office/drawing/2014/main" val="792006709"/>
                        </a:ext>
                      </a:extLst>
                    </a:gridCol>
                    <a:gridCol w="2543175">
                      <a:extLst>
                        <a:ext uri="{9D8B030D-6E8A-4147-A177-3AD203B41FA5}">
                          <a16:colId xmlns:a16="http://schemas.microsoft.com/office/drawing/2014/main" val="3191133041"/>
                        </a:ext>
                      </a:extLst>
                    </a:gridCol>
                    <a:gridCol w="4133850">
                      <a:extLst>
                        <a:ext uri="{9D8B030D-6E8A-4147-A177-3AD203B41FA5}">
                          <a16:colId xmlns:a16="http://schemas.microsoft.com/office/drawing/2014/main" val="3557718650"/>
                        </a:ext>
                      </a:extLst>
                    </a:gridCol>
                    <a:gridCol w="3571204">
                      <a:extLst>
                        <a:ext uri="{9D8B030D-6E8A-4147-A177-3AD203B41FA5}">
                          <a16:colId xmlns:a16="http://schemas.microsoft.com/office/drawing/2014/main" val="2875455344"/>
                        </a:ext>
                      </a:extLst>
                    </a:gridCol>
                  </a:tblGrid>
                  <a:tr h="370840">
                    <a:tc>
                      <a:txBody>
                        <a:bodyPr/>
                        <a:lstStyle/>
                        <a:p>
                          <a:pPr algn="ctr"/>
                          <a:r>
                            <a:rPr lang="en-US" sz="2000" b="1"/>
                            <a:t>Test No.</a:t>
                          </a:r>
                        </a:p>
                      </a:txBody>
                      <a:tcPr/>
                    </a:tc>
                    <a:tc>
                      <a:txBody>
                        <a:bodyPr/>
                        <a:lstStyle/>
                        <a:p>
                          <a:pPr algn="ctr"/>
                          <a:r>
                            <a:rPr lang="en-US" sz="2000"/>
                            <a:t>Name</a:t>
                          </a:r>
                          <a:endParaRPr lang="en-US" sz="2000" b="1"/>
                        </a:p>
                      </a:txBody>
                      <a:tcPr/>
                    </a:tc>
                    <a:tc>
                      <a:txBody>
                        <a:bodyPr/>
                        <a:lstStyle/>
                        <a:p>
                          <a:pPr algn="ctr"/>
                          <a:r>
                            <a:rPr lang="en-US" sz="2000" b="1"/>
                            <a:t>Scenario</a:t>
                          </a:r>
                        </a:p>
                      </a:txBody>
                      <a:tcPr/>
                    </a:tc>
                    <a:tc>
                      <a:txBody>
                        <a:bodyPr/>
                        <a:lstStyle/>
                        <a:p>
                          <a:pPr algn="ctr"/>
                          <a:r>
                            <a:rPr lang="en-US" sz="2000" b="1"/>
                            <a:t>Expected Output</a:t>
                          </a:r>
                        </a:p>
                      </a:txBody>
                      <a:tcPr/>
                    </a:tc>
                    <a:extLst>
                      <a:ext uri="{0D108BD9-81ED-4DB2-BD59-A6C34878D82A}">
                        <a16:rowId xmlns:a16="http://schemas.microsoft.com/office/drawing/2014/main" val="1375436194"/>
                      </a:ext>
                    </a:extLst>
                  </a:tr>
                  <a:tr h="370840">
                    <a:tc>
                      <a:txBody>
                        <a:bodyPr/>
                        <a:lstStyle/>
                        <a:p>
                          <a:pPr algn="ctr"/>
                          <a:r>
                            <a:rPr lang="en-US" sz="2000" b="1"/>
                            <a:t>04</a:t>
                          </a:r>
                        </a:p>
                      </a:txBody>
                      <a:tcPr/>
                    </a:tc>
                    <a:tc>
                      <a:txBody>
                        <a:bodyPr/>
                        <a:lstStyle/>
                        <a:p>
                          <a:pPr algn="l"/>
                          <a:r>
                            <a:rPr lang="en-US" sz="2000" b="1"/>
                            <a:t>ORC Geometry</a:t>
                          </a:r>
                        </a:p>
                      </a:txBody>
                      <a:tcPr/>
                    </a:tc>
                    <a:tc>
                      <a:txBody>
                        <a:bodyPr/>
                        <a:lstStyle/>
                        <a:p>
                          <a:pPr algn="ctr"/>
                          <a:r>
                            <a:rPr lang="en-US" sz="2000" b="1"/>
                            <a:t>Clique Vs. Bridge edge</a:t>
                          </a:r>
                        </a:p>
                      </a:txBody>
                      <a:tcPr/>
                    </a:tc>
                    <a:tc>
                      <a:txBody>
                        <a:bodyPr/>
                        <a:lstStyle/>
                        <a:p>
                          <a:pPr algn="ct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𝑮𝒆𝒐𝒎𝒆𝒕𝒓𝒚</m:t>
                                </m:r>
                                <m:r>
                                  <a:rPr lang="en-US" sz="2000" b="1" i="1" smtClean="0">
                                    <a:latin typeface="Cambria Math" panose="02040503050406030204" pitchFamily="18" charset="0"/>
                                  </a:rPr>
                                  <m:t>=</m:t>
                                </m:r>
                                <m:d>
                                  <m:dPr>
                                    <m:begChr m:val="{"/>
                                    <m:endChr m:val=""/>
                                    <m:ctrlPr>
                                      <a:rPr lang="en-US" sz="2000" b="1" i="1" smtClean="0">
                                        <a:latin typeface="Cambria Math" panose="02040503050406030204" pitchFamily="18" charset="0"/>
                                      </a:rPr>
                                    </m:ctrlPr>
                                  </m:dPr>
                                  <m:e>
                                    <m:eqArr>
                                      <m:eqArrPr>
                                        <m:ctrlPr>
                                          <a:rPr lang="en-US" sz="2000" b="1" i="1" smtClean="0">
                                            <a:latin typeface="Cambria Math" panose="02040503050406030204" pitchFamily="18" charset="0"/>
                                          </a:rPr>
                                        </m:ctrlPr>
                                      </m:eqArrPr>
                                      <m:e>
                                        <m:r>
                                          <a:rPr lang="en-US" sz="2000" b="1" i="1" smtClean="0">
                                            <a:latin typeface="Cambria Math" panose="02040503050406030204" pitchFamily="18" charset="0"/>
                                          </a:rPr>
                                          <m:t>𝜿</m:t>
                                        </m:r>
                                        <m:r>
                                          <a:rPr lang="en-US" sz="2000" b="1" i="1" smtClean="0">
                                            <a:latin typeface="Cambria Math" panose="02040503050406030204" pitchFamily="18" charset="0"/>
                                          </a:rPr>
                                          <m:t>&gt;</m:t>
                                        </m:r>
                                        <m:r>
                                          <a:rPr lang="en-US" sz="2000" b="1" i="1" smtClean="0">
                                            <a:latin typeface="Cambria Math" panose="02040503050406030204" pitchFamily="18" charset="0"/>
                                          </a:rPr>
                                          <m:t>𝟎</m:t>
                                        </m:r>
                                        <m:r>
                                          <a:rPr lang="en-US" sz="2000" b="1" i="1" smtClean="0">
                                            <a:latin typeface="Cambria Math" panose="02040503050406030204" pitchFamily="18" charset="0"/>
                                          </a:rPr>
                                          <m:t>, </m:t>
                                        </m:r>
                                        <m:r>
                                          <a:rPr lang="en-US" sz="2000" b="1" i="1" smtClean="0">
                                            <a:latin typeface="Cambria Math" panose="02040503050406030204" pitchFamily="18" charset="0"/>
                                          </a:rPr>
                                          <m:t>𝑪𝒍𝒊𝒒𝒖𝒆</m:t>
                                        </m:r>
                                      </m:e>
                                      <m:e>
                                        <m:r>
                                          <a:rPr lang="en-US" sz="2000" b="1" i="1" smtClean="0">
                                            <a:latin typeface="Cambria Math" panose="02040503050406030204" pitchFamily="18" charset="0"/>
                                          </a:rPr>
                                          <m:t>𝜿</m:t>
                                        </m:r>
                                        <m:r>
                                          <a:rPr lang="en-US" sz="2000" b="1" i="1" smtClean="0">
                                            <a:latin typeface="Cambria Math" panose="02040503050406030204" pitchFamily="18" charset="0"/>
                                          </a:rPr>
                                          <m:t>&lt;</m:t>
                                        </m:r>
                                        <m:r>
                                          <a:rPr lang="en-US" sz="2000" b="1" i="1" smtClean="0">
                                            <a:latin typeface="Cambria Math" panose="02040503050406030204" pitchFamily="18" charset="0"/>
                                          </a:rPr>
                                          <m:t>𝟎</m:t>
                                        </m:r>
                                        <m:r>
                                          <a:rPr lang="en-US" sz="2000" b="1" i="1" smtClean="0">
                                            <a:latin typeface="Cambria Math" panose="02040503050406030204" pitchFamily="18" charset="0"/>
                                          </a:rPr>
                                          <m:t>, </m:t>
                                        </m:r>
                                        <m:r>
                                          <a:rPr lang="en-US" sz="2000" b="1" i="1" smtClean="0">
                                            <a:latin typeface="Cambria Math" panose="02040503050406030204" pitchFamily="18" charset="0"/>
                                          </a:rPr>
                                          <m:t>𝑩𝒓𝒊𝒅𝒈𝒆</m:t>
                                        </m:r>
                                      </m:e>
                                    </m:eqArr>
                                  </m:e>
                                </m:d>
                              </m:oMath>
                            </m:oMathPara>
                          </a14:m>
                          <a:endParaRPr lang="en-US" sz="2000" b="1"/>
                        </a:p>
                      </a:txBody>
                      <a:tcPr/>
                    </a:tc>
                    <a:extLst>
                      <a:ext uri="{0D108BD9-81ED-4DB2-BD59-A6C34878D82A}">
                        <a16:rowId xmlns:a16="http://schemas.microsoft.com/office/drawing/2014/main" val="1887661774"/>
                      </a:ext>
                    </a:extLst>
                  </a:tr>
                  <a:tr h="370840">
                    <a:tc>
                      <a:txBody>
                        <a:bodyPr/>
                        <a:lstStyle/>
                        <a:p>
                          <a:pPr algn="ctr"/>
                          <a:r>
                            <a:rPr lang="en-US" sz="2000" b="1"/>
                            <a:t>05</a:t>
                          </a:r>
                        </a:p>
                      </a:txBody>
                      <a:tcPr/>
                    </a:tc>
                    <a:tc>
                      <a:txBody>
                        <a:bodyPr/>
                        <a:lstStyle/>
                        <a:p>
                          <a:pPr algn="l"/>
                          <a:r>
                            <a:rPr lang="en-US" sz="2000" b="1"/>
                            <a:t>Temporal Validity</a:t>
                          </a:r>
                        </a:p>
                      </a:txBody>
                      <a:tcPr/>
                    </a:tc>
                    <a:tc>
                      <a:txBody>
                        <a:bodyPr/>
                        <a:lstStyle/>
                        <a:p>
                          <a:pPr algn="ctr"/>
                          <a:r>
                            <a:rPr lang="en-US" sz="2000" b="1"/>
                            <a:t>Implausible citing </a:t>
                          </a:r>
                          <a14:m>
                            <m:oMath xmlns:m="http://schemas.openxmlformats.org/officeDocument/2006/math">
                              <m:r>
                                <a:rPr lang="en-US" sz="2000" b="1" i="1" smtClean="0">
                                  <a:latin typeface="Cambria Math" panose="02040503050406030204" pitchFamily="18" charset="0"/>
                                  <a:ea typeface="Cambria Math" panose="02040503050406030204" pitchFamily="18" charset="0"/>
                                </a:rPr>
                                <m:t>⇔</m:t>
                              </m:r>
                              <m:sSub>
                                <m:sSubPr>
                                  <m:ctrlPr>
                                    <a:rPr lang="en-US" sz="2000" b="1" i="1" smtClean="0">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𝒕</m:t>
                                  </m:r>
                                </m:e>
                                <m:sub>
                                  <m:r>
                                    <a:rPr lang="en-US" sz="2000" b="1" i="1" smtClean="0">
                                      <a:latin typeface="Cambria Math" panose="02040503050406030204" pitchFamily="18" charset="0"/>
                                      <a:ea typeface="Cambria Math" panose="02040503050406030204" pitchFamily="18" charset="0"/>
                                    </a:rPr>
                                    <m:t>𝒄𝒊𝒕𝒊𝒏𝒈</m:t>
                                  </m:r>
                                </m:sub>
                              </m:sSub>
                              <m:r>
                                <a:rPr lang="en-US" sz="2000" b="1" i="1" smtClean="0">
                                  <a:latin typeface="Cambria Math" panose="02040503050406030204" pitchFamily="18" charset="0"/>
                                  <a:ea typeface="Cambria Math" panose="02040503050406030204" pitchFamily="18" charset="0"/>
                                </a:rPr>
                                <m:t>&lt;</m:t>
                              </m:r>
                              <m:sSub>
                                <m:sSubPr>
                                  <m:ctrlPr>
                                    <a:rPr lang="en-US" sz="2000" b="1" i="1" smtClean="0">
                                      <a:latin typeface="Cambria Math" panose="02040503050406030204" pitchFamily="18" charset="0"/>
                                      <a:ea typeface="Cambria Math" panose="02040503050406030204" pitchFamily="18" charset="0"/>
                                    </a:rPr>
                                  </m:ctrlPr>
                                </m:sSubPr>
                                <m:e>
                                  <m:r>
                                    <a:rPr lang="en-US" sz="2000" b="1" i="1" smtClean="0">
                                      <a:latin typeface="Cambria Math" panose="02040503050406030204" pitchFamily="18" charset="0"/>
                                      <a:ea typeface="Cambria Math" panose="02040503050406030204" pitchFamily="18" charset="0"/>
                                    </a:rPr>
                                    <m:t>𝒕</m:t>
                                  </m:r>
                                </m:e>
                                <m:sub>
                                  <m:r>
                                    <a:rPr lang="en-US" sz="2000" b="1" i="1" smtClean="0">
                                      <a:latin typeface="Cambria Math" panose="02040503050406030204" pitchFamily="18" charset="0"/>
                                      <a:ea typeface="Cambria Math" panose="02040503050406030204" pitchFamily="18" charset="0"/>
                                    </a:rPr>
                                    <m:t>𝒄𝒊𝒕𝒆𝒅</m:t>
                                  </m:r>
                                </m:sub>
                              </m:sSub>
                              <m:r>
                                <a:rPr lang="en-US" sz="2000" b="1" i="1" smtClean="0">
                                  <a:latin typeface="Cambria Math" panose="02040503050406030204" pitchFamily="18" charset="0"/>
                                </a:rPr>
                                <m:t> </m:t>
                              </m:r>
                            </m:oMath>
                          </a14:m>
                          <a:endParaRPr lang="en-US" sz="2000" b="1"/>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𝜹</m:t>
                                    </m:r>
                                  </m:e>
                                  <m:sub>
                                    <m:r>
                                      <a:rPr lang="en-US" sz="2000" b="1" i="1" smtClean="0">
                                        <a:latin typeface="Cambria Math" panose="02040503050406030204" pitchFamily="18" charset="0"/>
                                      </a:rPr>
                                      <m:t>𝒕𝒆𝒎𝒑</m:t>
                                    </m:r>
                                  </m:sub>
                                </m:sSub>
                                <m:r>
                                  <a:rPr lang="en-US" sz="2000" b="1" i="1" smtClean="0">
                                    <a:latin typeface="Cambria Math" panose="02040503050406030204" pitchFamily="18" charset="0"/>
                                  </a:rPr>
                                  <m:t>=</m:t>
                                </m:r>
                                <m:r>
                                  <a:rPr lang="en-US" sz="2000" b="1" i="1" smtClean="0">
                                    <a:latin typeface="Cambria Math" panose="02040503050406030204" pitchFamily="18" charset="0"/>
                                  </a:rPr>
                                  <m:t>𝟎</m:t>
                                </m:r>
                              </m:oMath>
                            </m:oMathPara>
                          </a14:m>
                          <a:endParaRPr lang="en-US" sz="2000" b="1"/>
                        </a:p>
                      </a:txBody>
                      <a:tcPr/>
                    </a:tc>
                    <a:extLst>
                      <a:ext uri="{0D108BD9-81ED-4DB2-BD59-A6C34878D82A}">
                        <a16:rowId xmlns:a16="http://schemas.microsoft.com/office/drawing/2014/main" val="3252538773"/>
                      </a:ext>
                    </a:extLst>
                  </a:tr>
                  <a:tr h="370840">
                    <a:tc>
                      <a:txBody>
                        <a:bodyPr/>
                        <a:lstStyle/>
                        <a:p>
                          <a:pPr algn="ctr"/>
                          <a:r>
                            <a:rPr lang="en-US" sz="2000" b="1"/>
                            <a:t>11</a:t>
                          </a:r>
                        </a:p>
                      </a:txBody>
                      <a:tcPr/>
                    </a:tc>
                    <a:tc>
                      <a:txBody>
                        <a:bodyPr/>
                        <a:lstStyle/>
                        <a:p>
                          <a:pPr algn="l"/>
                          <a:r>
                            <a:rPr lang="en-US" sz="2000" b="1"/>
                            <a:t>Activation Boundaries</a:t>
                          </a:r>
                        </a:p>
                      </a:txBody>
                      <a:tcPr/>
                    </a:tc>
                    <a:tc>
                      <a:txBody>
                        <a:bodyPr/>
                        <a:lstStyle/>
                        <a:p>
                          <a:pPr algn="ctr"/>
                          <a:r>
                            <a:rPr lang="en-US" sz="2000" b="1"/>
                            <a:t>Force extreme values (e.g., 9999) through the citation trust head</a:t>
                          </a:r>
                        </a:p>
                      </a:txBody>
                      <a:tcPr/>
                    </a:tc>
                    <a:tc>
                      <a:txBody>
                        <a:bodyPr/>
                        <a:lstStyle/>
                        <a:p>
                          <a:pPr algn="ctr"/>
                          <a14:m>
                            <m:oMathPara xmlns:m="http://schemas.openxmlformats.org/officeDocument/2006/math">
                              <m:oMathParaPr>
                                <m:jc m:val="centerGroup"/>
                              </m:oMathParaPr>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𝒘</m:t>
                                    </m:r>
                                  </m:e>
                                  <m:sub>
                                    <m:r>
                                      <a:rPr lang="en-US" sz="2000" b="1" i="1" smtClean="0">
                                        <a:latin typeface="Cambria Math" panose="02040503050406030204" pitchFamily="18" charset="0"/>
                                      </a:rPr>
                                      <m:t>𝒆</m:t>
                                    </m:r>
                                  </m:sub>
                                </m:sSub>
                                <m:r>
                                  <a:rPr lang="en-US" sz="2000" b="1" i="1" smtClean="0">
                                    <a:latin typeface="Cambria Math" panose="02040503050406030204" pitchFamily="18" charset="0"/>
                                  </a:rPr>
                                  <m:t>∈</m:t>
                                </m:r>
                                <m:d>
                                  <m:dPr>
                                    <m:ctrlPr>
                                      <a:rPr lang="en-US" sz="2000" b="1" i="1" smtClean="0">
                                        <a:latin typeface="Cambria Math" panose="02040503050406030204" pitchFamily="18" charset="0"/>
                                      </a:rPr>
                                    </m:ctrlPr>
                                  </m:dPr>
                                  <m:e>
                                    <m:r>
                                      <a:rPr lang="en-US" sz="2000" b="1" i="1" smtClean="0">
                                        <a:latin typeface="Cambria Math" panose="02040503050406030204" pitchFamily="18" charset="0"/>
                                      </a:rPr>
                                      <m:t>𝟎</m:t>
                                    </m:r>
                                    <m:r>
                                      <a:rPr lang="en-US" sz="2000" b="1" i="1" smtClean="0">
                                        <a:latin typeface="Cambria Math" panose="02040503050406030204" pitchFamily="18" charset="0"/>
                                      </a:rPr>
                                      <m:t>,</m:t>
                                    </m:r>
                                    <m:r>
                                      <a:rPr lang="en-US" sz="2000" b="1" i="1" smtClean="0">
                                        <a:latin typeface="Cambria Math" panose="02040503050406030204" pitchFamily="18" charset="0"/>
                                      </a:rPr>
                                      <m:t>𝟏</m:t>
                                    </m:r>
                                  </m:e>
                                </m:d>
                              </m:oMath>
                            </m:oMathPara>
                          </a14:m>
                          <a:endParaRPr lang="en-US" sz="2000" b="1"/>
                        </a:p>
                      </a:txBody>
                      <a:tcPr/>
                    </a:tc>
                    <a:extLst>
                      <a:ext uri="{0D108BD9-81ED-4DB2-BD59-A6C34878D82A}">
                        <a16:rowId xmlns:a16="http://schemas.microsoft.com/office/drawing/2014/main" val="1986014062"/>
                      </a:ext>
                    </a:extLst>
                  </a:tr>
                  <a:tr h="370840">
                    <a:tc>
                      <a:txBody>
                        <a:bodyPr/>
                        <a:lstStyle/>
                        <a:p>
                          <a:pPr algn="ctr"/>
                          <a:r>
                            <a:rPr lang="en-US" sz="2000" b="1"/>
                            <a:t>17</a:t>
                          </a:r>
                        </a:p>
                      </a:txBody>
                      <a:tcPr/>
                    </a:tc>
                    <a:tc>
                      <a:txBody>
                        <a:bodyPr/>
                        <a:lstStyle/>
                        <a:p>
                          <a:pPr algn="l"/>
                          <a:r>
                            <a:rPr lang="en-US" sz="2000" b="1"/>
                            <a:t>Z-Score Gate</a:t>
                          </a:r>
                        </a:p>
                      </a:txBody>
                      <a:tcPr/>
                    </a:tc>
                    <a:tc>
                      <a:txBody>
                        <a:bodyPr/>
                        <a:lstStyle/>
                        <a:p>
                          <a:pPr algn="ctr"/>
                          <a14:m>
                            <m:oMathPara xmlns:m="http://schemas.openxmlformats.org/officeDocument/2006/math">
                              <m:oMathParaPr>
                                <m:jc m:val="centerGroup"/>
                              </m:oMathParaPr>
                              <m:oMath xmlns:m="http://schemas.openxmlformats.org/officeDocument/2006/math">
                                <m:r>
                                  <a:rPr lang="en-US" sz="2000" b="1" i="1" smtClean="0">
                                    <a:latin typeface="Cambria Math" panose="02040503050406030204" pitchFamily="18" charset="0"/>
                                  </a:rPr>
                                  <m:t>𝑵𝑪𝑨𝑰𝑭</m:t>
                                </m:r>
                                <m:r>
                                  <a:rPr lang="en-US" sz="2000" b="1" i="1" smtClean="0">
                                    <a:latin typeface="Cambria Math" panose="02040503050406030204" pitchFamily="18" charset="0"/>
                                  </a:rPr>
                                  <m:t>=</m:t>
                                </m:r>
                                <m:r>
                                  <a:rPr lang="en-US" sz="2000" b="1" i="1" smtClean="0">
                                    <a:latin typeface="Cambria Math" panose="02040503050406030204" pitchFamily="18" charset="0"/>
                                  </a:rPr>
                                  <m:t>𝒏𝒖𝒍𝒍</m:t>
                                </m:r>
                                <m:r>
                                  <a:rPr lang="en-US" sz="2000" b="1" i="1" smtClean="0">
                                    <a:latin typeface="Cambria Math" panose="02040503050406030204" pitchFamily="18" charset="0"/>
                                  </a:rPr>
                                  <m:t> </m:t>
                                </m:r>
                                <m:r>
                                  <a:rPr lang="en-US" sz="2000" b="1" i="1" smtClean="0">
                                    <a:latin typeface="Cambria Math" panose="02040503050406030204" pitchFamily="18" charset="0"/>
                                  </a:rPr>
                                  <m:t>𝒎𝒆𝒂𝒏</m:t>
                                </m:r>
                              </m:oMath>
                            </m:oMathPara>
                          </a14:m>
                          <a:endParaRPr lang="en-US" sz="2000" b="1"/>
                        </a:p>
                      </a:txBody>
                      <a:tcPr/>
                    </a:tc>
                    <a:tc>
                      <a:txBody>
                        <a:bodyPr/>
                        <a:lstStyle/>
                        <a:p>
                          <a:pPr algn="ctr"/>
                          <a:r>
                            <a:rPr lang="en-US" sz="2000" b="1"/>
                            <a:t>“Not Significant” flag = 1</a:t>
                          </a:r>
                        </a:p>
                      </a:txBody>
                      <a:tcPr/>
                    </a:tc>
                    <a:extLst>
                      <a:ext uri="{0D108BD9-81ED-4DB2-BD59-A6C34878D82A}">
                        <a16:rowId xmlns:a16="http://schemas.microsoft.com/office/drawing/2014/main" val="1862174470"/>
                      </a:ext>
                    </a:extLst>
                  </a:tr>
                  <a:tr h="370840">
                    <a:tc>
                      <a:txBody>
                        <a:bodyPr/>
                        <a:lstStyle/>
                        <a:p>
                          <a:pPr algn="ctr"/>
                          <a:r>
                            <a:rPr lang="en-US" sz="2000" b="1"/>
                            <a:t>18</a:t>
                          </a:r>
                        </a:p>
                      </a:txBody>
                      <a:tcPr/>
                    </a:tc>
                    <a:tc>
                      <a:txBody>
                        <a:bodyPr/>
                        <a:lstStyle/>
                        <a:p>
                          <a:pPr algn="l"/>
                          <a:r>
                            <a:rPr lang="en-US" sz="2000" b="1"/>
                            <a:t>Loopback</a:t>
                          </a:r>
                        </a:p>
                      </a:txBody>
                      <a:tcPr/>
                    </a:tc>
                    <a:tc>
                      <a:txBody>
                        <a:bodyPr/>
                        <a:lstStyle/>
                        <a:p>
                          <a:pPr algn="ctr"/>
                          <a:r>
                            <a:rPr lang="en-US" sz="2000" b="1"/>
                            <a:t>Low confidence “Phase 4”</a:t>
                          </a:r>
                        </a:p>
                      </a:txBody>
                      <a:tcPr/>
                    </a:tc>
                    <a:tc>
                      <a:txBody>
                        <a:bodyPr/>
                        <a:lstStyle/>
                        <a:p>
                          <a:pPr algn="ctr"/>
                          <a:r>
                            <a:rPr lang="en-US" sz="2000" b="1"/>
                            <a:t>Re-route to “Phase 3”</a:t>
                          </a:r>
                        </a:p>
                      </a:txBody>
                      <a:tcPr/>
                    </a:tc>
                    <a:extLst>
                      <a:ext uri="{0D108BD9-81ED-4DB2-BD59-A6C34878D82A}">
                        <a16:rowId xmlns:a16="http://schemas.microsoft.com/office/drawing/2014/main" val="649058558"/>
                      </a:ext>
                    </a:extLst>
                  </a:tr>
                </a:tbl>
              </a:graphicData>
            </a:graphic>
          </p:graphicFrame>
        </mc:Choice>
        <mc:Fallback xmlns="">
          <p:graphicFrame>
            <p:nvGraphicFramePr>
              <p:cNvPr id="7" name="Table 6">
                <a:extLst>
                  <a:ext uri="{FF2B5EF4-FFF2-40B4-BE49-F238E27FC236}">
                    <a16:creationId xmlns:a16="http://schemas.microsoft.com/office/drawing/2014/main" id="{707B9E36-A591-0571-2BB1-792D95DCA63D}"/>
                  </a:ext>
                </a:extLst>
              </p:cNvPr>
              <p:cNvGraphicFramePr>
                <a:graphicFrameLocks noGrp="1"/>
              </p:cNvGraphicFramePr>
              <p:nvPr>
                <p:extLst>
                  <p:ext uri="{D42A27DB-BD31-4B8C-83A1-F6EECF244321}">
                    <p14:modId xmlns:p14="http://schemas.microsoft.com/office/powerpoint/2010/main" val="2160707022"/>
                  </p:ext>
                </p:extLst>
              </p:nvPr>
            </p:nvGraphicFramePr>
            <p:xfrm>
              <a:off x="502920" y="1885918"/>
              <a:ext cx="10954984" cy="3390964"/>
            </p:xfrm>
            <a:graphic>
              <a:graphicData uri="http://schemas.openxmlformats.org/drawingml/2006/table">
                <a:tbl>
                  <a:tblPr firstRow="1" bandRow="1">
                    <a:tableStyleId>{7DF18680-E054-41AD-8BC1-D1AEF772440D}</a:tableStyleId>
                  </a:tblPr>
                  <a:tblGrid>
                    <a:gridCol w="706755">
                      <a:extLst>
                        <a:ext uri="{9D8B030D-6E8A-4147-A177-3AD203B41FA5}">
                          <a16:colId xmlns:a16="http://schemas.microsoft.com/office/drawing/2014/main" val="792006709"/>
                        </a:ext>
                      </a:extLst>
                    </a:gridCol>
                    <a:gridCol w="2543175">
                      <a:extLst>
                        <a:ext uri="{9D8B030D-6E8A-4147-A177-3AD203B41FA5}">
                          <a16:colId xmlns:a16="http://schemas.microsoft.com/office/drawing/2014/main" val="3191133041"/>
                        </a:ext>
                      </a:extLst>
                    </a:gridCol>
                    <a:gridCol w="4133850">
                      <a:extLst>
                        <a:ext uri="{9D8B030D-6E8A-4147-A177-3AD203B41FA5}">
                          <a16:colId xmlns:a16="http://schemas.microsoft.com/office/drawing/2014/main" val="3557718650"/>
                        </a:ext>
                      </a:extLst>
                    </a:gridCol>
                    <a:gridCol w="3571204">
                      <a:extLst>
                        <a:ext uri="{9D8B030D-6E8A-4147-A177-3AD203B41FA5}">
                          <a16:colId xmlns:a16="http://schemas.microsoft.com/office/drawing/2014/main" val="2875455344"/>
                        </a:ext>
                      </a:extLst>
                    </a:gridCol>
                  </a:tblGrid>
                  <a:tr h="701040">
                    <a:tc>
                      <a:txBody>
                        <a:bodyPr/>
                        <a:lstStyle/>
                        <a:p>
                          <a:pPr algn="ctr"/>
                          <a:r>
                            <a:rPr lang="en-US" sz="2000" b="1"/>
                            <a:t>Test No.</a:t>
                          </a:r>
                        </a:p>
                      </a:txBody>
                      <a:tcPr/>
                    </a:tc>
                    <a:tc>
                      <a:txBody>
                        <a:bodyPr/>
                        <a:lstStyle/>
                        <a:p>
                          <a:pPr algn="ctr"/>
                          <a:r>
                            <a:rPr lang="en-US" sz="2000"/>
                            <a:t>Name</a:t>
                          </a:r>
                          <a:endParaRPr lang="en-US" sz="2000" b="1"/>
                        </a:p>
                      </a:txBody>
                      <a:tcPr/>
                    </a:tc>
                    <a:tc>
                      <a:txBody>
                        <a:bodyPr/>
                        <a:lstStyle/>
                        <a:p>
                          <a:pPr algn="ctr"/>
                          <a:r>
                            <a:rPr lang="en-US" sz="2000" b="1"/>
                            <a:t>Scenario</a:t>
                          </a:r>
                        </a:p>
                      </a:txBody>
                      <a:tcPr/>
                    </a:tc>
                    <a:tc>
                      <a:txBody>
                        <a:bodyPr/>
                        <a:lstStyle/>
                        <a:p>
                          <a:pPr algn="ctr"/>
                          <a:r>
                            <a:rPr lang="en-US" sz="2000" b="1"/>
                            <a:t>Expected Output</a:t>
                          </a:r>
                        </a:p>
                      </a:txBody>
                      <a:tcPr/>
                    </a:tc>
                    <a:extLst>
                      <a:ext uri="{0D108BD9-81ED-4DB2-BD59-A6C34878D82A}">
                        <a16:rowId xmlns:a16="http://schemas.microsoft.com/office/drawing/2014/main" val="1375436194"/>
                      </a:ext>
                    </a:extLst>
                  </a:tr>
                  <a:tr h="771335">
                    <a:tc>
                      <a:txBody>
                        <a:bodyPr/>
                        <a:lstStyle/>
                        <a:p>
                          <a:pPr algn="ctr"/>
                          <a:r>
                            <a:rPr lang="en-US" sz="2000" b="1"/>
                            <a:t>04</a:t>
                          </a:r>
                        </a:p>
                      </a:txBody>
                      <a:tcPr/>
                    </a:tc>
                    <a:tc>
                      <a:txBody>
                        <a:bodyPr/>
                        <a:lstStyle/>
                        <a:p>
                          <a:pPr algn="l"/>
                          <a:r>
                            <a:rPr lang="en-US" sz="2000" b="1"/>
                            <a:t>ORC Geometry</a:t>
                          </a:r>
                        </a:p>
                      </a:txBody>
                      <a:tcPr/>
                    </a:tc>
                    <a:tc>
                      <a:txBody>
                        <a:bodyPr/>
                        <a:lstStyle/>
                        <a:p>
                          <a:pPr algn="ctr"/>
                          <a:r>
                            <a:rPr lang="en-US" sz="2000" b="1"/>
                            <a:t>Clique Vs. Bridge edge</a:t>
                          </a:r>
                        </a:p>
                      </a:txBody>
                      <a:tcPr/>
                    </a:tc>
                    <a:tc>
                      <a:txBody>
                        <a:bodyPr/>
                        <a:lstStyle/>
                        <a:p>
                          <a:endParaRPr lang="en-US"/>
                        </a:p>
                      </a:txBody>
                      <a:tcPr>
                        <a:blipFill>
                          <a:blip r:embed="rId3"/>
                          <a:stretch>
                            <a:fillRect l="-206997" t="-94488" r="-683" b="-262205"/>
                          </a:stretch>
                        </a:blipFill>
                      </a:tcPr>
                    </a:tc>
                    <a:extLst>
                      <a:ext uri="{0D108BD9-81ED-4DB2-BD59-A6C34878D82A}">
                        <a16:rowId xmlns:a16="http://schemas.microsoft.com/office/drawing/2014/main" val="1887661774"/>
                      </a:ext>
                    </a:extLst>
                  </a:tr>
                  <a:tr h="425069">
                    <a:tc>
                      <a:txBody>
                        <a:bodyPr/>
                        <a:lstStyle/>
                        <a:p>
                          <a:pPr algn="ctr"/>
                          <a:r>
                            <a:rPr lang="en-US" sz="2000" b="1"/>
                            <a:t>05</a:t>
                          </a:r>
                        </a:p>
                      </a:txBody>
                      <a:tcPr/>
                    </a:tc>
                    <a:tc>
                      <a:txBody>
                        <a:bodyPr/>
                        <a:lstStyle/>
                        <a:p>
                          <a:pPr algn="l"/>
                          <a:r>
                            <a:rPr lang="en-US" sz="2000" b="1"/>
                            <a:t>Temporal Validity</a:t>
                          </a:r>
                        </a:p>
                      </a:txBody>
                      <a:tcPr/>
                    </a:tc>
                    <a:tc>
                      <a:txBody>
                        <a:bodyPr/>
                        <a:lstStyle/>
                        <a:p>
                          <a:endParaRPr lang="en-US"/>
                        </a:p>
                      </a:txBody>
                      <a:tcPr>
                        <a:blipFill>
                          <a:blip r:embed="rId3"/>
                          <a:stretch>
                            <a:fillRect l="-78645" t="-352857" r="-86892" b="-375714"/>
                          </a:stretch>
                        </a:blipFill>
                      </a:tcPr>
                    </a:tc>
                    <a:tc>
                      <a:txBody>
                        <a:bodyPr/>
                        <a:lstStyle/>
                        <a:p>
                          <a:endParaRPr lang="en-US"/>
                        </a:p>
                      </a:txBody>
                      <a:tcPr>
                        <a:blipFill>
                          <a:blip r:embed="rId3"/>
                          <a:stretch>
                            <a:fillRect l="-206997" t="-352857" r="-683" b="-375714"/>
                          </a:stretch>
                        </a:blipFill>
                      </a:tcPr>
                    </a:tc>
                    <a:extLst>
                      <a:ext uri="{0D108BD9-81ED-4DB2-BD59-A6C34878D82A}">
                        <a16:rowId xmlns:a16="http://schemas.microsoft.com/office/drawing/2014/main" val="3252538773"/>
                      </a:ext>
                    </a:extLst>
                  </a:tr>
                  <a:tr h="701040">
                    <a:tc>
                      <a:txBody>
                        <a:bodyPr/>
                        <a:lstStyle/>
                        <a:p>
                          <a:pPr algn="ctr"/>
                          <a:r>
                            <a:rPr lang="en-US" sz="2000" b="1"/>
                            <a:t>11</a:t>
                          </a:r>
                        </a:p>
                      </a:txBody>
                      <a:tcPr/>
                    </a:tc>
                    <a:tc>
                      <a:txBody>
                        <a:bodyPr/>
                        <a:lstStyle/>
                        <a:p>
                          <a:pPr algn="l"/>
                          <a:r>
                            <a:rPr lang="en-US" sz="2000" b="1"/>
                            <a:t>Activation Boundaries</a:t>
                          </a:r>
                        </a:p>
                      </a:txBody>
                      <a:tcPr/>
                    </a:tc>
                    <a:tc>
                      <a:txBody>
                        <a:bodyPr/>
                        <a:lstStyle/>
                        <a:p>
                          <a:pPr algn="ctr"/>
                          <a:r>
                            <a:rPr lang="en-US" sz="2000" b="1"/>
                            <a:t>Force extreme values (e.g., 9999) through the citation trust head</a:t>
                          </a:r>
                        </a:p>
                      </a:txBody>
                      <a:tcPr/>
                    </a:tc>
                    <a:tc>
                      <a:txBody>
                        <a:bodyPr/>
                        <a:lstStyle/>
                        <a:p>
                          <a:endParaRPr lang="en-US"/>
                        </a:p>
                      </a:txBody>
                      <a:tcPr>
                        <a:blipFill>
                          <a:blip r:embed="rId3"/>
                          <a:stretch>
                            <a:fillRect l="-206997" t="-275652" r="-683" b="-128696"/>
                          </a:stretch>
                        </a:blipFill>
                      </a:tcPr>
                    </a:tc>
                    <a:extLst>
                      <a:ext uri="{0D108BD9-81ED-4DB2-BD59-A6C34878D82A}">
                        <a16:rowId xmlns:a16="http://schemas.microsoft.com/office/drawing/2014/main" val="1986014062"/>
                      </a:ext>
                    </a:extLst>
                  </a:tr>
                  <a:tr h="396240">
                    <a:tc>
                      <a:txBody>
                        <a:bodyPr/>
                        <a:lstStyle/>
                        <a:p>
                          <a:pPr algn="ctr"/>
                          <a:r>
                            <a:rPr lang="en-US" sz="2000" b="1"/>
                            <a:t>17</a:t>
                          </a:r>
                        </a:p>
                      </a:txBody>
                      <a:tcPr/>
                    </a:tc>
                    <a:tc>
                      <a:txBody>
                        <a:bodyPr/>
                        <a:lstStyle/>
                        <a:p>
                          <a:pPr algn="l"/>
                          <a:r>
                            <a:rPr lang="en-US" sz="2000" b="1"/>
                            <a:t>Z-Score Gate</a:t>
                          </a:r>
                        </a:p>
                      </a:txBody>
                      <a:tcPr/>
                    </a:tc>
                    <a:tc>
                      <a:txBody>
                        <a:bodyPr/>
                        <a:lstStyle/>
                        <a:p>
                          <a:endParaRPr lang="en-US"/>
                        </a:p>
                      </a:txBody>
                      <a:tcPr>
                        <a:blipFill>
                          <a:blip r:embed="rId3"/>
                          <a:stretch>
                            <a:fillRect l="-78645" t="-664615" r="-86892" b="-127692"/>
                          </a:stretch>
                        </a:blipFill>
                      </a:tcPr>
                    </a:tc>
                    <a:tc>
                      <a:txBody>
                        <a:bodyPr/>
                        <a:lstStyle/>
                        <a:p>
                          <a:pPr algn="ctr"/>
                          <a:r>
                            <a:rPr lang="en-US" sz="2000" b="1"/>
                            <a:t>“Not Significant” flag = 1</a:t>
                          </a:r>
                        </a:p>
                      </a:txBody>
                      <a:tcPr/>
                    </a:tc>
                    <a:extLst>
                      <a:ext uri="{0D108BD9-81ED-4DB2-BD59-A6C34878D82A}">
                        <a16:rowId xmlns:a16="http://schemas.microsoft.com/office/drawing/2014/main" val="1862174470"/>
                      </a:ext>
                    </a:extLst>
                  </a:tr>
                  <a:tr h="396240">
                    <a:tc>
                      <a:txBody>
                        <a:bodyPr/>
                        <a:lstStyle/>
                        <a:p>
                          <a:pPr algn="ctr"/>
                          <a:r>
                            <a:rPr lang="en-US" sz="2000" b="1"/>
                            <a:t>18</a:t>
                          </a:r>
                        </a:p>
                      </a:txBody>
                      <a:tcPr/>
                    </a:tc>
                    <a:tc>
                      <a:txBody>
                        <a:bodyPr/>
                        <a:lstStyle/>
                        <a:p>
                          <a:pPr algn="l"/>
                          <a:r>
                            <a:rPr lang="en-US" sz="2000" b="1"/>
                            <a:t>Loopback</a:t>
                          </a:r>
                        </a:p>
                      </a:txBody>
                      <a:tcPr/>
                    </a:tc>
                    <a:tc>
                      <a:txBody>
                        <a:bodyPr/>
                        <a:lstStyle/>
                        <a:p>
                          <a:pPr algn="ctr"/>
                          <a:r>
                            <a:rPr lang="en-US" sz="2000" b="1"/>
                            <a:t>Low confidence “Phase 4”</a:t>
                          </a:r>
                        </a:p>
                      </a:txBody>
                      <a:tcPr/>
                    </a:tc>
                    <a:tc>
                      <a:txBody>
                        <a:bodyPr/>
                        <a:lstStyle/>
                        <a:p>
                          <a:pPr algn="ctr"/>
                          <a:r>
                            <a:rPr lang="en-US" sz="2000" b="1"/>
                            <a:t>Re-route to “Phase 3”</a:t>
                          </a:r>
                        </a:p>
                      </a:txBody>
                      <a:tcPr/>
                    </a:tc>
                    <a:extLst>
                      <a:ext uri="{0D108BD9-81ED-4DB2-BD59-A6C34878D82A}">
                        <a16:rowId xmlns:a16="http://schemas.microsoft.com/office/drawing/2014/main" val="649058558"/>
                      </a:ext>
                    </a:extLst>
                  </a:tr>
                </a:tbl>
              </a:graphicData>
            </a:graphic>
          </p:graphicFrame>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opBar"/>
          <p:cNvSpPr/>
          <p:nvPr/>
        </p:nvSpPr>
        <p:spPr>
          <a:xfrm>
            <a:off x="0" y="0"/>
            <a:ext cx="12191695" cy="256032"/>
          </a:xfrm>
          <a:prstGeom prst="rect">
            <a:avLst/>
          </a:prstGeom>
          <a:gradFill>
            <a:gsLst>
              <a:gs pos="0">
                <a:srgbClr val="0EAFEB"/>
              </a:gs>
              <a:gs pos="100000">
                <a:srgbClr val="0E21BB"/>
              </a:gs>
            </a:gsLst>
            <a:lin ang="10800000" scaled="0"/>
          </a:gradFill>
          <a:ln>
            <a:noFill/>
          </a:ln>
        </p:spPr>
        <p:txBody>
          <a:bodyPr rtlCol="0" anchor="ctr"/>
          <a:lstStyle/>
          <a:p>
            <a:pPr algn="ctr"/>
            <a:endParaRPr/>
          </a:p>
        </p:txBody>
      </p:sp>
      <p:sp>
        <p:nvSpPr>
          <p:cNvPr id="3" name="TealAccent"/>
          <p:cNvSpPr/>
          <p:nvPr/>
        </p:nvSpPr>
        <p:spPr>
          <a:xfrm>
            <a:off x="502920" y="658368"/>
            <a:ext cx="109728" cy="530352"/>
          </a:xfrm>
          <a:prstGeom prst="rect">
            <a:avLst/>
          </a:prstGeom>
          <a:solidFill>
            <a:srgbClr val="14B8A6"/>
          </a:solidFill>
          <a:ln>
            <a:noFill/>
          </a:ln>
        </p:spPr>
        <p:txBody>
          <a:bodyPr rtlCol="0" anchor="ctr"/>
          <a:lstStyle/>
          <a:p>
            <a:pPr algn="ctr"/>
            <a:endParaRPr/>
          </a:p>
        </p:txBody>
      </p:sp>
      <p:sp>
        <p:nvSpPr>
          <p:cNvPr id="4" name="TitleBox"/>
          <p:cNvSpPr txBox="1"/>
          <p:nvPr/>
        </p:nvSpPr>
        <p:spPr>
          <a:xfrm>
            <a:off x="685800" y="488492"/>
            <a:ext cx="10741280" cy="824841"/>
          </a:xfrm>
          <a:prstGeom prst="rect">
            <a:avLst/>
          </a:prstGeom>
          <a:noFill/>
        </p:spPr>
        <p:txBody>
          <a:bodyPr wrap="square" lIns="73152" tIns="73152" rIns="73152" bIns="73152" anchor="ctr">
            <a:spAutoFit/>
          </a:bodyPr>
          <a:lstStyle/>
          <a:p>
            <a:pPr algn="l">
              <a:defRPr sz="2800" b="1">
                <a:solidFill>
                  <a:srgbClr val="0F172A"/>
                </a:solidFill>
                <a:latin typeface="Aptos"/>
              </a:defRPr>
            </a:pPr>
            <a:r>
              <a:rPr lang="en-US" sz="4000"/>
              <a:t>Project Challenges &amp; Complexities</a:t>
            </a:r>
          </a:p>
        </p:txBody>
      </p:sp>
      <p:sp>
        <p:nvSpPr>
          <p:cNvPr id="6" name="SlideNum"/>
          <p:cNvSpPr>
            <a:spLocks noGrp="1"/>
          </p:cNvSpPr>
          <p:nvPr>
            <p:ph type="sldNum" sz="quarter" idx="12"/>
          </p:nvPr>
        </p:nvSpPr>
        <p:spPr/>
        <p:txBody>
          <a:bodyPr/>
          <a:lstStyle/>
          <a:p>
            <a:fld id="{C1FF6DA9-008F-8B48-92A6-B652298478BF}" type="slidenum">
              <a:rPr lang="en-US" smtClean="0"/>
              <a:t>11</a:t>
            </a:fld>
            <a:endParaRPr lang="en-US"/>
          </a:p>
        </p:txBody>
      </p:sp>
      <p:sp>
        <p:nvSpPr>
          <p:cNvPr id="55" name="Shape 4">
            <a:extLst>
              <a:ext uri="{FF2B5EF4-FFF2-40B4-BE49-F238E27FC236}">
                <a16:creationId xmlns:a16="http://schemas.microsoft.com/office/drawing/2014/main" id="{A6E70651-0AE7-054B-005D-66CD7645E587}"/>
              </a:ext>
            </a:extLst>
          </p:cNvPr>
          <p:cNvSpPr/>
          <p:nvPr/>
        </p:nvSpPr>
        <p:spPr>
          <a:xfrm>
            <a:off x="209931" y="1520394"/>
            <a:ext cx="11636920" cy="1401564"/>
          </a:xfrm>
          <a:prstGeom prst="roundRect">
            <a:avLst>
              <a:gd name="adj" fmla="val 9148"/>
            </a:avLst>
          </a:prstGeom>
          <a:solidFill>
            <a:srgbClr val="FFFFFF"/>
          </a:solidFill>
          <a:ln/>
          <a:effectLst>
            <a:outerShdw blurRad="285750" dist="114300" dir="5400000" algn="bl" rotWithShape="0">
              <a:srgbClr val="1C1B3A">
                <a:alpha val="6000"/>
              </a:srgbClr>
            </a:outerShdw>
          </a:effectLst>
        </p:spPr>
        <p:txBody>
          <a:bodyPr/>
          <a:lstStyle/>
          <a:p>
            <a:endParaRPr lang="en-IL"/>
          </a:p>
        </p:txBody>
      </p:sp>
      <p:sp>
        <p:nvSpPr>
          <p:cNvPr id="56" name="Shape 5">
            <a:extLst>
              <a:ext uri="{FF2B5EF4-FFF2-40B4-BE49-F238E27FC236}">
                <a16:creationId xmlns:a16="http://schemas.microsoft.com/office/drawing/2014/main" id="{52E08E61-26A2-59C8-D45E-D6FCF97CF51D}"/>
              </a:ext>
            </a:extLst>
          </p:cNvPr>
          <p:cNvSpPr/>
          <p:nvPr/>
        </p:nvSpPr>
        <p:spPr>
          <a:xfrm>
            <a:off x="209931" y="1520394"/>
            <a:ext cx="5824813" cy="1401564"/>
          </a:xfrm>
          <a:prstGeom prst="rect">
            <a:avLst/>
          </a:prstGeom>
          <a:solidFill>
            <a:srgbClr val="FCEFEE"/>
          </a:solidFill>
          <a:ln/>
        </p:spPr>
        <p:txBody>
          <a:bodyPr/>
          <a:lstStyle/>
          <a:p>
            <a:endParaRPr lang="en-IL"/>
          </a:p>
        </p:txBody>
      </p:sp>
      <p:sp>
        <p:nvSpPr>
          <p:cNvPr id="57" name="Shape 6">
            <a:extLst>
              <a:ext uri="{FF2B5EF4-FFF2-40B4-BE49-F238E27FC236}">
                <a16:creationId xmlns:a16="http://schemas.microsoft.com/office/drawing/2014/main" id="{3684323A-9E67-BEF2-2AA9-80636DDD45D7}"/>
              </a:ext>
            </a:extLst>
          </p:cNvPr>
          <p:cNvSpPr/>
          <p:nvPr/>
        </p:nvSpPr>
        <p:spPr>
          <a:xfrm>
            <a:off x="209931" y="1520394"/>
            <a:ext cx="45719" cy="1401564"/>
          </a:xfrm>
          <a:prstGeom prst="rect">
            <a:avLst/>
          </a:prstGeom>
          <a:solidFill>
            <a:srgbClr val="CF4636"/>
          </a:solidFill>
          <a:ln/>
        </p:spPr>
        <p:txBody>
          <a:bodyPr/>
          <a:lstStyle/>
          <a:p>
            <a:endParaRPr lang="en-IL"/>
          </a:p>
        </p:txBody>
      </p:sp>
      <p:sp>
        <p:nvSpPr>
          <p:cNvPr id="58" name="Text 7">
            <a:extLst>
              <a:ext uri="{FF2B5EF4-FFF2-40B4-BE49-F238E27FC236}">
                <a16:creationId xmlns:a16="http://schemas.microsoft.com/office/drawing/2014/main" id="{A3C91815-EDF3-EC9B-4CB3-498035394EA7}"/>
              </a:ext>
            </a:extLst>
          </p:cNvPr>
          <p:cNvSpPr/>
          <p:nvPr/>
        </p:nvSpPr>
        <p:spPr>
          <a:xfrm>
            <a:off x="609982" y="1806143"/>
            <a:ext cx="5797820" cy="283151"/>
          </a:xfrm>
          <a:prstGeom prst="rect">
            <a:avLst/>
          </a:prstGeom>
          <a:noFill/>
          <a:ln/>
        </p:spPr>
        <p:txBody>
          <a:bodyPr wrap="square" lIns="25400" tIns="25400" rIns="25400" bIns="25400" rtlCol="0" anchor="t">
            <a:normAutofit fontScale="92500" lnSpcReduction="20000"/>
          </a:bodyPr>
          <a:lstStyle/>
          <a:p>
            <a:pPr marL="0" indent="0" algn="l">
              <a:buNone/>
            </a:pPr>
            <a:r>
              <a:rPr lang="en-US" sz="1800" kern="0" spc="252">
                <a:solidFill>
                  <a:srgbClr val="CF4636"/>
                </a:solidFill>
                <a:latin typeface="Courier New" pitchFamily="34" charset="0"/>
                <a:ea typeface="Courier New" pitchFamily="34" charset="-122"/>
                <a:cs typeface="Courier New" pitchFamily="34" charset="-120"/>
              </a:rPr>
              <a:t>CHALLENGE</a:t>
            </a:r>
            <a:endParaRPr lang="en-US" sz="1800"/>
          </a:p>
        </p:txBody>
      </p:sp>
      <p:sp>
        <p:nvSpPr>
          <p:cNvPr id="59" name="Text 8">
            <a:extLst>
              <a:ext uri="{FF2B5EF4-FFF2-40B4-BE49-F238E27FC236}">
                <a16:creationId xmlns:a16="http://schemas.microsoft.com/office/drawing/2014/main" id="{3497DB09-8896-39DB-3CF7-95EF57153A25}"/>
              </a:ext>
            </a:extLst>
          </p:cNvPr>
          <p:cNvSpPr/>
          <p:nvPr/>
        </p:nvSpPr>
        <p:spPr>
          <a:xfrm>
            <a:off x="609982" y="2199843"/>
            <a:ext cx="5428868" cy="616221"/>
          </a:xfrm>
          <a:prstGeom prst="rect">
            <a:avLst/>
          </a:prstGeom>
          <a:noFill/>
          <a:ln/>
        </p:spPr>
        <p:txBody>
          <a:bodyPr wrap="square" lIns="25400" tIns="25400" rIns="25400" bIns="25400" rtlCol="0" anchor="t">
            <a:normAutofit fontScale="77500" lnSpcReduction="20000"/>
          </a:bodyPr>
          <a:lstStyle/>
          <a:p>
            <a:pPr marL="0" indent="0" algn="l">
              <a:lnSpc>
                <a:spcPct val="135000"/>
              </a:lnSpc>
              <a:buNone/>
            </a:pPr>
            <a:r>
              <a:rPr lang="en-US" sz="2025">
                <a:solidFill>
                  <a:srgbClr val="1C1B3A"/>
                </a:solidFill>
                <a:latin typeface="Arial" pitchFamily="34" charset="0"/>
                <a:ea typeface="Arial" pitchFamily="34" charset="-122"/>
                <a:cs typeface="Arial" pitchFamily="34" charset="-120"/>
              </a:rPr>
              <a:t>Messy real-world data - deeply nested JSON, missing abstracts.</a:t>
            </a:r>
            <a:endParaRPr lang="en-US" sz="2025"/>
          </a:p>
        </p:txBody>
      </p:sp>
      <p:sp>
        <p:nvSpPr>
          <p:cNvPr id="60" name="Text 9">
            <a:extLst>
              <a:ext uri="{FF2B5EF4-FFF2-40B4-BE49-F238E27FC236}">
                <a16:creationId xmlns:a16="http://schemas.microsoft.com/office/drawing/2014/main" id="{66CC8B7F-8D7C-FC2F-08A2-86634717EA35}"/>
              </a:ext>
            </a:extLst>
          </p:cNvPr>
          <p:cNvSpPr/>
          <p:nvPr/>
        </p:nvSpPr>
        <p:spPr>
          <a:xfrm>
            <a:off x="6162626" y="1520394"/>
            <a:ext cx="619074" cy="1433619"/>
          </a:xfrm>
          <a:prstGeom prst="rect">
            <a:avLst/>
          </a:prstGeom>
          <a:noFill/>
          <a:ln/>
        </p:spPr>
        <p:txBody>
          <a:bodyPr wrap="square" lIns="25400" tIns="25400" rIns="25400" bIns="25400" rtlCol="0" anchor="ctr">
            <a:normAutofit/>
          </a:bodyPr>
          <a:lstStyle/>
          <a:p>
            <a:pPr marL="0" indent="0" algn="l">
              <a:buNone/>
            </a:pPr>
            <a:r>
              <a:rPr lang="en-US" sz="2250">
                <a:solidFill>
                  <a:srgbClr val="B6B5AC"/>
                </a:solidFill>
                <a:latin typeface="Arial" pitchFamily="34" charset="0"/>
                <a:ea typeface="Arial" pitchFamily="34" charset="-122"/>
                <a:cs typeface="Arial" pitchFamily="34" charset="-120"/>
              </a:rPr>
              <a:t>→</a:t>
            </a:r>
            <a:endParaRPr lang="en-US" sz="2250"/>
          </a:p>
        </p:txBody>
      </p:sp>
      <p:sp>
        <p:nvSpPr>
          <p:cNvPr id="61" name="Text 10">
            <a:extLst>
              <a:ext uri="{FF2B5EF4-FFF2-40B4-BE49-F238E27FC236}">
                <a16:creationId xmlns:a16="http://schemas.microsoft.com/office/drawing/2014/main" id="{AD51BBF6-F04E-7BDA-259B-56274D7FA1C7}"/>
              </a:ext>
            </a:extLst>
          </p:cNvPr>
          <p:cNvSpPr/>
          <p:nvPr/>
        </p:nvSpPr>
        <p:spPr>
          <a:xfrm>
            <a:off x="6551884" y="1775116"/>
            <a:ext cx="5797820" cy="283151"/>
          </a:xfrm>
          <a:prstGeom prst="rect">
            <a:avLst/>
          </a:prstGeom>
          <a:noFill/>
          <a:ln/>
        </p:spPr>
        <p:txBody>
          <a:bodyPr wrap="square" lIns="25400" tIns="25400" rIns="25400" bIns="25400" rtlCol="0" anchor="t">
            <a:normAutofit fontScale="92500" lnSpcReduction="20000"/>
          </a:bodyPr>
          <a:lstStyle/>
          <a:p>
            <a:pPr marL="0" indent="0" algn="l">
              <a:buNone/>
            </a:pPr>
            <a:r>
              <a:rPr lang="en-US" sz="1800" kern="0" spc="252">
                <a:solidFill>
                  <a:srgbClr val="1E8E6A"/>
                </a:solidFill>
                <a:latin typeface="Courier New" pitchFamily="34" charset="0"/>
                <a:ea typeface="Courier New" pitchFamily="34" charset="-122"/>
                <a:cs typeface="Courier New" pitchFamily="34" charset="-120"/>
              </a:rPr>
              <a:t>HOW WE SOLVED IT</a:t>
            </a:r>
            <a:endParaRPr lang="en-US" sz="1800"/>
          </a:p>
        </p:txBody>
      </p:sp>
      <p:sp>
        <p:nvSpPr>
          <p:cNvPr id="62" name="Text 11">
            <a:extLst>
              <a:ext uri="{FF2B5EF4-FFF2-40B4-BE49-F238E27FC236}">
                <a16:creationId xmlns:a16="http://schemas.microsoft.com/office/drawing/2014/main" id="{2284618F-278C-6BA6-2A85-AB0B243A1303}"/>
              </a:ext>
            </a:extLst>
          </p:cNvPr>
          <p:cNvSpPr/>
          <p:nvPr/>
        </p:nvSpPr>
        <p:spPr>
          <a:xfrm>
            <a:off x="6551884" y="2083673"/>
            <a:ext cx="5428868" cy="621563"/>
          </a:xfrm>
          <a:prstGeom prst="rect">
            <a:avLst/>
          </a:prstGeom>
          <a:noFill/>
          <a:ln/>
        </p:spPr>
        <p:txBody>
          <a:bodyPr wrap="square" lIns="25400" tIns="25400" rIns="25400" bIns="25400" rtlCol="0" anchor="t">
            <a:normAutofit fontScale="77500" lnSpcReduction="20000"/>
          </a:bodyPr>
          <a:lstStyle/>
          <a:p>
            <a:pPr marL="0" indent="0" algn="l">
              <a:lnSpc>
                <a:spcPct val="135000"/>
              </a:lnSpc>
              <a:buNone/>
            </a:pPr>
            <a:r>
              <a:rPr lang="en-US" sz="2025">
                <a:solidFill>
                  <a:srgbClr val="1C1B3A"/>
                </a:solidFill>
                <a:latin typeface="Arial" pitchFamily="34" charset="0"/>
                <a:ea typeface="Arial" pitchFamily="34" charset="-122"/>
                <a:cs typeface="Arial" pitchFamily="34" charset="-120"/>
              </a:rPr>
              <a:t>Defensive parsing - the pipeline </a:t>
            </a:r>
            <a:r>
              <a:rPr lang="en-US" sz="2025" b="1">
                <a:solidFill>
                  <a:srgbClr val="1C1B3A"/>
                </a:solidFill>
                <a:latin typeface="Arial" pitchFamily="34" charset="0"/>
                <a:ea typeface="Arial" pitchFamily="34" charset="-122"/>
                <a:cs typeface="Arial" pitchFamily="34" charset="-120"/>
              </a:rPr>
              <a:t>degrades gracefully </a:t>
            </a:r>
            <a:r>
              <a:rPr lang="en-US" sz="2025">
                <a:solidFill>
                  <a:srgbClr val="1C1B3A"/>
                </a:solidFill>
                <a:latin typeface="Arial" pitchFamily="34" charset="0"/>
                <a:ea typeface="Arial" pitchFamily="34" charset="-122"/>
                <a:cs typeface="Arial" pitchFamily="34" charset="-120"/>
              </a:rPr>
              <a:t>instead of crashing on a gap.</a:t>
            </a:r>
            <a:endParaRPr lang="en-US" sz="2025"/>
          </a:p>
        </p:txBody>
      </p:sp>
      <p:sp>
        <p:nvSpPr>
          <p:cNvPr id="63" name="Shape 12">
            <a:extLst>
              <a:ext uri="{FF2B5EF4-FFF2-40B4-BE49-F238E27FC236}">
                <a16:creationId xmlns:a16="http://schemas.microsoft.com/office/drawing/2014/main" id="{EB85539E-7A66-B143-37C1-A1A60CAE68EB}"/>
              </a:ext>
            </a:extLst>
          </p:cNvPr>
          <p:cNvSpPr/>
          <p:nvPr/>
        </p:nvSpPr>
        <p:spPr>
          <a:xfrm>
            <a:off x="209931" y="3395827"/>
            <a:ext cx="11636920" cy="1401564"/>
          </a:xfrm>
          <a:prstGeom prst="roundRect">
            <a:avLst>
              <a:gd name="adj" fmla="val 9148"/>
            </a:avLst>
          </a:prstGeom>
          <a:solidFill>
            <a:srgbClr val="FFFFFF"/>
          </a:solidFill>
          <a:ln/>
          <a:effectLst>
            <a:outerShdw blurRad="285750" dist="114300" dir="5400000" algn="bl" rotWithShape="0">
              <a:srgbClr val="1C1B3A">
                <a:alpha val="6000"/>
              </a:srgbClr>
            </a:outerShdw>
          </a:effectLst>
        </p:spPr>
        <p:txBody>
          <a:bodyPr/>
          <a:lstStyle/>
          <a:p>
            <a:endParaRPr lang="en-IL"/>
          </a:p>
        </p:txBody>
      </p:sp>
      <p:sp>
        <p:nvSpPr>
          <p:cNvPr id="64" name="Shape 13">
            <a:extLst>
              <a:ext uri="{FF2B5EF4-FFF2-40B4-BE49-F238E27FC236}">
                <a16:creationId xmlns:a16="http://schemas.microsoft.com/office/drawing/2014/main" id="{D471930D-FC35-6F3F-69BC-94695FD9B83A}"/>
              </a:ext>
            </a:extLst>
          </p:cNvPr>
          <p:cNvSpPr/>
          <p:nvPr/>
        </p:nvSpPr>
        <p:spPr>
          <a:xfrm>
            <a:off x="209931" y="3395827"/>
            <a:ext cx="5824813" cy="1401564"/>
          </a:xfrm>
          <a:prstGeom prst="rect">
            <a:avLst/>
          </a:prstGeom>
          <a:solidFill>
            <a:srgbClr val="FCEFEE"/>
          </a:solidFill>
          <a:ln/>
        </p:spPr>
        <p:txBody>
          <a:bodyPr/>
          <a:lstStyle/>
          <a:p>
            <a:endParaRPr lang="en-IL"/>
          </a:p>
        </p:txBody>
      </p:sp>
      <p:sp>
        <p:nvSpPr>
          <p:cNvPr id="65" name="Shape 14">
            <a:extLst>
              <a:ext uri="{FF2B5EF4-FFF2-40B4-BE49-F238E27FC236}">
                <a16:creationId xmlns:a16="http://schemas.microsoft.com/office/drawing/2014/main" id="{92A0534A-004D-BE34-38F3-D62A2D352B5F}"/>
              </a:ext>
            </a:extLst>
          </p:cNvPr>
          <p:cNvSpPr/>
          <p:nvPr/>
        </p:nvSpPr>
        <p:spPr>
          <a:xfrm>
            <a:off x="209931" y="3395827"/>
            <a:ext cx="45719" cy="1401564"/>
          </a:xfrm>
          <a:prstGeom prst="rect">
            <a:avLst/>
          </a:prstGeom>
          <a:solidFill>
            <a:srgbClr val="CF4636"/>
          </a:solidFill>
          <a:ln/>
        </p:spPr>
        <p:txBody>
          <a:bodyPr/>
          <a:lstStyle/>
          <a:p>
            <a:endParaRPr lang="en-IL"/>
          </a:p>
        </p:txBody>
      </p:sp>
      <p:sp>
        <p:nvSpPr>
          <p:cNvPr id="66" name="Text 15">
            <a:extLst>
              <a:ext uri="{FF2B5EF4-FFF2-40B4-BE49-F238E27FC236}">
                <a16:creationId xmlns:a16="http://schemas.microsoft.com/office/drawing/2014/main" id="{C249966F-570A-C844-7E82-CCF3D2342257}"/>
              </a:ext>
            </a:extLst>
          </p:cNvPr>
          <p:cNvSpPr/>
          <p:nvPr/>
        </p:nvSpPr>
        <p:spPr>
          <a:xfrm>
            <a:off x="609982" y="3681576"/>
            <a:ext cx="5797820" cy="283151"/>
          </a:xfrm>
          <a:prstGeom prst="rect">
            <a:avLst/>
          </a:prstGeom>
          <a:noFill/>
          <a:ln/>
        </p:spPr>
        <p:txBody>
          <a:bodyPr wrap="square" lIns="25400" tIns="25400" rIns="25400" bIns="25400" rtlCol="0" anchor="t">
            <a:normAutofit fontScale="92500" lnSpcReduction="20000"/>
          </a:bodyPr>
          <a:lstStyle/>
          <a:p>
            <a:pPr marL="0" indent="0" algn="l">
              <a:buNone/>
            </a:pPr>
            <a:r>
              <a:rPr lang="en-US" sz="1800" kern="0" spc="252">
                <a:solidFill>
                  <a:srgbClr val="CF4636"/>
                </a:solidFill>
                <a:latin typeface="Courier New" pitchFamily="34" charset="0"/>
                <a:ea typeface="Courier New" pitchFamily="34" charset="-122"/>
                <a:cs typeface="Courier New" pitchFamily="34" charset="-120"/>
              </a:rPr>
              <a:t>CHALLENGE</a:t>
            </a:r>
            <a:endParaRPr lang="en-US" sz="1800"/>
          </a:p>
        </p:txBody>
      </p:sp>
      <p:sp>
        <p:nvSpPr>
          <p:cNvPr id="67" name="Text 16">
            <a:extLst>
              <a:ext uri="{FF2B5EF4-FFF2-40B4-BE49-F238E27FC236}">
                <a16:creationId xmlns:a16="http://schemas.microsoft.com/office/drawing/2014/main" id="{BAE9D35E-5149-4639-E57C-7AF2CDA43311}"/>
              </a:ext>
            </a:extLst>
          </p:cNvPr>
          <p:cNvSpPr/>
          <p:nvPr/>
        </p:nvSpPr>
        <p:spPr>
          <a:xfrm>
            <a:off x="609982" y="4075276"/>
            <a:ext cx="5428868" cy="616221"/>
          </a:xfrm>
          <a:prstGeom prst="rect">
            <a:avLst/>
          </a:prstGeom>
          <a:noFill/>
          <a:ln/>
        </p:spPr>
        <p:txBody>
          <a:bodyPr wrap="square" lIns="25400" tIns="25400" rIns="25400" bIns="25400" rtlCol="0" anchor="t">
            <a:normAutofit fontScale="77500" lnSpcReduction="20000"/>
          </a:bodyPr>
          <a:lstStyle/>
          <a:p>
            <a:pPr marL="0" indent="0" algn="l">
              <a:lnSpc>
                <a:spcPct val="135000"/>
              </a:lnSpc>
              <a:buNone/>
            </a:pPr>
            <a:r>
              <a:rPr lang="en-US" sz="2025">
                <a:solidFill>
                  <a:srgbClr val="1C1B3A"/>
                </a:solidFill>
                <a:latin typeface="Arial" pitchFamily="34" charset="0"/>
                <a:ea typeface="Arial" pitchFamily="34" charset="-122"/>
                <a:cs typeface="Arial" pitchFamily="34" charset="-120"/>
              </a:rPr>
              <a:t>Curvature is expensive - Wasserstein distance per edge scales quadratically.</a:t>
            </a:r>
            <a:endParaRPr lang="en-US" sz="2025"/>
          </a:p>
        </p:txBody>
      </p:sp>
      <p:sp>
        <p:nvSpPr>
          <p:cNvPr id="68" name="Text 17">
            <a:extLst>
              <a:ext uri="{FF2B5EF4-FFF2-40B4-BE49-F238E27FC236}">
                <a16:creationId xmlns:a16="http://schemas.microsoft.com/office/drawing/2014/main" id="{88A7F266-6C2B-1E55-59C4-3309DAA3E194}"/>
              </a:ext>
            </a:extLst>
          </p:cNvPr>
          <p:cNvSpPr/>
          <p:nvPr/>
        </p:nvSpPr>
        <p:spPr>
          <a:xfrm>
            <a:off x="6171799" y="3474321"/>
            <a:ext cx="269931" cy="1433619"/>
          </a:xfrm>
          <a:prstGeom prst="rect">
            <a:avLst/>
          </a:prstGeom>
          <a:noFill/>
          <a:ln/>
        </p:spPr>
        <p:txBody>
          <a:bodyPr wrap="square" lIns="25400" tIns="25400" rIns="25400" bIns="25400" rtlCol="0" anchor="ctr">
            <a:normAutofit/>
          </a:bodyPr>
          <a:lstStyle/>
          <a:p>
            <a:pPr marL="0" indent="0" algn="l">
              <a:buNone/>
            </a:pPr>
            <a:r>
              <a:rPr lang="en-US" sz="2250">
                <a:solidFill>
                  <a:srgbClr val="B6B5AC"/>
                </a:solidFill>
                <a:latin typeface="Arial" pitchFamily="34" charset="0"/>
                <a:ea typeface="Arial" pitchFamily="34" charset="-122"/>
                <a:cs typeface="Arial" pitchFamily="34" charset="-120"/>
              </a:rPr>
              <a:t>→</a:t>
            </a:r>
            <a:endParaRPr lang="en-US" sz="2250"/>
          </a:p>
        </p:txBody>
      </p:sp>
      <p:sp>
        <p:nvSpPr>
          <p:cNvPr id="69" name="Text 18">
            <a:extLst>
              <a:ext uri="{FF2B5EF4-FFF2-40B4-BE49-F238E27FC236}">
                <a16:creationId xmlns:a16="http://schemas.microsoft.com/office/drawing/2014/main" id="{D393D890-073B-C39D-25A8-78F4F84D61DC}"/>
              </a:ext>
            </a:extLst>
          </p:cNvPr>
          <p:cNvSpPr/>
          <p:nvPr/>
        </p:nvSpPr>
        <p:spPr>
          <a:xfrm>
            <a:off x="6551884" y="3716978"/>
            <a:ext cx="5797820" cy="283151"/>
          </a:xfrm>
          <a:prstGeom prst="rect">
            <a:avLst/>
          </a:prstGeom>
          <a:noFill/>
          <a:ln/>
        </p:spPr>
        <p:txBody>
          <a:bodyPr wrap="square" lIns="25400" tIns="25400" rIns="25400" bIns="25400" rtlCol="0" anchor="t">
            <a:normAutofit fontScale="92500" lnSpcReduction="20000"/>
          </a:bodyPr>
          <a:lstStyle/>
          <a:p>
            <a:pPr marL="0" indent="0" algn="l">
              <a:buNone/>
            </a:pPr>
            <a:r>
              <a:rPr lang="en-US" sz="1800" kern="0" spc="252">
                <a:solidFill>
                  <a:srgbClr val="1E8E6A"/>
                </a:solidFill>
                <a:latin typeface="Courier New" pitchFamily="34" charset="0"/>
                <a:ea typeface="Courier New" pitchFamily="34" charset="-122"/>
                <a:cs typeface="Courier New" pitchFamily="34" charset="-120"/>
              </a:rPr>
              <a:t>HOW WE SOLVED IT</a:t>
            </a:r>
            <a:endParaRPr lang="en-US" sz="1800"/>
          </a:p>
        </p:txBody>
      </p:sp>
      <p:sp>
        <p:nvSpPr>
          <p:cNvPr id="70" name="Text 19">
            <a:extLst>
              <a:ext uri="{FF2B5EF4-FFF2-40B4-BE49-F238E27FC236}">
                <a16:creationId xmlns:a16="http://schemas.microsoft.com/office/drawing/2014/main" id="{C6E419DA-3E7F-5E5B-639C-DE58E65C39AF}"/>
              </a:ext>
            </a:extLst>
          </p:cNvPr>
          <p:cNvSpPr/>
          <p:nvPr/>
        </p:nvSpPr>
        <p:spPr>
          <a:xfrm>
            <a:off x="6551884" y="4075276"/>
            <a:ext cx="5428868" cy="621563"/>
          </a:xfrm>
          <a:prstGeom prst="rect">
            <a:avLst/>
          </a:prstGeom>
          <a:noFill/>
          <a:ln/>
        </p:spPr>
        <p:txBody>
          <a:bodyPr wrap="square" lIns="25400" tIns="25400" rIns="25400" bIns="25400" rtlCol="0" anchor="t">
            <a:normAutofit fontScale="77500" lnSpcReduction="20000"/>
          </a:bodyPr>
          <a:lstStyle/>
          <a:p>
            <a:pPr marL="0" indent="0" algn="l">
              <a:lnSpc>
                <a:spcPct val="135000"/>
              </a:lnSpc>
              <a:buNone/>
            </a:pPr>
            <a:r>
              <a:rPr lang="en-US" sz="2025" b="1">
                <a:solidFill>
                  <a:srgbClr val="1C1B3A"/>
                </a:solidFill>
                <a:latin typeface="Arial" pitchFamily="34" charset="0"/>
                <a:ea typeface="Arial" pitchFamily="34" charset="-122"/>
                <a:cs typeface="Arial" pitchFamily="34" charset="-120"/>
              </a:rPr>
              <a:t>Batched computation </a:t>
            </a:r>
            <a:r>
              <a:rPr lang="en-US" sz="2025">
                <a:solidFill>
                  <a:srgbClr val="1C1B3A"/>
                </a:solidFill>
                <a:latin typeface="Arial" pitchFamily="34" charset="0"/>
                <a:ea typeface="Arial" pitchFamily="34" charset="-122"/>
                <a:cs typeface="Arial" pitchFamily="34" charset="-120"/>
              </a:rPr>
              <a:t>secures the feasibility of the graph geometry at full scale.</a:t>
            </a:r>
            <a:endParaRPr lang="en-US" sz="2025"/>
          </a:p>
        </p:txBody>
      </p:sp>
      <p:sp>
        <p:nvSpPr>
          <p:cNvPr id="71" name="Shape 20">
            <a:extLst>
              <a:ext uri="{FF2B5EF4-FFF2-40B4-BE49-F238E27FC236}">
                <a16:creationId xmlns:a16="http://schemas.microsoft.com/office/drawing/2014/main" id="{46302311-7783-E865-38B0-8F9650CE5FA6}"/>
              </a:ext>
            </a:extLst>
          </p:cNvPr>
          <p:cNvSpPr/>
          <p:nvPr/>
        </p:nvSpPr>
        <p:spPr>
          <a:xfrm>
            <a:off x="209931" y="5271260"/>
            <a:ext cx="11636920" cy="1401564"/>
          </a:xfrm>
          <a:prstGeom prst="roundRect">
            <a:avLst>
              <a:gd name="adj" fmla="val 9148"/>
            </a:avLst>
          </a:prstGeom>
          <a:solidFill>
            <a:srgbClr val="FFFFFF"/>
          </a:solidFill>
          <a:ln/>
          <a:effectLst>
            <a:outerShdw blurRad="285750" dist="114300" dir="5400000" algn="bl" rotWithShape="0">
              <a:srgbClr val="1C1B3A">
                <a:alpha val="6000"/>
              </a:srgbClr>
            </a:outerShdw>
          </a:effectLst>
        </p:spPr>
        <p:txBody>
          <a:bodyPr/>
          <a:lstStyle/>
          <a:p>
            <a:endParaRPr lang="en-IL"/>
          </a:p>
        </p:txBody>
      </p:sp>
      <p:sp>
        <p:nvSpPr>
          <p:cNvPr id="72" name="Shape 21">
            <a:extLst>
              <a:ext uri="{FF2B5EF4-FFF2-40B4-BE49-F238E27FC236}">
                <a16:creationId xmlns:a16="http://schemas.microsoft.com/office/drawing/2014/main" id="{DFB93E9D-BD00-241B-4B84-3B8EA04AA896}"/>
              </a:ext>
            </a:extLst>
          </p:cNvPr>
          <p:cNvSpPr/>
          <p:nvPr/>
        </p:nvSpPr>
        <p:spPr>
          <a:xfrm>
            <a:off x="209931" y="5271260"/>
            <a:ext cx="5824813" cy="1401564"/>
          </a:xfrm>
          <a:prstGeom prst="rect">
            <a:avLst/>
          </a:prstGeom>
          <a:solidFill>
            <a:srgbClr val="FCEFEE"/>
          </a:solidFill>
          <a:ln/>
        </p:spPr>
        <p:txBody>
          <a:bodyPr/>
          <a:lstStyle/>
          <a:p>
            <a:endParaRPr lang="en-IL"/>
          </a:p>
        </p:txBody>
      </p:sp>
      <p:sp>
        <p:nvSpPr>
          <p:cNvPr id="73" name="Shape 22">
            <a:extLst>
              <a:ext uri="{FF2B5EF4-FFF2-40B4-BE49-F238E27FC236}">
                <a16:creationId xmlns:a16="http://schemas.microsoft.com/office/drawing/2014/main" id="{C9337316-D3B3-EBCE-1CDD-B1CB5A0BFCCC}"/>
              </a:ext>
            </a:extLst>
          </p:cNvPr>
          <p:cNvSpPr/>
          <p:nvPr/>
        </p:nvSpPr>
        <p:spPr>
          <a:xfrm>
            <a:off x="209931" y="5271260"/>
            <a:ext cx="45719" cy="1401564"/>
          </a:xfrm>
          <a:prstGeom prst="rect">
            <a:avLst/>
          </a:prstGeom>
          <a:solidFill>
            <a:srgbClr val="CF4636"/>
          </a:solidFill>
          <a:ln/>
        </p:spPr>
        <p:txBody>
          <a:bodyPr/>
          <a:lstStyle/>
          <a:p>
            <a:endParaRPr lang="en-IL"/>
          </a:p>
        </p:txBody>
      </p:sp>
      <p:sp>
        <p:nvSpPr>
          <p:cNvPr id="74" name="Text 23">
            <a:extLst>
              <a:ext uri="{FF2B5EF4-FFF2-40B4-BE49-F238E27FC236}">
                <a16:creationId xmlns:a16="http://schemas.microsoft.com/office/drawing/2014/main" id="{8F386125-5550-EA65-1FE8-7EFDC4F50B89}"/>
              </a:ext>
            </a:extLst>
          </p:cNvPr>
          <p:cNvSpPr/>
          <p:nvPr/>
        </p:nvSpPr>
        <p:spPr>
          <a:xfrm>
            <a:off x="609982" y="5557009"/>
            <a:ext cx="5797820" cy="283151"/>
          </a:xfrm>
          <a:prstGeom prst="rect">
            <a:avLst/>
          </a:prstGeom>
          <a:noFill/>
          <a:ln/>
        </p:spPr>
        <p:txBody>
          <a:bodyPr wrap="square" lIns="25400" tIns="25400" rIns="25400" bIns="25400" rtlCol="0" anchor="t">
            <a:normAutofit fontScale="92500" lnSpcReduction="20000"/>
          </a:bodyPr>
          <a:lstStyle/>
          <a:p>
            <a:pPr marL="0" indent="0" algn="l">
              <a:buNone/>
            </a:pPr>
            <a:r>
              <a:rPr lang="en-US" sz="1800" kern="0" spc="252">
                <a:solidFill>
                  <a:srgbClr val="CF4636"/>
                </a:solidFill>
                <a:latin typeface="Courier New" pitchFamily="34" charset="0"/>
                <a:ea typeface="Courier New" pitchFamily="34" charset="-122"/>
                <a:cs typeface="Courier New" pitchFamily="34" charset="-120"/>
              </a:rPr>
              <a:t>CHALLENGE</a:t>
            </a:r>
            <a:endParaRPr lang="en-US" sz="1800"/>
          </a:p>
        </p:txBody>
      </p:sp>
      <p:sp>
        <p:nvSpPr>
          <p:cNvPr id="75" name="Text 24">
            <a:extLst>
              <a:ext uri="{FF2B5EF4-FFF2-40B4-BE49-F238E27FC236}">
                <a16:creationId xmlns:a16="http://schemas.microsoft.com/office/drawing/2014/main" id="{1B30200E-618D-DD1C-C4AB-633A23A6F21D}"/>
              </a:ext>
            </a:extLst>
          </p:cNvPr>
          <p:cNvSpPr/>
          <p:nvPr/>
        </p:nvSpPr>
        <p:spPr>
          <a:xfrm>
            <a:off x="609982" y="5950709"/>
            <a:ext cx="5797820" cy="324137"/>
          </a:xfrm>
          <a:prstGeom prst="rect">
            <a:avLst/>
          </a:prstGeom>
          <a:noFill/>
          <a:ln/>
        </p:spPr>
        <p:txBody>
          <a:bodyPr wrap="square" lIns="25400" tIns="25400" rIns="25400" bIns="25400" rtlCol="0" anchor="t">
            <a:normAutofit fontScale="77500" lnSpcReduction="20000"/>
          </a:bodyPr>
          <a:lstStyle/>
          <a:p>
            <a:pPr marL="0" indent="0" algn="l">
              <a:lnSpc>
                <a:spcPct val="135000"/>
              </a:lnSpc>
              <a:buNone/>
            </a:pPr>
            <a:r>
              <a:rPr lang="en-US" sz="2025">
                <a:solidFill>
                  <a:srgbClr val="1C1B3A"/>
                </a:solidFill>
                <a:latin typeface="Arial" pitchFamily="34" charset="0"/>
                <a:ea typeface="Arial" pitchFamily="34" charset="-122"/>
                <a:cs typeface="Arial" pitchFamily="34" charset="-120"/>
              </a:rPr>
              <a:t>No ground-truth "trust" labels exist for any citation.</a:t>
            </a:r>
            <a:endParaRPr lang="en-US" sz="2025"/>
          </a:p>
        </p:txBody>
      </p:sp>
      <p:sp>
        <p:nvSpPr>
          <p:cNvPr id="76" name="Text 25">
            <a:extLst>
              <a:ext uri="{FF2B5EF4-FFF2-40B4-BE49-F238E27FC236}">
                <a16:creationId xmlns:a16="http://schemas.microsoft.com/office/drawing/2014/main" id="{32735897-4E0D-F4F7-F445-8AC0B29EBC7D}"/>
              </a:ext>
            </a:extLst>
          </p:cNvPr>
          <p:cNvSpPr/>
          <p:nvPr/>
        </p:nvSpPr>
        <p:spPr>
          <a:xfrm>
            <a:off x="6202232" y="5424381"/>
            <a:ext cx="269931" cy="1433619"/>
          </a:xfrm>
          <a:prstGeom prst="rect">
            <a:avLst/>
          </a:prstGeom>
          <a:noFill/>
          <a:ln/>
        </p:spPr>
        <p:txBody>
          <a:bodyPr wrap="square" lIns="25400" tIns="25400" rIns="25400" bIns="25400" rtlCol="0" anchor="ctr">
            <a:normAutofit/>
          </a:bodyPr>
          <a:lstStyle/>
          <a:p>
            <a:pPr marL="0" indent="0" algn="l">
              <a:buNone/>
            </a:pPr>
            <a:r>
              <a:rPr lang="en-US" sz="2250">
                <a:solidFill>
                  <a:srgbClr val="B6B5AC"/>
                </a:solidFill>
                <a:latin typeface="Arial" pitchFamily="34" charset="0"/>
                <a:ea typeface="Arial" pitchFamily="34" charset="-122"/>
                <a:cs typeface="Arial" pitchFamily="34" charset="-120"/>
              </a:rPr>
              <a:t>→</a:t>
            </a:r>
            <a:endParaRPr lang="en-US" sz="2250"/>
          </a:p>
        </p:txBody>
      </p:sp>
      <p:sp>
        <p:nvSpPr>
          <p:cNvPr id="77" name="Text 26">
            <a:extLst>
              <a:ext uri="{FF2B5EF4-FFF2-40B4-BE49-F238E27FC236}">
                <a16:creationId xmlns:a16="http://schemas.microsoft.com/office/drawing/2014/main" id="{02F3BC85-F03B-0F4F-A9A7-B5786B7D74D7}"/>
              </a:ext>
            </a:extLst>
          </p:cNvPr>
          <p:cNvSpPr/>
          <p:nvPr/>
        </p:nvSpPr>
        <p:spPr>
          <a:xfrm>
            <a:off x="6551884" y="5557008"/>
            <a:ext cx="5797820" cy="283151"/>
          </a:xfrm>
          <a:prstGeom prst="rect">
            <a:avLst/>
          </a:prstGeom>
          <a:noFill/>
          <a:ln/>
        </p:spPr>
        <p:txBody>
          <a:bodyPr wrap="square" lIns="25400" tIns="25400" rIns="25400" bIns="25400" rtlCol="0" anchor="t">
            <a:normAutofit fontScale="92500" lnSpcReduction="20000"/>
          </a:bodyPr>
          <a:lstStyle/>
          <a:p>
            <a:pPr marL="0" indent="0" algn="l">
              <a:buNone/>
            </a:pPr>
            <a:r>
              <a:rPr lang="en-US" sz="1800" kern="0" spc="252">
                <a:solidFill>
                  <a:srgbClr val="1E8E6A"/>
                </a:solidFill>
                <a:latin typeface="Courier New" pitchFamily="34" charset="0"/>
                <a:ea typeface="Courier New" pitchFamily="34" charset="-122"/>
                <a:cs typeface="Courier New" pitchFamily="34" charset="-120"/>
              </a:rPr>
              <a:t>HOW WE SOLVED IT</a:t>
            </a:r>
            <a:endParaRPr lang="en-US" sz="1800"/>
          </a:p>
        </p:txBody>
      </p:sp>
      <p:sp>
        <p:nvSpPr>
          <p:cNvPr id="78" name="Text 27">
            <a:extLst>
              <a:ext uri="{FF2B5EF4-FFF2-40B4-BE49-F238E27FC236}">
                <a16:creationId xmlns:a16="http://schemas.microsoft.com/office/drawing/2014/main" id="{7153E29F-A84A-481B-DC7B-360C0085B135}"/>
              </a:ext>
            </a:extLst>
          </p:cNvPr>
          <p:cNvSpPr/>
          <p:nvPr/>
        </p:nvSpPr>
        <p:spPr>
          <a:xfrm>
            <a:off x="6575290" y="5964064"/>
            <a:ext cx="5428868" cy="621563"/>
          </a:xfrm>
          <a:prstGeom prst="rect">
            <a:avLst/>
          </a:prstGeom>
          <a:noFill/>
          <a:ln/>
        </p:spPr>
        <p:txBody>
          <a:bodyPr wrap="square" lIns="25400" tIns="25400" rIns="25400" bIns="25400" rtlCol="0" anchor="t">
            <a:normAutofit fontScale="77500" lnSpcReduction="20000"/>
          </a:bodyPr>
          <a:lstStyle/>
          <a:p>
            <a:pPr marL="0" indent="0" algn="l">
              <a:lnSpc>
                <a:spcPct val="135000"/>
              </a:lnSpc>
              <a:buNone/>
            </a:pPr>
            <a:r>
              <a:rPr lang="en-US" sz="2025" b="1">
                <a:solidFill>
                  <a:srgbClr val="1C1B3A"/>
                </a:solidFill>
                <a:latin typeface="Arial" pitchFamily="34" charset="0"/>
                <a:ea typeface="Arial" pitchFamily="34" charset="-122"/>
                <a:cs typeface="Arial" pitchFamily="34" charset="-120"/>
              </a:rPr>
              <a:t>Weak supervision -</a:t>
            </a:r>
            <a:r>
              <a:rPr lang="en-US" sz="2025">
                <a:solidFill>
                  <a:srgbClr val="1C1B3A"/>
                </a:solidFill>
                <a:latin typeface="Arial" pitchFamily="34" charset="0"/>
                <a:ea typeface="Arial" pitchFamily="34" charset="-122"/>
                <a:cs typeface="Arial" pitchFamily="34" charset="-120"/>
              </a:rPr>
              <a:t> proxy labels drawn from known manipulation patterns.</a:t>
            </a:r>
            <a:endParaRPr lang="en-US" sz="2025"/>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opBar"/>
          <p:cNvSpPr/>
          <p:nvPr/>
        </p:nvSpPr>
        <p:spPr>
          <a:xfrm>
            <a:off x="0" y="0"/>
            <a:ext cx="12191695" cy="256032"/>
          </a:xfrm>
          <a:prstGeom prst="rect">
            <a:avLst/>
          </a:prstGeom>
          <a:gradFill>
            <a:gsLst>
              <a:gs pos="0">
                <a:srgbClr val="0EAFEB"/>
              </a:gs>
              <a:gs pos="100000">
                <a:srgbClr val="0E21BB"/>
              </a:gs>
            </a:gsLst>
            <a:lin ang="10800000" scaled="0"/>
          </a:gradFill>
          <a:ln>
            <a:noFill/>
          </a:ln>
        </p:spPr>
        <p:txBody>
          <a:bodyPr rtlCol="0" anchor="ctr"/>
          <a:lstStyle/>
          <a:p>
            <a:pPr algn="ctr"/>
            <a:endParaRPr/>
          </a:p>
        </p:txBody>
      </p:sp>
      <p:sp>
        <p:nvSpPr>
          <p:cNvPr id="3" name="TealAccent"/>
          <p:cNvSpPr/>
          <p:nvPr/>
        </p:nvSpPr>
        <p:spPr>
          <a:xfrm>
            <a:off x="502920" y="658368"/>
            <a:ext cx="109728" cy="530352"/>
          </a:xfrm>
          <a:prstGeom prst="rect">
            <a:avLst/>
          </a:prstGeom>
          <a:solidFill>
            <a:srgbClr val="14B8A6"/>
          </a:solidFill>
          <a:ln>
            <a:noFill/>
          </a:ln>
        </p:spPr>
        <p:txBody>
          <a:bodyPr rtlCol="0" anchor="ctr"/>
          <a:lstStyle/>
          <a:p>
            <a:pPr algn="ctr"/>
            <a:endParaRPr/>
          </a:p>
        </p:txBody>
      </p:sp>
      <p:sp>
        <p:nvSpPr>
          <p:cNvPr id="4" name="TitleBox"/>
          <p:cNvSpPr txBox="1"/>
          <p:nvPr/>
        </p:nvSpPr>
        <p:spPr>
          <a:xfrm>
            <a:off x="685800" y="519269"/>
            <a:ext cx="10741280" cy="763286"/>
          </a:xfrm>
          <a:prstGeom prst="rect">
            <a:avLst/>
          </a:prstGeom>
          <a:noFill/>
        </p:spPr>
        <p:txBody>
          <a:bodyPr wrap="square" lIns="73152" tIns="73152" rIns="73152" bIns="73152" anchor="ctr">
            <a:spAutoFit/>
          </a:bodyPr>
          <a:lstStyle/>
          <a:p>
            <a:r>
              <a:rPr lang="en-US" sz="4000"/>
              <a:t>Conclusion</a:t>
            </a:r>
          </a:p>
        </p:txBody>
      </p:sp>
      <p:sp>
        <p:nvSpPr>
          <p:cNvPr id="6" name="SlideNum"/>
          <p:cNvSpPr>
            <a:spLocks noGrp="1"/>
          </p:cNvSpPr>
          <p:nvPr>
            <p:ph type="sldNum" sz="quarter" idx="12"/>
          </p:nvPr>
        </p:nvSpPr>
        <p:spPr>
          <a:xfrm>
            <a:off x="10041776" y="6369981"/>
            <a:ext cx="2133600" cy="365125"/>
          </a:xfrm>
        </p:spPr>
        <p:txBody>
          <a:bodyPr/>
          <a:lstStyle/>
          <a:p>
            <a:fld id="{C1FF6DA9-008F-8B48-92A6-B652298478BF}" type="slidenum">
              <a:rPr lang="en-US" smtClean="0"/>
              <a:t>12</a:t>
            </a:fld>
            <a:endParaRPr lang="en-US"/>
          </a:p>
        </p:txBody>
      </p:sp>
      <p:sp>
        <p:nvSpPr>
          <p:cNvPr id="38" name="Text 7">
            <a:extLst>
              <a:ext uri="{FF2B5EF4-FFF2-40B4-BE49-F238E27FC236}">
                <a16:creationId xmlns:a16="http://schemas.microsoft.com/office/drawing/2014/main" id="{3F50B20C-0CE1-2097-7EC8-471C3036617C}"/>
              </a:ext>
            </a:extLst>
          </p:cNvPr>
          <p:cNvSpPr/>
          <p:nvPr/>
        </p:nvSpPr>
        <p:spPr>
          <a:xfrm>
            <a:off x="751091" y="5751437"/>
            <a:ext cx="7417852" cy="336550"/>
          </a:xfrm>
          <a:prstGeom prst="rect">
            <a:avLst/>
          </a:prstGeom>
          <a:noFill/>
          <a:ln/>
        </p:spPr>
        <p:txBody>
          <a:bodyPr wrap="square" lIns="25400" tIns="25400" rIns="25400" bIns="25400" rtlCol="0" anchor="t">
            <a:normAutofit/>
          </a:bodyPr>
          <a:lstStyle/>
          <a:p>
            <a:pPr marL="0" indent="0" algn="l">
              <a:buNone/>
            </a:pPr>
            <a:r>
              <a:rPr lang="en-US" sz="1800">
                <a:solidFill>
                  <a:srgbClr val="8A89B8"/>
                </a:solidFill>
                <a:latin typeface="Courier New" pitchFamily="34" charset="0"/>
                <a:ea typeface="Courier New" pitchFamily="34" charset="-122"/>
                <a:cs typeface="Courier New" pitchFamily="34" charset="-120"/>
              </a:rPr>
              <a:t>flat · countable · gameable</a:t>
            </a:r>
            <a:endParaRPr lang="en-US" sz="1800"/>
          </a:p>
        </p:txBody>
      </p:sp>
      <p:sp>
        <p:nvSpPr>
          <p:cNvPr id="45" name="Shape 9">
            <a:extLst>
              <a:ext uri="{FF2B5EF4-FFF2-40B4-BE49-F238E27FC236}">
                <a16:creationId xmlns:a16="http://schemas.microsoft.com/office/drawing/2014/main" id="{BCD0806D-324F-BFCF-4DCD-7F02AB493481}"/>
              </a:ext>
            </a:extLst>
          </p:cNvPr>
          <p:cNvSpPr/>
          <p:nvPr/>
        </p:nvSpPr>
        <p:spPr>
          <a:xfrm>
            <a:off x="502920" y="1894585"/>
            <a:ext cx="5346488" cy="4824189"/>
          </a:xfrm>
          <a:prstGeom prst="roundRect">
            <a:avLst>
              <a:gd name="adj" fmla="val 3383"/>
            </a:avLst>
          </a:prstGeom>
          <a:solidFill>
            <a:srgbClr val="FBFAF6"/>
          </a:solidFill>
          <a:ln/>
          <a:effectLst>
            <a:outerShdw blurRad="666750" dist="285750" dir="5400000" algn="bl" rotWithShape="0">
              <a:srgbClr val="000000">
                <a:alpha val="30000"/>
              </a:srgbClr>
            </a:outerShdw>
          </a:effectLst>
        </p:spPr>
        <p:txBody>
          <a:bodyPr/>
          <a:lstStyle/>
          <a:p>
            <a:endParaRPr lang="en-IL"/>
          </a:p>
        </p:txBody>
      </p:sp>
      <p:sp>
        <p:nvSpPr>
          <p:cNvPr id="35" name="Text 4">
            <a:extLst>
              <a:ext uri="{FF2B5EF4-FFF2-40B4-BE49-F238E27FC236}">
                <a16:creationId xmlns:a16="http://schemas.microsoft.com/office/drawing/2014/main" id="{AAB7ADB1-7555-3513-9BE2-56D5D42E9DFC}"/>
              </a:ext>
            </a:extLst>
          </p:cNvPr>
          <p:cNvSpPr/>
          <p:nvPr/>
        </p:nvSpPr>
        <p:spPr>
          <a:xfrm>
            <a:off x="725730" y="2101207"/>
            <a:ext cx="7417852" cy="336550"/>
          </a:xfrm>
          <a:prstGeom prst="rect">
            <a:avLst/>
          </a:prstGeom>
          <a:noFill/>
          <a:ln/>
        </p:spPr>
        <p:txBody>
          <a:bodyPr wrap="square" lIns="25400" tIns="25400" rIns="25400" bIns="25400" rtlCol="0" anchor="t">
            <a:normAutofit/>
          </a:bodyPr>
          <a:lstStyle/>
          <a:p>
            <a:pPr marL="0" indent="0" algn="l">
              <a:buNone/>
            </a:pPr>
            <a:r>
              <a:rPr lang="en-US" sz="1800" kern="0" spc="288">
                <a:solidFill>
                  <a:schemeClr val="accent2"/>
                </a:solidFill>
                <a:latin typeface="Courier New" pitchFamily="34" charset="0"/>
                <a:ea typeface="Courier New" pitchFamily="34" charset="-122"/>
                <a:cs typeface="Courier New" pitchFamily="34" charset="-120"/>
              </a:rPr>
              <a:t>TRADITIONAL IF</a:t>
            </a:r>
            <a:endParaRPr lang="en-US" sz="1800">
              <a:solidFill>
                <a:schemeClr val="accent2"/>
              </a:solidFill>
            </a:endParaRPr>
          </a:p>
        </p:txBody>
      </p:sp>
      <p:sp>
        <p:nvSpPr>
          <p:cNvPr id="36" name="Text 5">
            <a:extLst>
              <a:ext uri="{FF2B5EF4-FFF2-40B4-BE49-F238E27FC236}">
                <a16:creationId xmlns:a16="http://schemas.microsoft.com/office/drawing/2014/main" id="{3C229220-28B7-EEEE-A04A-EF544F87FEDB}"/>
              </a:ext>
            </a:extLst>
          </p:cNvPr>
          <p:cNvSpPr/>
          <p:nvPr/>
        </p:nvSpPr>
        <p:spPr>
          <a:xfrm>
            <a:off x="879107" y="2569914"/>
            <a:ext cx="7417852" cy="914400"/>
          </a:xfrm>
          <a:prstGeom prst="rect">
            <a:avLst/>
          </a:prstGeom>
          <a:noFill/>
          <a:ln/>
        </p:spPr>
        <p:txBody>
          <a:bodyPr wrap="square" lIns="25400" tIns="25400" rIns="25400" bIns="25400" rtlCol="0" anchor="t">
            <a:normAutofit lnSpcReduction="10000"/>
          </a:bodyPr>
          <a:lstStyle/>
          <a:p>
            <a:pPr marL="0" indent="0" algn="l">
              <a:buNone/>
            </a:pPr>
            <a:r>
              <a:rPr lang="en-US" sz="6000" b="1">
                <a:solidFill>
                  <a:srgbClr val="CF6A60"/>
                </a:solidFill>
                <a:latin typeface="Arial" pitchFamily="34" charset="0"/>
                <a:ea typeface="Arial" pitchFamily="34" charset="-122"/>
                <a:cs typeface="Arial" pitchFamily="34" charset="-120"/>
              </a:rPr>
              <a:t>+1</a:t>
            </a:r>
            <a:endParaRPr lang="en-US" sz="6000"/>
          </a:p>
        </p:txBody>
      </p:sp>
      <p:sp>
        <p:nvSpPr>
          <p:cNvPr id="37" name="Text 6">
            <a:extLst>
              <a:ext uri="{FF2B5EF4-FFF2-40B4-BE49-F238E27FC236}">
                <a16:creationId xmlns:a16="http://schemas.microsoft.com/office/drawing/2014/main" id="{1A416AE6-8816-7AAA-D0BA-C75340327899}"/>
              </a:ext>
            </a:extLst>
          </p:cNvPr>
          <p:cNvSpPr/>
          <p:nvPr/>
        </p:nvSpPr>
        <p:spPr>
          <a:xfrm>
            <a:off x="725730" y="3523607"/>
            <a:ext cx="7417852" cy="361950"/>
          </a:xfrm>
          <a:prstGeom prst="rect">
            <a:avLst/>
          </a:prstGeom>
          <a:noFill/>
          <a:ln/>
        </p:spPr>
        <p:txBody>
          <a:bodyPr wrap="square" lIns="25400" tIns="25400" rIns="25400" bIns="25400" rtlCol="0" anchor="t">
            <a:normAutofit/>
          </a:bodyPr>
          <a:lstStyle/>
          <a:p>
            <a:pPr marL="0" indent="0" algn="l">
              <a:buNone/>
            </a:pPr>
            <a:r>
              <a:rPr lang="en-US" sz="1950">
                <a:solidFill>
                  <a:schemeClr val="accent2"/>
                </a:solidFill>
                <a:latin typeface="Arial" pitchFamily="34" charset="0"/>
                <a:ea typeface="Arial" pitchFamily="34" charset="-122"/>
                <a:cs typeface="Arial" pitchFamily="34" charset="-120"/>
              </a:rPr>
              <a:t>per citation – no questions asked</a:t>
            </a:r>
            <a:endParaRPr lang="en-US" sz="1950">
              <a:solidFill>
                <a:schemeClr val="accent2"/>
              </a:solidFill>
            </a:endParaRPr>
          </a:p>
        </p:txBody>
      </p:sp>
      <p:sp>
        <p:nvSpPr>
          <p:cNvPr id="39" name="Shape 9">
            <a:extLst>
              <a:ext uri="{FF2B5EF4-FFF2-40B4-BE49-F238E27FC236}">
                <a16:creationId xmlns:a16="http://schemas.microsoft.com/office/drawing/2014/main" id="{F2A5036C-EBDD-BAAB-95F8-D019E18EAD88}"/>
              </a:ext>
            </a:extLst>
          </p:cNvPr>
          <p:cNvSpPr/>
          <p:nvPr/>
        </p:nvSpPr>
        <p:spPr>
          <a:xfrm>
            <a:off x="6535899" y="1907743"/>
            <a:ext cx="5346488" cy="4824189"/>
          </a:xfrm>
          <a:prstGeom prst="roundRect">
            <a:avLst>
              <a:gd name="adj" fmla="val 3383"/>
            </a:avLst>
          </a:prstGeom>
          <a:solidFill>
            <a:srgbClr val="FBFAF6"/>
          </a:solidFill>
          <a:ln/>
          <a:effectLst>
            <a:outerShdw blurRad="666750" dist="285750" dir="5400000" algn="bl" rotWithShape="0">
              <a:srgbClr val="000000">
                <a:alpha val="30000"/>
              </a:srgbClr>
            </a:outerShdw>
          </a:effectLst>
        </p:spPr>
        <p:txBody>
          <a:bodyPr/>
          <a:lstStyle/>
          <a:p>
            <a:endParaRPr lang="en-IL"/>
          </a:p>
        </p:txBody>
      </p:sp>
      <p:sp>
        <p:nvSpPr>
          <p:cNvPr id="40" name="Text 10">
            <a:extLst>
              <a:ext uri="{FF2B5EF4-FFF2-40B4-BE49-F238E27FC236}">
                <a16:creationId xmlns:a16="http://schemas.microsoft.com/office/drawing/2014/main" id="{B5DABB1C-FE5A-50B4-4DF4-90C6D43C6FD0}"/>
              </a:ext>
            </a:extLst>
          </p:cNvPr>
          <p:cNvSpPr/>
          <p:nvPr/>
        </p:nvSpPr>
        <p:spPr>
          <a:xfrm>
            <a:off x="6780743" y="2087756"/>
            <a:ext cx="6804706" cy="336550"/>
          </a:xfrm>
          <a:prstGeom prst="rect">
            <a:avLst/>
          </a:prstGeom>
          <a:noFill/>
          <a:ln/>
        </p:spPr>
        <p:txBody>
          <a:bodyPr wrap="square" lIns="25400" tIns="25400" rIns="25400" bIns="25400" rtlCol="0" anchor="t">
            <a:normAutofit/>
          </a:bodyPr>
          <a:lstStyle/>
          <a:p>
            <a:pPr marL="0" indent="0" algn="l">
              <a:buNone/>
            </a:pPr>
            <a:r>
              <a:rPr lang="en-US" sz="1800" kern="0" spc="288">
                <a:solidFill>
                  <a:srgbClr val="1E8E6A"/>
                </a:solidFill>
                <a:latin typeface="Courier New" pitchFamily="34" charset="0"/>
                <a:ea typeface="Courier New" pitchFamily="34" charset="-122"/>
                <a:cs typeface="Courier New" pitchFamily="34" charset="-120"/>
              </a:rPr>
              <a:t>CAIF — TRUST-WEIGHTED</a:t>
            </a:r>
            <a:endParaRPr lang="en-US" sz="1800"/>
          </a:p>
        </p:txBody>
      </p:sp>
      <p:sp>
        <p:nvSpPr>
          <p:cNvPr id="41" name="Text 11">
            <a:extLst>
              <a:ext uri="{FF2B5EF4-FFF2-40B4-BE49-F238E27FC236}">
                <a16:creationId xmlns:a16="http://schemas.microsoft.com/office/drawing/2014/main" id="{4557F2BE-2739-0D57-3F58-6742F1CE3859}"/>
              </a:ext>
            </a:extLst>
          </p:cNvPr>
          <p:cNvSpPr/>
          <p:nvPr/>
        </p:nvSpPr>
        <p:spPr>
          <a:xfrm>
            <a:off x="6899961" y="2489961"/>
            <a:ext cx="6804706" cy="914400"/>
          </a:xfrm>
          <a:prstGeom prst="rect">
            <a:avLst/>
          </a:prstGeom>
          <a:noFill/>
          <a:ln/>
        </p:spPr>
        <p:txBody>
          <a:bodyPr wrap="square" lIns="25400" tIns="25400" rIns="25400" bIns="25400" rtlCol="0" anchor="t">
            <a:normAutofit lnSpcReduction="10000"/>
          </a:bodyPr>
          <a:lstStyle/>
          <a:p>
            <a:pPr marL="0" indent="0" algn="l">
              <a:buNone/>
            </a:pPr>
            <a:r>
              <a:rPr lang="en-US" sz="6000" b="1">
                <a:solidFill>
                  <a:srgbClr val="1E8E6A"/>
                </a:solidFill>
                <a:latin typeface="Arial" pitchFamily="34" charset="0"/>
                <a:ea typeface="Arial" pitchFamily="34" charset="-122"/>
                <a:cs typeface="Arial" pitchFamily="34" charset="-120"/>
              </a:rPr>
              <a:t>0 → 1</a:t>
            </a:r>
            <a:endParaRPr lang="en-US" sz="6000"/>
          </a:p>
        </p:txBody>
      </p:sp>
      <p:sp>
        <p:nvSpPr>
          <p:cNvPr id="42" name="Text 12">
            <a:extLst>
              <a:ext uri="{FF2B5EF4-FFF2-40B4-BE49-F238E27FC236}">
                <a16:creationId xmlns:a16="http://schemas.microsoft.com/office/drawing/2014/main" id="{215F4655-E7F6-47E4-6EF5-6B9A1E7E014A}"/>
              </a:ext>
            </a:extLst>
          </p:cNvPr>
          <p:cNvSpPr/>
          <p:nvPr/>
        </p:nvSpPr>
        <p:spPr>
          <a:xfrm>
            <a:off x="6816890" y="3536518"/>
            <a:ext cx="5065497" cy="361950"/>
          </a:xfrm>
          <a:prstGeom prst="rect">
            <a:avLst/>
          </a:prstGeom>
          <a:noFill/>
          <a:ln/>
        </p:spPr>
        <p:txBody>
          <a:bodyPr wrap="square" lIns="25400" tIns="25400" rIns="25400" bIns="25400" rtlCol="0" anchor="t">
            <a:normAutofit fontScale="85000" lnSpcReduction="10000"/>
          </a:bodyPr>
          <a:lstStyle/>
          <a:p>
            <a:pPr marL="0" indent="0" algn="l">
              <a:buNone/>
            </a:pPr>
            <a:r>
              <a:rPr lang="en-US" sz="1950">
                <a:solidFill>
                  <a:srgbClr val="56556E"/>
                </a:solidFill>
                <a:latin typeface="Arial" pitchFamily="34" charset="0"/>
                <a:ea typeface="Arial" pitchFamily="34" charset="-122"/>
                <a:cs typeface="Arial" pitchFamily="34" charset="-120"/>
              </a:rPr>
              <a:t>per citation – each one earns its respective weight</a:t>
            </a:r>
            <a:endParaRPr lang="en-US" sz="1950"/>
          </a:p>
        </p:txBody>
      </p:sp>
      <p:sp>
        <p:nvSpPr>
          <p:cNvPr id="43" name="Text 13">
            <a:extLst>
              <a:ext uri="{FF2B5EF4-FFF2-40B4-BE49-F238E27FC236}">
                <a16:creationId xmlns:a16="http://schemas.microsoft.com/office/drawing/2014/main" id="{5E6D7597-BFBB-EBA3-B0DE-62A7B58EA3A1}"/>
              </a:ext>
            </a:extLst>
          </p:cNvPr>
          <p:cNvSpPr/>
          <p:nvPr/>
        </p:nvSpPr>
        <p:spPr>
          <a:xfrm>
            <a:off x="6780743" y="6000751"/>
            <a:ext cx="6804706" cy="336550"/>
          </a:xfrm>
          <a:prstGeom prst="rect">
            <a:avLst/>
          </a:prstGeom>
          <a:noFill/>
          <a:ln/>
        </p:spPr>
        <p:txBody>
          <a:bodyPr wrap="square" lIns="25400" tIns="25400" rIns="25400" bIns="25400" rtlCol="0" anchor="t">
            <a:normAutofit/>
          </a:bodyPr>
          <a:lstStyle/>
          <a:p>
            <a:pPr marL="0" indent="0" algn="l">
              <a:buNone/>
            </a:pPr>
            <a:r>
              <a:rPr lang="en-US" sz="1800">
                <a:solidFill>
                  <a:srgbClr val="8A89A0"/>
                </a:solidFill>
                <a:latin typeface="Courier New" pitchFamily="34" charset="0"/>
                <a:ea typeface="Courier New" pitchFamily="34" charset="-122"/>
                <a:cs typeface="Courier New" pitchFamily="34" charset="-120"/>
              </a:rPr>
              <a:t>geometry · network · time · meaning</a:t>
            </a:r>
            <a:endParaRPr lang="en-US" sz="1800"/>
          </a:p>
        </p:txBody>
      </p:sp>
      <p:sp>
        <p:nvSpPr>
          <p:cNvPr id="46" name="Text 8">
            <a:extLst>
              <a:ext uri="{FF2B5EF4-FFF2-40B4-BE49-F238E27FC236}">
                <a16:creationId xmlns:a16="http://schemas.microsoft.com/office/drawing/2014/main" id="{7A584FFC-EC23-6BB4-B797-0AF23997DE0E}"/>
              </a:ext>
            </a:extLst>
          </p:cNvPr>
          <p:cNvSpPr/>
          <p:nvPr/>
        </p:nvSpPr>
        <p:spPr>
          <a:xfrm>
            <a:off x="6093508" y="1136463"/>
            <a:ext cx="254298" cy="5669161"/>
          </a:xfrm>
          <a:prstGeom prst="rect">
            <a:avLst/>
          </a:prstGeom>
          <a:noFill/>
          <a:ln/>
        </p:spPr>
        <p:txBody>
          <a:bodyPr wrap="square" lIns="25400" tIns="25400" rIns="25400" bIns="25400" rtlCol="0" anchor="ctr">
            <a:normAutofit/>
          </a:bodyPr>
          <a:lstStyle/>
          <a:p>
            <a:pPr marL="0" indent="0" algn="l">
              <a:buNone/>
            </a:pPr>
            <a:r>
              <a:rPr lang="en-US" sz="2550">
                <a:solidFill>
                  <a:srgbClr val="A7A6D8"/>
                </a:solidFill>
                <a:latin typeface="Courier New" pitchFamily="34" charset="0"/>
                <a:ea typeface="Courier New" pitchFamily="34" charset="-122"/>
                <a:cs typeface="Courier New" pitchFamily="34" charset="-120"/>
              </a:rPr>
              <a:t>→</a:t>
            </a:r>
            <a:endParaRPr lang="en-US" sz="2550"/>
          </a:p>
        </p:txBody>
      </p:sp>
      <p:sp>
        <p:nvSpPr>
          <p:cNvPr id="48" name="TextBox 47">
            <a:extLst>
              <a:ext uri="{FF2B5EF4-FFF2-40B4-BE49-F238E27FC236}">
                <a16:creationId xmlns:a16="http://schemas.microsoft.com/office/drawing/2014/main" id="{F36B537A-1F41-BB5B-7397-01D74BD28C2F}"/>
              </a:ext>
            </a:extLst>
          </p:cNvPr>
          <p:cNvSpPr txBox="1"/>
          <p:nvPr/>
        </p:nvSpPr>
        <p:spPr>
          <a:xfrm>
            <a:off x="751091" y="5984360"/>
            <a:ext cx="4409758" cy="369332"/>
          </a:xfrm>
          <a:prstGeom prst="rect">
            <a:avLst/>
          </a:prstGeom>
          <a:noFill/>
        </p:spPr>
        <p:txBody>
          <a:bodyPr wrap="square">
            <a:spAutoFit/>
          </a:bodyPr>
          <a:lstStyle/>
          <a:p>
            <a:pPr marL="0" indent="0" algn="l" rtl="0" eaLnBrk="1" latinLnBrk="0" hangingPunct="1">
              <a:buNone/>
            </a:pPr>
            <a:r>
              <a:rPr lang="en-US" sz="1800" kern="1200">
                <a:solidFill>
                  <a:srgbClr val="8A89B8"/>
                </a:solidFill>
                <a:effectLst/>
                <a:latin typeface="Courier New" panose="02070309020205020404" pitchFamily="49" charset="0"/>
                <a:ea typeface="Courier New" panose="02070309020205020404" pitchFamily="49" charset="0"/>
                <a:cs typeface="Courier New" panose="02070309020205020404" pitchFamily="49" charset="0"/>
              </a:rPr>
              <a:t>flat · countable · gameable</a:t>
            </a:r>
            <a:endParaRPr lang="en-IL">
              <a:effectLst/>
            </a:endParaRPr>
          </a:p>
        </p:txBody>
      </p:sp>
      <p:sp>
        <p:nvSpPr>
          <p:cNvPr id="50" name="TextBox 49">
            <a:extLst>
              <a:ext uri="{FF2B5EF4-FFF2-40B4-BE49-F238E27FC236}">
                <a16:creationId xmlns:a16="http://schemas.microsoft.com/office/drawing/2014/main" id="{6FC999DC-0553-1B03-B3A8-43460D2494CA}"/>
              </a:ext>
            </a:extLst>
          </p:cNvPr>
          <p:cNvSpPr txBox="1"/>
          <p:nvPr/>
        </p:nvSpPr>
        <p:spPr>
          <a:xfrm>
            <a:off x="6780743" y="5009778"/>
            <a:ext cx="4766489" cy="584775"/>
          </a:xfrm>
          <a:prstGeom prst="rect">
            <a:avLst/>
          </a:prstGeom>
          <a:noFill/>
        </p:spPr>
        <p:txBody>
          <a:bodyPr wrap="square">
            <a:spAutoFit/>
          </a:bodyPr>
          <a:lstStyle/>
          <a:p>
            <a:r>
              <a:rPr lang="en-IL" sz="1600" i="0">
                <a:effectLst/>
                <a:latin typeface="Anthropic Serif"/>
              </a:rPr>
              <a:t>Build the graph → read each citation four ways → score its trust → sum, normalize, and statistically validate.</a:t>
            </a:r>
            <a:endParaRPr lang="en-IL" sz="16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E4C5E-4FDF-D865-8179-B449FB07DFC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5D2635E5-7F12-E346-2D96-DAF2E0C2FFF3}"/>
              </a:ext>
            </a:extLst>
          </p:cNvPr>
          <p:cNvSpPr txBox="1"/>
          <p:nvPr/>
        </p:nvSpPr>
        <p:spPr>
          <a:xfrm>
            <a:off x="214884" y="1503941"/>
            <a:ext cx="11762232" cy="3046988"/>
          </a:xfrm>
          <a:prstGeom prst="rect">
            <a:avLst/>
          </a:prstGeom>
          <a:noFill/>
        </p:spPr>
        <p:txBody>
          <a:bodyPr wrap="square" lIns="45720" rIns="45720" anchor="ctr">
            <a:spAutoFit/>
          </a:bodyPr>
          <a:lstStyle/>
          <a:p>
            <a:pPr algn="ctr">
              <a:defRPr sz="2800" b="1">
                <a:solidFill>
                  <a:srgbClr val="FFFFFF"/>
                </a:solidFill>
                <a:latin typeface="Aptos"/>
              </a:defRPr>
            </a:pPr>
            <a:r>
              <a:rPr lang="en-US" sz="9600">
                <a:latin typeface="Orbitron Black" pitchFamily="2" charset="0"/>
              </a:rPr>
              <a:t>Thank You!</a:t>
            </a:r>
          </a:p>
          <a:p>
            <a:pPr algn="ctr">
              <a:defRPr sz="2800" b="1">
                <a:solidFill>
                  <a:srgbClr val="FFFFFF"/>
                </a:solidFill>
                <a:latin typeface="Aptos"/>
              </a:defRPr>
            </a:pPr>
            <a:r>
              <a:rPr lang="en-US" sz="9600">
                <a:latin typeface="Orbitron Black" pitchFamily="2" charset="0"/>
              </a:rPr>
              <a:t>Questions?</a:t>
            </a:r>
            <a:endParaRPr sz="9600">
              <a:latin typeface="Orbitron Black" pitchFamily="2" charset="0"/>
            </a:endParaRPr>
          </a:p>
        </p:txBody>
      </p:sp>
      <p:sp>
        <p:nvSpPr>
          <p:cNvPr id="3" name="TextBox 2">
            <a:extLst>
              <a:ext uri="{FF2B5EF4-FFF2-40B4-BE49-F238E27FC236}">
                <a16:creationId xmlns:a16="http://schemas.microsoft.com/office/drawing/2014/main" id="{9F07B2E1-FBA1-F7F3-6693-3CF4CF0D342F}"/>
              </a:ext>
            </a:extLst>
          </p:cNvPr>
          <p:cNvSpPr txBox="1"/>
          <p:nvPr/>
        </p:nvSpPr>
        <p:spPr>
          <a:xfrm>
            <a:off x="0" y="-61556"/>
            <a:ext cx="12192000" cy="461665"/>
          </a:xfrm>
          <a:prstGeom prst="rect">
            <a:avLst/>
          </a:prstGeom>
          <a:noFill/>
        </p:spPr>
        <p:txBody>
          <a:bodyPr wrap="square" lIns="45720" rIns="45720" anchor="ctr">
            <a:spAutoFit/>
          </a:bodyPr>
          <a:lstStyle/>
          <a:p>
            <a:pPr algn="ctr">
              <a:defRPr sz="2800" b="1">
                <a:solidFill>
                  <a:srgbClr val="FFFFFF"/>
                </a:solidFill>
                <a:latin typeface="Aptos"/>
              </a:defRPr>
            </a:pPr>
            <a:r>
              <a:rPr lang="en-US" sz="2400">
                <a:latin typeface="Orbitron Black" pitchFamily="2" charset="0"/>
              </a:rPr>
              <a:t>ORCA GCN Citation Trust</a:t>
            </a:r>
            <a:endParaRPr sz="2400">
              <a:latin typeface="Orbitron Black" pitchFamily="2" charset="0"/>
            </a:endParaRPr>
          </a:p>
        </p:txBody>
      </p:sp>
    </p:spTree>
    <p:extLst>
      <p:ext uri="{BB962C8B-B14F-4D97-AF65-F5344CB8AC3E}">
        <p14:creationId xmlns:p14="http://schemas.microsoft.com/office/powerpoint/2010/main" val="3000653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14</Slides>
  <Notes>14</Notes>
  <HiddenSlides>0</HiddenSlide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subject/>
  <dc:creator>User</dc:creator>
  <cp:keywords/>
  <dc:description>generated using python-pptx</dc:description>
  <cp:revision>4</cp:revision>
  <dcterms:created xsi:type="dcterms:W3CDTF">2013-01-27T09:14:16Z</dcterms:created>
  <dcterms:modified xsi:type="dcterms:W3CDTF">2026-07-04T16:35:06Z</dcterms:modified>
  <cp:category/>
</cp:coreProperties>
</file>